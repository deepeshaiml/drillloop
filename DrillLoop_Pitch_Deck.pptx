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proposed first use case: hospital preparedness evaluators reviewing an exercise. DrillLoop makes a reviewable path from exercise records to a proposed finding and then to a corrective action whose closure needs evidence. The interface and hospital outage records are synthetic. This is a working local MVP, not a certified emergency management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this as workflow friction rather than a quantified market statistic. Evaluators reconcile multiple evidence sources, resolve timestamps and contradictory notes, map performance to objectives, then turn gaps into accountable actions. The MVP is aimed at this traceability and follow-through gap. We have not measured actual preparation time or correction workload with 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this is a live application rather than a slide-only concept. The overview page includes the selected exercise, its targets, source files, timeline, findings, actions, and report export. An after-action report and improvement plan (AAR/IP) is a report of what happened and a list of improvements to track. The captured interface uses fictional data only. The website is built with React and TypeScript; FastAPI is the server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fictional timeline. Power is lost at 09:02. The radio request begins at 09:03 and the log records acknowledgement at 09:10. The exercise target for unit acknowledgement is three minutes, so about seven minutes is late. Another evaluator says 09:11; the app shows both times and does not choose one. Backup circuits stabilize at 09:06, beyond the one-minute power objective. At 09:18 the ICU team completes the cold-chain procedure, which means moving temperature-sensitive medicines to safe storage and recording how they were handled. A vague debrief phrase has no timestamp or measure and is not promoted to a confirmed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finding is an evaluator’s conclusion about performance against an exercise target. Here the target is acknowledgement within three minutes, while the records say it took about seven. The actual evidence sources are control_room_log.csv rows 4–5 and evaluator_notes.txt line 9, where the separate 09:11 report appears. The system should display those records separately; the discrepancy remains unresolved. Speech-to-text (also called automatic speech recognition or ASR) produced the fictional low-confidence “too minutes” error. The response-time finding instead relies on the independent event log. All findings begin as proposals and an authorized evaluator must approve or reject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fixed workflow: the same evidence is processed by the same explicit rules, which makes the demo repeatable and easier to inspect. CSV means a spreadsheet-like file; JSON is a structured text file. A vector database is a separate search system for finding similar text; this tiny example does not need one. Speech-to-text (automatic speech recognition, or ASR) turns audio into a draft transcript; the demo transcript was typed in advance. A large language model (LLM) can draft or reword text, but the optional Ollama model can only rewrite an action after rules have created it. Neither optional path was used for the reported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corrective action is a task intended to improve the next exercise. Its “acceptance criteria” are the test for deciding whether the task is done—for example, three timed drills where all units acknowledge within three minutes. The action is linked to its finding and source records. One sample action has no named owner; the app leaves it blank rather than inventing a person. A reviewer must approve the linked finding and later check completion evidence before closure.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HSEEP is FEMA’s Homeland Security Exercise and Evaluation Program. It provides a recognized way to plan and evaluate exercises; DrillLoop borrows some concepts but is not FEMA-certified. Veoci publicly markets after-action reporting, timestamps, transcripts, and corrective-action follow-up. D4H serves emergency response readiness and related workflows. Report writing by itself is not a unique claim. DrillLoop’s hypothesis is the source-to-review-to-closure trail, and that must be tested with buyers who already use these tools. Sources: https://www.fema.gov/sites/default/files/2020-04/Homeland-Security-Exercise-and-Evaluation-Program-Doctrine-2020-Revision-2-2-25.pdf ; https://veoci.com/emergency-management/after-action-reporting/ ; https://www.d4h.com/team-readiness-software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hospital tabletop review is the proposed initial use case, not a confirmed customer or pilot. The candidate user is an exercise evaluator or preparedness staff member. A preparedness lead or exercise sponsor may approve the report; the actual buyer and budget owner are unknown. Discovery needs to identify who prepares the report, approves findings, owns the budget, and controls access to exercise data. No customer interviews or purchasing-path validation are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proposed first commercial model is a per-exercise pilot fee. No price or willingness-to-pay evidence exists, so the pitch does not present an assumed quote as a selected price. Discovery should identify the user, approver, budget owner, procurement path, and actual delivery costs. Annual organizational plans, private deployment, templates, and support are possible later models if pilot evidence and buyers support them. The separate Business Case contains illustrative price and staffing assumptions; they are not market rates, a forecast, or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website is built with React and TypeScript. FastAPI is the web service, and Pydantic checks the data sent to it. SQLAlchemy is the database access library. SQLite stores the local demo; PostgreSQL is available through Docker Compose. Uploaded source bytes and extracted text are stored in the configured database. The demo has a shared reviewer key, but no named-user RBAC, tenant isolation, retention/deletion controls, or security assessment. The default workflow makes no cloud model call. faster-whisper runs locally with a staged model; optional Ollama is configured as a local/private service for action wording only. Neither optional path was benchmarked. The Technical Design lists versions and licenses.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benchmark used the one fictional exercise included with the project. Precision and recall were 100 percent on this closed sample, but the rules were written for these same labels. Nine of nine source-record IDs were present; that does not prove each source semantically supports the conclusion. The timeline matched eight explicit log times and displayed one disagreement. Action fields were 31 of 32 complete because an owner is intentionally missing. Request time and process memory exclude model inference. No real evaluator, unfamiliar-exercise test, speech-to-text accuracy test, or local LLM comparison was run. A next evaluation should use evaluator-labeled evidence from an exercise not used to write the rules and report both missed and incorrect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proposed discovery and pilot sequence, not a confirmed project commitment. First interview two or three prospective hospital-preparedness users and observe one current review with permission. If a partner agrees, compare existing practice and DrillLoop on the same permitted records. Ask the partner to set thresholds before the trial for report time, reviewer corrections, citation accuracy, and action-field completeness. Then use evaluator-labeled evidence from an unfamiliar exercise and report missed and incorrect findings. Select one relevant alternative with the partner for a comparable source-location, reviewer-decision, and closure-evidence workflow. No pilot partner, access, schedule, or thresholds are currently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7FAFA"/>
        </a:solidFill>
      </p:bgPr>
    </p:bg>
    <p:spTree>
      <p:nvGrpSpPr>
        <p:cNvPr id="1" name=""/>
        <p:cNvGrpSpPr/>
        <p:nvPr/>
      </p:nvGrpSpPr>
      <p:grpSpPr>
        <a:xfrm>
          <a:off x="0" y="0"/>
          <a:ext cx="0" cy="0"/>
          <a:chOff x="0" y="0"/>
          <a:chExt cx="0" cy="0"/>
        </a:xfrm>
      </p:grpSpPr>
      <p:sp>
        <p:nvSpPr>
          <p:cNvPr id="2" name="Shape 0"/>
          <p:cNvSpPr/>
          <p:nvPr/>
        </p:nvSpPr>
        <p:spPr>
          <a:xfrm>
            <a:off x="502920" y="6510528"/>
            <a:ext cx="11173968" cy="0"/>
          </a:xfrm>
          <a:prstGeom prst="line">
            <a:avLst/>
          </a:prstGeom>
          <a:noFill/>
          <a:ln w="10160">
            <a:solidFill>
              <a:srgbClr val="DCE7E8"/>
            </a:solidFill>
            <a:prstDash val="solid"/>
          </a:ln>
        </p:spPr>
      </p:sp>
      <p:sp>
        <p:nvSpPr>
          <p:cNvPr id="3" name="Text 1"/>
          <p:cNvSpPr/>
          <p:nvPr/>
        </p:nvSpPr>
        <p:spPr>
          <a:xfrm>
            <a:off x="530352" y="6574536"/>
            <a:ext cx="3657600" cy="146304"/>
          </a:xfrm>
          <a:prstGeom prst="rect">
            <a:avLst/>
          </a:prstGeom>
          <a:noFill/>
          <a:ln/>
        </p:spPr>
        <p:txBody>
          <a:bodyPr wrap="square" lIns="0" tIns="0" rIns="0" bIns="0" rtlCol="0" anchor="ctr"/>
          <a:lstStyle/>
          <a:p>
            <a:pPr indent="0" marL="0">
              <a:buNone/>
            </a:pPr>
            <a:r>
              <a:rPr lang="en-US" sz="700" b="1" dirty="0">
                <a:solidFill>
                  <a:srgbClr val="0D8F89"/>
                </a:solidFill>
                <a:latin typeface="Aptos" pitchFamily="34" charset="0"/>
                <a:ea typeface="Aptos" pitchFamily="34" charset="-122"/>
                <a:cs typeface="Aptos" pitchFamily="34" charset="-120"/>
              </a:rPr>
              <a:t>DRILLLOOP  /  EUREKA</a:t>
            </a:r>
            <a:endParaRPr lang="en-US" sz="700" dirty="0"/>
          </a:p>
        </p:txBody>
      </p:sp>
      <p:sp>
        <p:nvSpPr>
          <p:cNvPr id="4" name="Text 2"/>
          <p:cNvSpPr/>
          <p:nvPr/>
        </p:nvSpPr>
        <p:spPr>
          <a:xfrm>
            <a:off x="7452360" y="6574536"/>
            <a:ext cx="4206240" cy="146304"/>
          </a:xfrm>
          <a:prstGeom prst="rect">
            <a:avLst/>
          </a:prstGeom>
          <a:noFill/>
          <a:ln/>
        </p:spPr>
        <p:txBody>
          <a:bodyPr wrap="square" lIns="0" tIns="0" rIns="0" bIns="0" rtlCol="0" anchor="ctr"/>
          <a:lstStyle/>
          <a:p>
            <a:pPr algn="r" indent="0" marL="0">
              <a:buNone/>
            </a:pPr>
            <a:r>
              <a:rPr lang="en-US" sz="700" dirty="0">
                <a:solidFill>
                  <a:srgbClr val="6C808B"/>
                </a:solidFill>
                <a:latin typeface="Aptos" pitchFamily="34" charset="0"/>
                <a:ea typeface="Aptos" pitchFamily="34" charset="-122"/>
                <a:cs typeface="Aptos" pitchFamily="34" charset="-120"/>
              </a:rPr>
              <a:t>SYNTHETIC DEMONSTRATION  ·  OCT 2026</a:t>
            </a:r>
            <a:endParaRPr lang="en-US" sz="700" dirty="0"/>
          </a:p>
        </p:txBody>
      </p:sp>
      <p:sp>
        <p:nvSpPr>
          <p:cNvPr id="25" name="Slide Number Placeholder 0"/>
          <p:cNvSpPr>
            <a:spLocks noGrp="1"/>
          </p:cNvSpPr>
          <p:nvPr>
            <p:ph type="sldNum" sz="quarter" idx="4294967295"/>
          </p:nvPr>
        </p:nvSpPr>
        <p:spPr>
          <a:xfrm>
            <a:off x="11768328" y="6556248"/>
            <a:ext cx="182880" cy="164592"/>
          </a:xfrm>
          <a:prstGeom prst="rect">
            <a:avLst/>
          </a:prstGeom>
          <a:extLst>
            <a:ext uri="{C572A759-6A51-4108-AA02-DFA0A04FC94B}">
              <ma14:wrappingTextBoxFlag xmlns:ma14="http://schemas.microsoft.com/office/mac/drawingml/2011/main" val="0"/>
            </a:ext>
          </a:extLst>
        </p:spPr>
        <p:txBody>
          <a:bodyPr/>
          <a:lstStyle>
            <a:lvl1pPr>
              <a:defRPr sz="700">
                <a:solidFill>
                  <a:srgbClr val="6C808B"/>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68328" y="6556248"/>
            <a:ext cx="182880" cy="164592"/>
          </a:xfrm>
          <a:prstGeom prst="rect">
            <a:avLst/>
          </a:prstGeom>
          <a:extLst>
            <a:ext uri="{C572A759-6A51-4108-AA02-DFA0A04FC94B}">
              <ma14:wrappingTextBoxFlag xmlns:ma14="http://schemas.microsoft.com/office/mac/drawingml/2011/main" val="0"/>
            </a:ext>
          </a:extLst>
        </p:spPr>
        <p:txBody>
          <a:bodyPr/>
          <a:lstStyle>
            <a:lvl1pPr>
              <a:defRPr sz="700">
                <a:solidFill>
                  <a:srgbClr val="6C808B"/>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B39"/>
        </a:solidFill>
      </p:bgPr>
    </p:bg>
    <p:spTree>
      <p:nvGrpSpPr>
        <p:cNvPr id="1" name=""/>
        <p:cNvGrpSpPr/>
        <p:nvPr/>
      </p:nvGrpSpPr>
      <p:grpSpPr>
        <a:xfrm>
          <a:off x="0" y="0"/>
          <a:ext cx="0" cy="0"/>
          <a:chOff x="0" y="0"/>
          <a:chExt cx="0" cy="0"/>
        </a:xfrm>
      </p:grpSpPr>
      <p:sp>
        <p:nvSpPr>
          <p:cNvPr id="2" name="Shape 0"/>
          <p:cNvSpPr/>
          <p:nvPr/>
        </p:nvSpPr>
        <p:spPr>
          <a:xfrm>
            <a:off x="7589520" y="0"/>
            <a:ext cx="4602175" cy="6858000"/>
          </a:xfrm>
          <a:prstGeom prst="rect">
            <a:avLst/>
          </a:prstGeom>
          <a:solidFill>
            <a:srgbClr val="143C4A"/>
          </a:solidFill>
          <a:ln w="12700">
            <a:solidFill>
              <a:srgbClr val="143C4A"/>
            </a:solidFill>
            <a:prstDash val="solid"/>
          </a:ln>
        </p:spPr>
      </p:sp>
      <p:sp>
        <p:nvSpPr>
          <p:cNvPr id="3" name="Shape 1"/>
          <p:cNvSpPr/>
          <p:nvPr/>
        </p:nvSpPr>
        <p:spPr>
          <a:xfrm>
            <a:off x="8092440" y="960120"/>
            <a:ext cx="3337560" cy="3337560"/>
          </a:xfrm>
          <a:prstGeom prst="ellipse">
            <a:avLst/>
          </a:prstGeom>
          <a:solidFill>
            <a:srgbClr val="0D8F89">
              <a:alpha val="74000"/>
            </a:srgbClr>
          </a:solidFill>
          <a:ln w="12700">
            <a:solidFill>
              <a:srgbClr val="0D8F89">
                <a:alpha val="0"/>
              </a:srgbClr>
            </a:solidFill>
            <a:prstDash val="solid"/>
          </a:ln>
        </p:spPr>
      </p:sp>
      <p:sp>
        <p:nvSpPr>
          <p:cNvPr id="4" name="Shape 2"/>
          <p:cNvSpPr/>
          <p:nvPr/>
        </p:nvSpPr>
        <p:spPr>
          <a:xfrm>
            <a:off x="8823960" y="1664208"/>
            <a:ext cx="1920240" cy="1920240"/>
          </a:xfrm>
          <a:prstGeom prst="ellipse">
            <a:avLst/>
          </a:prstGeom>
          <a:solidFill>
            <a:srgbClr val="102B39"/>
          </a:solidFill>
          <a:ln w="15240">
            <a:solidFill>
              <a:srgbClr val="8ED5CC"/>
            </a:solidFill>
            <a:prstDash val="solid"/>
          </a:ln>
        </p:spPr>
      </p:sp>
      <p:sp>
        <p:nvSpPr>
          <p:cNvPr id="5" name="Text 3"/>
          <p:cNvSpPr/>
          <p:nvPr/>
        </p:nvSpPr>
        <p:spPr>
          <a:xfrm>
            <a:off x="9436608" y="2112264"/>
            <a:ext cx="685800" cy="713232"/>
          </a:xfrm>
          <a:prstGeom prst="rect">
            <a:avLst/>
          </a:prstGeom>
          <a:noFill/>
          <a:ln/>
        </p:spPr>
        <p:txBody>
          <a:bodyPr wrap="square" lIns="0" tIns="0" rIns="0" bIns="0" rtlCol="0" anchor="ctr">
            <a:normAutofit/>
          </a:bodyPr>
          <a:lstStyle/>
          <a:p>
            <a:pPr algn="ctr" indent="0" marL="0">
              <a:buNone/>
            </a:pPr>
            <a:r>
              <a:rPr lang="en-US" sz="4500" b="1" dirty="0">
                <a:solidFill>
                  <a:srgbClr val="FFFFFF"/>
                </a:solidFill>
                <a:latin typeface="Aptos Display" pitchFamily="34" charset="0"/>
                <a:ea typeface="Aptos Display" pitchFamily="34" charset="-122"/>
                <a:cs typeface="Aptos Display" pitchFamily="34" charset="-120"/>
              </a:rPr>
              <a:t>D</a:t>
            </a:r>
            <a:endParaRPr lang="en-US" sz="4500" dirty="0"/>
          </a:p>
        </p:txBody>
      </p:sp>
      <p:sp>
        <p:nvSpPr>
          <p:cNvPr id="6" name="Text 4"/>
          <p:cNvSpPr/>
          <p:nvPr/>
        </p:nvSpPr>
        <p:spPr>
          <a:xfrm>
            <a:off x="777240" y="749808"/>
            <a:ext cx="6309360" cy="256032"/>
          </a:xfrm>
          <a:prstGeom prst="rect">
            <a:avLst/>
          </a:prstGeom>
          <a:noFill/>
          <a:ln/>
        </p:spPr>
        <p:txBody>
          <a:bodyPr wrap="square" lIns="0" tIns="0" rIns="0" bIns="0" rtlCol="0" anchor="ctr">
            <a:normAutofit/>
          </a:bodyPr>
          <a:lstStyle/>
          <a:p>
            <a:pPr indent="0" marL="0">
              <a:buNone/>
            </a:pPr>
            <a:r>
              <a:rPr lang="en-US" sz="950" b="1" spc="120" kern="0" dirty="0">
                <a:solidFill>
                  <a:srgbClr val="71C6BD"/>
                </a:solidFill>
                <a:latin typeface="Aptos" pitchFamily="34" charset="0"/>
                <a:ea typeface="Aptos" pitchFamily="34" charset="-122"/>
                <a:cs typeface="Aptos" pitchFamily="34" charset="-120"/>
              </a:rPr>
              <a:t>EUREKA  /  PUBLIC SAFETY INTELLIGENCE</a:t>
            </a:r>
            <a:endParaRPr lang="en-US" sz="950" dirty="0"/>
          </a:p>
        </p:txBody>
      </p:sp>
      <p:sp>
        <p:nvSpPr>
          <p:cNvPr id="7" name="Text 5"/>
          <p:cNvSpPr/>
          <p:nvPr/>
        </p:nvSpPr>
        <p:spPr>
          <a:xfrm>
            <a:off x="749808" y="1298448"/>
            <a:ext cx="6400800" cy="868680"/>
          </a:xfrm>
          <a:prstGeom prst="rect">
            <a:avLst/>
          </a:prstGeom>
          <a:noFill/>
          <a:ln/>
        </p:spPr>
        <p:txBody>
          <a:bodyPr wrap="square" lIns="0" tIns="0" rIns="0" bIns="0" rtlCol="0" anchor="ctr">
            <a:normAutofit/>
          </a:bodyPr>
          <a:lstStyle/>
          <a:p>
            <a:pPr indent="0" marL="0">
              <a:buNone/>
            </a:pPr>
            <a:r>
              <a:rPr lang="en-US" sz="4600" b="1" dirty="0">
                <a:solidFill>
                  <a:srgbClr val="FFFFFF"/>
                </a:solidFill>
                <a:latin typeface="Aptos Display" pitchFamily="34" charset="0"/>
                <a:ea typeface="Aptos Display" pitchFamily="34" charset="-122"/>
                <a:cs typeface="Aptos Display" pitchFamily="34" charset="-120"/>
              </a:rPr>
              <a:t>DrillLoop</a:t>
            </a:r>
            <a:endParaRPr lang="en-US" sz="4600" dirty="0"/>
          </a:p>
        </p:txBody>
      </p:sp>
      <p:sp>
        <p:nvSpPr>
          <p:cNvPr id="8" name="Text 6"/>
          <p:cNvSpPr/>
          <p:nvPr/>
        </p:nvSpPr>
        <p:spPr>
          <a:xfrm>
            <a:off x="786384" y="2423160"/>
            <a:ext cx="6400800" cy="1188720"/>
          </a:xfrm>
          <a:prstGeom prst="rect">
            <a:avLst/>
          </a:prstGeom>
          <a:noFill/>
          <a:ln/>
        </p:spPr>
        <p:txBody>
          <a:bodyPr wrap="square" lIns="0" tIns="0" rIns="0" bIns="0" rtlCol="0" anchor="t">
            <a:normAutofit/>
          </a:bodyPr>
          <a:lstStyle/>
          <a:p>
            <a:pPr indent="0" marL="0">
              <a:buNone/>
            </a:pPr>
            <a:r>
              <a:rPr lang="en-US" sz="2500" b="1" dirty="0">
                <a:solidFill>
                  <a:srgbClr val="D7E7E8"/>
                </a:solidFill>
                <a:latin typeface="Aptos Display" pitchFamily="34" charset="0"/>
                <a:ea typeface="Aptos Display" pitchFamily="34" charset="-122"/>
                <a:cs typeface="Aptos Display" pitchFamily="34" charset="-120"/>
              </a:rPr>
              <a:t>Evidence-Linked Exercise Review and Action Closure</a:t>
            </a:r>
            <a:endParaRPr lang="en-US" sz="2500" dirty="0"/>
          </a:p>
        </p:txBody>
      </p:sp>
      <p:sp>
        <p:nvSpPr>
          <p:cNvPr id="9" name="Text 7"/>
          <p:cNvSpPr/>
          <p:nvPr/>
        </p:nvSpPr>
        <p:spPr>
          <a:xfrm>
            <a:off x="795528" y="3840480"/>
            <a:ext cx="5943600" cy="438912"/>
          </a:xfrm>
          <a:prstGeom prst="rect">
            <a:avLst/>
          </a:prstGeom>
          <a:noFill/>
          <a:ln/>
        </p:spPr>
        <p:txBody>
          <a:bodyPr wrap="square" lIns="0" tIns="0" rIns="0" bIns="0" rtlCol="0" anchor="ctr">
            <a:normAutofit/>
          </a:bodyPr>
          <a:lstStyle/>
          <a:p>
            <a:pPr indent="0" marL="0">
              <a:buNone/>
            </a:pPr>
            <a:r>
              <a:rPr lang="en-US" sz="1400" dirty="0">
                <a:solidFill>
                  <a:srgbClr val="B5C9CD"/>
                </a:solidFill>
                <a:latin typeface="Aptos" pitchFamily="34" charset="0"/>
                <a:ea typeface="Aptos" pitchFamily="34" charset="-122"/>
                <a:cs typeface="Aptos" pitchFamily="34" charset="-120"/>
              </a:rPr>
              <a:t>For hospital preparedness evaluators · synthetic demo</a:t>
            </a:r>
            <a:endParaRPr lang="en-US" sz="1400" dirty="0"/>
          </a:p>
        </p:txBody>
      </p:sp>
      <p:sp>
        <p:nvSpPr>
          <p:cNvPr id="10" name="Shape 8"/>
          <p:cNvSpPr/>
          <p:nvPr/>
        </p:nvSpPr>
        <p:spPr>
          <a:xfrm>
            <a:off x="804672" y="4901184"/>
            <a:ext cx="1325880" cy="265176"/>
          </a:xfrm>
          <a:prstGeom prst="roundRect">
            <a:avLst>
              <a:gd name="adj" fmla="val 41379"/>
            </a:avLst>
          </a:prstGeom>
          <a:solidFill>
            <a:srgbClr val="21505C"/>
          </a:solidFill>
          <a:ln w="12700">
            <a:solidFill>
              <a:srgbClr val="21505C">
                <a:alpha val="0"/>
              </a:srgbClr>
            </a:solidFill>
            <a:prstDash val="solid"/>
          </a:ln>
        </p:spPr>
      </p:sp>
      <p:sp>
        <p:nvSpPr>
          <p:cNvPr id="11" name="Text 9"/>
          <p:cNvSpPr/>
          <p:nvPr/>
        </p:nvSpPr>
        <p:spPr>
          <a:xfrm>
            <a:off x="877824" y="4914900"/>
            <a:ext cx="1179576" cy="219456"/>
          </a:xfrm>
          <a:prstGeom prst="rect">
            <a:avLst/>
          </a:prstGeom>
          <a:noFill/>
          <a:ln/>
        </p:spPr>
        <p:txBody>
          <a:bodyPr wrap="square" lIns="0" tIns="0" rIns="0" bIns="0" rtlCol="0" anchor="ctr">
            <a:normAutofit/>
          </a:bodyPr>
          <a:lstStyle/>
          <a:p>
            <a:pPr algn="ctr" indent="0" marL="0">
              <a:buNone/>
            </a:pPr>
            <a:r>
              <a:rPr lang="en-US" sz="850" b="1" dirty="0">
                <a:solidFill>
                  <a:srgbClr val="A6E0D8"/>
                </a:solidFill>
                <a:latin typeface="Aptos" pitchFamily="34" charset="0"/>
                <a:ea typeface="Aptos" pitchFamily="34" charset="-122"/>
                <a:cs typeface="Aptos" pitchFamily="34" charset="-120"/>
              </a:rPr>
              <a:t>WORKING MVP</a:t>
            </a:r>
            <a:endParaRPr lang="en-US" sz="850" dirty="0"/>
          </a:p>
        </p:txBody>
      </p:sp>
      <p:sp>
        <p:nvSpPr>
          <p:cNvPr id="12" name="Text 10"/>
          <p:cNvSpPr/>
          <p:nvPr/>
        </p:nvSpPr>
        <p:spPr>
          <a:xfrm>
            <a:off x="804672" y="6089904"/>
            <a:ext cx="6400800" cy="228600"/>
          </a:xfrm>
          <a:prstGeom prst="rect">
            <a:avLst/>
          </a:prstGeom>
          <a:noFill/>
          <a:ln/>
        </p:spPr>
        <p:txBody>
          <a:bodyPr wrap="square" lIns="0" tIns="0" rIns="0" bIns="0" rtlCol="0" anchor="ctr">
            <a:normAutofit/>
          </a:bodyPr>
          <a:lstStyle/>
          <a:p>
            <a:pPr indent="0" marL="0">
              <a:buNone/>
            </a:pPr>
            <a:r>
              <a:rPr lang="en-US" sz="900" dirty="0">
                <a:solidFill>
                  <a:srgbClr val="99B2B9"/>
                </a:solidFill>
                <a:latin typeface="Aptos" pitchFamily="34" charset="0"/>
                <a:ea typeface="Aptos" pitchFamily="34" charset="-122"/>
                <a:cs typeface="Aptos" pitchFamily="34" charset="-120"/>
              </a:rPr>
              <a:t>Fictional hospital prolonged power outage · 27 October 2026</a:t>
            </a:r>
            <a:endParaRPr lang="en-US" sz="900" dirty="0"/>
          </a:p>
        </p:txBody>
      </p:sp>
      <p:sp>
        <p:nvSpPr>
          <p:cNvPr id="13" name="Text 11"/>
          <p:cNvSpPr/>
          <p:nvPr/>
        </p:nvSpPr>
        <p:spPr>
          <a:xfrm>
            <a:off x="8138160" y="4809744"/>
            <a:ext cx="1234440" cy="256032"/>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Evidence</a:t>
            </a:r>
            <a:endParaRPr lang="en-US" sz="1100" dirty="0"/>
          </a:p>
        </p:txBody>
      </p:sp>
      <p:sp>
        <p:nvSpPr>
          <p:cNvPr id="14" name="Text 12"/>
          <p:cNvSpPr/>
          <p:nvPr/>
        </p:nvSpPr>
        <p:spPr>
          <a:xfrm>
            <a:off x="9372600" y="3886200"/>
            <a:ext cx="960120" cy="256032"/>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Review</a:t>
            </a:r>
            <a:endParaRPr lang="en-US" sz="1100" dirty="0"/>
          </a:p>
        </p:txBody>
      </p:sp>
      <p:sp>
        <p:nvSpPr>
          <p:cNvPr id="15" name="Text 13"/>
          <p:cNvSpPr/>
          <p:nvPr/>
        </p:nvSpPr>
        <p:spPr>
          <a:xfrm>
            <a:off x="10104120" y="4791456"/>
            <a:ext cx="914400" cy="256032"/>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Improve</a:t>
            </a:r>
            <a:endParaRPr lang="en-US" sz="1100" dirty="0"/>
          </a:p>
        </p:txBody>
      </p:sp>
      <p:sp>
        <p:nvSpPr>
          <p:cNvPr id="16" name="Shape 14"/>
          <p:cNvSpPr/>
          <p:nvPr/>
        </p:nvSpPr>
        <p:spPr>
          <a:xfrm>
            <a:off x="8961120" y="4187952"/>
            <a:ext cx="-411480" cy="475488"/>
          </a:xfrm>
          <a:prstGeom prst="line">
            <a:avLst/>
          </a:prstGeom>
          <a:noFill/>
          <a:ln w="15240">
            <a:solidFill>
              <a:srgbClr val="79BCB9"/>
            </a:solidFill>
            <a:prstDash val="solid"/>
          </a:ln>
        </p:spPr>
      </p:sp>
      <p:sp>
        <p:nvSpPr>
          <p:cNvPr id="17" name="Shape 15"/>
          <p:cNvSpPr/>
          <p:nvPr/>
        </p:nvSpPr>
        <p:spPr>
          <a:xfrm>
            <a:off x="10204704" y="4133088"/>
            <a:ext cx="356616" cy="530352"/>
          </a:xfrm>
          <a:prstGeom prst="line">
            <a:avLst/>
          </a:prstGeom>
          <a:noFill/>
          <a:ln w="15240">
            <a:solidFill>
              <a:srgbClr val="79BCB9"/>
            </a:solidFill>
            <a:prstDash val="solid"/>
          </a:ln>
        </p:spPr>
      </p:sp>
      <p:sp>
        <p:nvSpPr>
          <p:cNvPr id="18" name="Text 16"/>
          <p:cNvSpPr/>
          <p:nvPr/>
        </p:nvSpPr>
        <p:spPr>
          <a:xfrm>
            <a:off x="8138160" y="5632704"/>
            <a:ext cx="3429000" cy="530352"/>
          </a:xfrm>
          <a:prstGeom prst="rect">
            <a:avLst/>
          </a:prstGeom>
          <a:noFill/>
          <a:ln/>
        </p:spPr>
        <p:txBody>
          <a:bodyPr wrap="square" lIns="0" tIns="0" rIns="0" bIns="0" rtlCol="0" anchor="ctr">
            <a:normAutofit/>
          </a:bodyPr>
          <a:lstStyle/>
          <a:p>
            <a:pPr algn="ctr" indent="0" marL="0">
              <a:buNone/>
            </a:pPr>
            <a:r>
              <a:rPr lang="en-US" sz="1200" dirty="0">
                <a:solidFill>
                  <a:srgbClr val="C2D4D6"/>
                </a:solidFill>
                <a:latin typeface="Aptos" pitchFamily="34" charset="0"/>
                <a:ea typeface="Aptos" pitchFamily="34" charset="-122"/>
                <a:cs typeface="Aptos" pitchFamily="34" charset="-120"/>
              </a:rPr>
              <a:t>The claim stays connected to its source and its reviewer decision.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329184"/>
            <a:ext cx="10789920" cy="219456"/>
          </a:xfrm>
          <a:prstGeom prst="rect">
            <a:avLst/>
          </a:prstGeom>
          <a:noFill/>
          <a:ln/>
        </p:spPr>
        <p:txBody>
          <a:bodyPr wrap="square" lIns="0" tIns="0" rIns="0" bIns="0" rtlCol="0" anchor="ctr">
            <a:normAutofit/>
          </a:bodyPr>
          <a:lstStyle/>
          <a:p>
            <a:pPr indent="0" marL="0">
              <a:buNone/>
            </a:pPr>
            <a:r>
              <a:rPr lang="en-US" sz="900" b="1" spc="120" kern="0" dirty="0">
                <a:solidFill>
                  <a:srgbClr val="0D8F89"/>
                </a:solidFill>
                <a:latin typeface="Aptos" pitchFamily="34" charset="0"/>
                <a:ea typeface="Aptos" pitchFamily="34" charset="-122"/>
                <a:cs typeface="Aptos" pitchFamily="34" charset="-120"/>
              </a:rPr>
              <a:t>THE PROBLEM</a:t>
            </a:r>
            <a:endParaRPr lang="en-US" sz="900" dirty="0"/>
          </a:p>
        </p:txBody>
      </p:sp>
      <p:sp>
        <p:nvSpPr>
          <p:cNvPr id="3" name="Text 1"/>
          <p:cNvSpPr/>
          <p:nvPr/>
        </p:nvSpPr>
        <p:spPr>
          <a:xfrm>
            <a:off x="594360" y="640080"/>
            <a:ext cx="10972800" cy="475488"/>
          </a:xfrm>
          <a:prstGeom prst="rect">
            <a:avLst/>
          </a:prstGeom>
          <a:noFill/>
          <a:ln/>
        </p:spPr>
        <p:txBody>
          <a:bodyPr wrap="square" lIns="0" tIns="0" rIns="0" bIns="0" rtlCol="0" anchor="ctr">
            <a:normAutofit/>
          </a:bodyPr>
          <a:lstStyle/>
          <a:p>
            <a:pPr indent="0" marL="0">
              <a:buNone/>
            </a:pPr>
            <a:r>
              <a:rPr lang="en-US" sz="2600" b="1" dirty="0">
                <a:solidFill>
                  <a:srgbClr val="173747"/>
                </a:solidFill>
                <a:latin typeface="Aptos Display" pitchFamily="34" charset="0"/>
                <a:ea typeface="Aptos Display" pitchFamily="34" charset="-122"/>
                <a:cs typeface="Aptos Display" pitchFamily="34" charset="-120"/>
              </a:rPr>
              <a:t>The exercise ends. The evidence work begins.</a:t>
            </a:r>
            <a:endParaRPr lang="en-US" sz="2600" dirty="0"/>
          </a:p>
        </p:txBody>
      </p:sp>
      <p:sp>
        <p:nvSpPr>
          <p:cNvPr id="4" name="Text 2"/>
          <p:cNvSpPr/>
          <p:nvPr/>
        </p:nvSpPr>
        <p:spPr>
          <a:xfrm>
            <a:off x="612648" y="1133856"/>
            <a:ext cx="10881360" cy="310896"/>
          </a:xfrm>
          <a:prstGeom prst="rect">
            <a:avLst/>
          </a:prstGeom>
          <a:noFill/>
          <a:ln/>
        </p:spPr>
        <p:txBody>
          <a:bodyPr wrap="square" lIns="0" tIns="0" rIns="0" bIns="0" rtlCol="0" anchor="ctr">
            <a:normAutofit/>
          </a:bodyPr>
          <a:lstStyle/>
          <a:p>
            <a:pPr indent="0" marL="0">
              <a:buNone/>
            </a:pPr>
            <a:r>
              <a:rPr lang="en-US" sz="1130" dirty="0">
                <a:solidFill>
                  <a:srgbClr val="6C808B"/>
                </a:solidFill>
                <a:latin typeface="Aptos" pitchFamily="34" charset="0"/>
                <a:ea typeface="Aptos" pitchFamily="34" charset="-122"/>
                <a:cs typeface="Aptos" pitchFamily="34" charset="-120"/>
              </a:rPr>
              <a:t>Evaluation is a reconciliation job across files, clocks, objectives, and people.</a:t>
            </a:r>
            <a:endParaRPr lang="en-US" sz="1130" dirty="0"/>
          </a:p>
        </p:txBody>
      </p:sp>
      <p:sp>
        <p:nvSpPr>
          <p:cNvPr id="5" name="Shape 3"/>
          <p:cNvSpPr/>
          <p:nvPr/>
        </p:nvSpPr>
        <p:spPr>
          <a:xfrm>
            <a:off x="640080" y="1874520"/>
            <a:ext cx="3246120" cy="2148840"/>
          </a:xfrm>
          <a:prstGeom prst="roundRect">
            <a:avLst>
              <a:gd name="adj" fmla="val 5106"/>
            </a:avLst>
          </a:prstGeom>
          <a:solidFill>
            <a:srgbClr val="FFFFFF"/>
          </a:solidFill>
          <a:ln w="11430">
            <a:solidFill>
              <a:srgbClr val="DCE7E8"/>
            </a:solidFill>
            <a:prstDash val="solid"/>
          </a:ln>
        </p:spPr>
      </p:sp>
      <p:sp>
        <p:nvSpPr>
          <p:cNvPr id="6" name="Shape 4"/>
          <p:cNvSpPr/>
          <p:nvPr/>
        </p:nvSpPr>
        <p:spPr>
          <a:xfrm>
            <a:off x="859536" y="2084832"/>
            <a:ext cx="457200" cy="265176"/>
          </a:xfrm>
          <a:prstGeom prst="roundRect">
            <a:avLst>
              <a:gd name="adj" fmla="val 41379"/>
            </a:avLst>
          </a:prstGeom>
          <a:solidFill>
            <a:srgbClr val="E5F4F2"/>
          </a:solidFill>
          <a:ln w="12700">
            <a:solidFill>
              <a:srgbClr val="E5F4F2">
                <a:alpha val="0"/>
              </a:srgbClr>
            </a:solidFill>
            <a:prstDash val="solid"/>
          </a:ln>
        </p:spPr>
      </p:sp>
      <p:sp>
        <p:nvSpPr>
          <p:cNvPr id="7" name="Text 5"/>
          <p:cNvSpPr/>
          <p:nvPr/>
        </p:nvSpPr>
        <p:spPr>
          <a:xfrm>
            <a:off x="932688" y="2098548"/>
            <a:ext cx="310896" cy="219456"/>
          </a:xfrm>
          <a:prstGeom prst="rect">
            <a:avLst/>
          </a:prstGeom>
          <a:noFill/>
          <a:ln/>
        </p:spPr>
        <p:txBody>
          <a:bodyPr wrap="square" lIns="0" tIns="0" rIns="0" bIns="0" rtlCol="0" anchor="ctr">
            <a:normAutofit/>
          </a:bodyPr>
          <a:lstStyle/>
          <a:p>
            <a:pPr algn="ctr" indent="0" marL="0">
              <a:buNone/>
            </a:pPr>
            <a:r>
              <a:rPr lang="en-US" sz="850" b="1" dirty="0">
                <a:solidFill>
                  <a:srgbClr val="0D8F89"/>
                </a:solidFill>
                <a:latin typeface="Aptos" pitchFamily="34" charset="0"/>
                <a:ea typeface="Aptos" pitchFamily="34" charset="-122"/>
                <a:cs typeface="Aptos" pitchFamily="34" charset="-120"/>
              </a:rPr>
              <a:t>01</a:t>
            </a:r>
            <a:endParaRPr lang="en-US" sz="850" dirty="0"/>
          </a:p>
        </p:txBody>
      </p:sp>
      <p:sp>
        <p:nvSpPr>
          <p:cNvPr id="8" name="Text 6"/>
          <p:cNvSpPr/>
          <p:nvPr/>
        </p:nvSpPr>
        <p:spPr>
          <a:xfrm>
            <a:off x="868680" y="2606040"/>
            <a:ext cx="2743200" cy="292608"/>
          </a:xfrm>
          <a:prstGeom prst="rect">
            <a:avLst/>
          </a:prstGeom>
          <a:noFill/>
          <a:ln/>
        </p:spPr>
        <p:txBody>
          <a:bodyPr wrap="square" lIns="0" tIns="0" rIns="0" bIns="0" rtlCol="0" anchor="ctr">
            <a:normAutofit/>
          </a:bodyPr>
          <a:lstStyle/>
          <a:p>
            <a:pPr indent="0" marL="0">
              <a:buNone/>
            </a:pPr>
            <a:r>
              <a:rPr lang="en-US" sz="1400" b="1" dirty="0">
                <a:solidFill>
                  <a:srgbClr val="173747"/>
                </a:solidFill>
                <a:latin typeface="Aptos" pitchFamily="34" charset="0"/>
                <a:ea typeface="Aptos" pitchFamily="34" charset="-122"/>
                <a:cs typeface="Aptos" pitchFamily="34" charset="-120"/>
              </a:rPr>
              <a:t>Evidence is scattered</a:t>
            </a:r>
            <a:endParaRPr lang="en-US" sz="1400" dirty="0"/>
          </a:p>
        </p:txBody>
      </p:sp>
      <p:sp>
        <p:nvSpPr>
          <p:cNvPr id="9" name="Text 7"/>
          <p:cNvSpPr/>
          <p:nvPr/>
        </p:nvSpPr>
        <p:spPr>
          <a:xfrm>
            <a:off x="868680" y="3054096"/>
            <a:ext cx="2761488" cy="704088"/>
          </a:xfrm>
          <a:prstGeom prst="rect">
            <a:avLst/>
          </a:prstGeom>
          <a:noFill/>
          <a:ln/>
        </p:spPr>
        <p:txBody>
          <a:bodyPr wrap="square" lIns="0" tIns="0" rIns="0" bIns="0" rtlCol="0" anchor="t">
            <a:normAutofit/>
          </a:bodyPr>
          <a:lstStyle/>
          <a:p>
            <a:pPr indent="0" marL="0">
              <a:buNone/>
            </a:pPr>
            <a:r>
              <a:rPr lang="en-US" sz="1200" dirty="0">
                <a:solidFill>
                  <a:srgbClr val="6C808B"/>
                </a:solidFill>
                <a:latin typeface="Aptos" pitchFamily="34" charset="0"/>
                <a:ea typeface="Aptos" pitchFamily="34" charset="-122"/>
                <a:cs typeface="Aptos" pitchFamily="34" charset="-120"/>
              </a:rPr>
              <a:t>Evaluator notes, control-room logs, transcripts, and reports use different formats and detail.</a:t>
            </a:r>
            <a:endParaRPr lang="en-US" sz="1200" dirty="0"/>
          </a:p>
        </p:txBody>
      </p:sp>
      <p:sp>
        <p:nvSpPr>
          <p:cNvPr id="10" name="Shape 8"/>
          <p:cNvSpPr/>
          <p:nvPr/>
        </p:nvSpPr>
        <p:spPr>
          <a:xfrm>
            <a:off x="4160520" y="1874520"/>
            <a:ext cx="3246120" cy="2148840"/>
          </a:xfrm>
          <a:prstGeom prst="roundRect">
            <a:avLst>
              <a:gd name="adj" fmla="val 5106"/>
            </a:avLst>
          </a:prstGeom>
          <a:solidFill>
            <a:srgbClr val="FFFFFF"/>
          </a:solidFill>
          <a:ln w="11430">
            <a:solidFill>
              <a:srgbClr val="DCE7E8"/>
            </a:solidFill>
            <a:prstDash val="solid"/>
          </a:ln>
        </p:spPr>
      </p:sp>
      <p:sp>
        <p:nvSpPr>
          <p:cNvPr id="11" name="Shape 9"/>
          <p:cNvSpPr/>
          <p:nvPr/>
        </p:nvSpPr>
        <p:spPr>
          <a:xfrm>
            <a:off x="4379976" y="2084832"/>
            <a:ext cx="457200" cy="265176"/>
          </a:xfrm>
          <a:prstGeom prst="roundRect">
            <a:avLst>
              <a:gd name="adj" fmla="val 41379"/>
            </a:avLst>
          </a:prstGeom>
          <a:solidFill>
            <a:srgbClr val="E5F4F2"/>
          </a:solidFill>
          <a:ln w="12700">
            <a:solidFill>
              <a:srgbClr val="E5F4F2">
                <a:alpha val="0"/>
              </a:srgbClr>
            </a:solidFill>
            <a:prstDash val="solid"/>
          </a:ln>
        </p:spPr>
      </p:sp>
      <p:sp>
        <p:nvSpPr>
          <p:cNvPr id="12" name="Text 10"/>
          <p:cNvSpPr/>
          <p:nvPr/>
        </p:nvSpPr>
        <p:spPr>
          <a:xfrm>
            <a:off x="4453128" y="2098548"/>
            <a:ext cx="310896" cy="219456"/>
          </a:xfrm>
          <a:prstGeom prst="rect">
            <a:avLst/>
          </a:prstGeom>
          <a:noFill/>
          <a:ln/>
        </p:spPr>
        <p:txBody>
          <a:bodyPr wrap="square" lIns="0" tIns="0" rIns="0" bIns="0" rtlCol="0" anchor="ctr">
            <a:normAutofit/>
          </a:bodyPr>
          <a:lstStyle/>
          <a:p>
            <a:pPr algn="ctr" indent="0" marL="0">
              <a:buNone/>
            </a:pPr>
            <a:r>
              <a:rPr lang="en-US" sz="850" b="1" dirty="0">
                <a:solidFill>
                  <a:srgbClr val="0D8F89"/>
                </a:solidFill>
                <a:latin typeface="Aptos" pitchFamily="34" charset="0"/>
                <a:ea typeface="Aptos" pitchFamily="34" charset="-122"/>
                <a:cs typeface="Aptos" pitchFamily="34" charset="-120"/>
              </a:rPr>
              <a:t>02</a:t>
            </a:r>
            <a:endParaRPr lang="en-US" sz="850" dirty="0"/>
          </a:p>
        </p:txBody>
      </p:sp>
      <p:sp>
        <p:nvSpPr>
          <p:cNvPr id="13" name="Text 11"/>
          <p:cNvSpPr/>
          <p:nvPr/>
        </p:nvSpPr>
        <p:spPr>
          <a:xfrm>
            <a:off x="4389120" y="2606040"/>
            <a:ext cx="2743200" cy="292608"/>
          </a:xfrm>
          <a:prstGeom prst="rect">
            <a:avLst/>
          </a:prstGeom>
          <a:noFill/>
          <a:ln/>
        </p:spPr>
        <p:txBody>
          <a:bodyPr wrap="square" lIns="0" tIns="0" rIns="0" bIns="0" rtlCol="0" anchor="ctr">
            <a:normAutofit/>
          </a:bodyPr>
          <a:lstStyle/>
          <a:p>
            <a:pPr indent="0" marL="0">
              <a:buNone/>
            </a:pPr>
            <a:r>
              <a:rPr lang="en-US" sz="1400" b="1" dirty="0">
                <a:solidFill>
                  <a:srgbClr val="173747"/>
                </a:solidFill>
                <a:latin typeface="Aptos" pitchFamily="34" charset="0"/>
                <a:ea typeface="Aptos" pitchFamily="34" charset="-122"/>
                <a:cs typeface="Aptos" pitchFamily="34" charset="-120"/>
              </a:rPr>
              <a:t>Timelines disagree</a:t>
            </a:r>
            <a:endParaRPr lang="en-US" sz="1400" dirty="0"/>
          </a:p>
        </p:txBody>
      </p:sp>
      <p:sp>
        <p:nvSpPr>
          <p:cNvPr id="14" name="Text 12"/>
          <p:cNvSpPr/>
          <p:nvPr/>
        </p:nvSpPr>
        <p:spPr>
          <a:xfrm>
            <a:off x="4389120" y="3054096"/>
            <a:ext cx="2761488" cy="704088"/>
          </a:xfrm>
          <a:prstGeom prst="rect">
            <a:avLst/>
          </a:prstGeom>
          <a:noFill/>
          <a:ln/>
        </p:spPr>
        <p:txBody>
          <a:bodyPr wrap="square" lIns="0" tIns="0" rIns="0" bIns="0" rtlCol="0" anchor="t">
            <a:normAutofit/>
          </a:bodyPr>
          <a:lstStyle/>
          <a:p>
            <a:pPr indent="0" marL="0">
              <a:buNone/>
            </a:pPr>
            <a:r>
              <a:rPr lang="en-US" sz="1200" dirty="0">
                <a:solidFill>
                  <a:srgbClr val="6C808B"/>
                </a:solidFill>
                <a:latin typeface="Aptos" pitchFamily="34" charset="0"/>
                <a:ea typeface="Aptos" pitchFamily="34" charset="-122"/>
                <a:cs typeface="Aptos" pitchFamily="34" charset="-120"/>
              </a:rPr>
              <a:t>Missing times, conflicting statements, and recognition errors can make event order look more certain than it is.</a:t>
            </a:r>
            <a:endParaRPr lang="en-US" sz="1200" dirty="0"/>
          </a:p>
        </p:txBody>
      </p:sp>
      <p:sp>
        <p:nvSpPr>
          <p:cNvPr id="15" name="Shape 13"/>
          <p:cNvSpPr/>
          <p:nvPr/>
        </p:nvSpPr>
        <p:spPr>
          <a:xfrm>
            <a:off x="7680960" y="1874520"/>
            <a:ext cx="3246120" cy="2148840"/>
          </a:xfrm>
          <a:prstGeom prst="roundRect">
            <a:avLst>
              <a:gd name="adj" fmla="val 5106"/>
            </a:avLst>
          </a:prstGeom>
          <a:solidFill>
            <a:srgbClr val="FFFFFF"/>
          </a:solidFill>
          <a:ln w="11430">
            <a:solidFill>
              <a:srgbClr val="DCE7E8"/>
            </a:solidFill>
            <a:prstDash val="solid"/>
          </a:ln>
        </p:spPr>
      </p:sp>
      <p:sp>
        <p:nvSpPr>
          <p:cNvPr id="16" name="Shape 14"/>
          <p:cNvSpPr/>
          <p:nvPr/>
        </p:nvSpPr>
        <p:spPr>
          <a:xfrm>
            <a:off x="7900416" y="2084832"/>
            <a:ext cx="457200" cy="265176"/>
          </a:xfrm>
          <a:prstGeom prst="roundRect">
            <a:avLst>
              <a:gd name="adj" fmla="val 41379"/>
            </a:avLst>
          </a:prstGeom>
          <a:solidFill>
            <a:srgbClr val="E5F4F2"/>
          </a:solidFill>
          <a:ln w="12700">
            <a:solidFill>
              <a:srgbClr val="E5F4F2">
                <a:alpha val="0"/>
              </a:srgbClr>
            </a:solidFill>
            <a:prstDash val="solid"/>
          </a:ln>
        </p:spPr>
      </p:sp>
      <p:sp>
        <p:nvSpPr>
          <p:cNvPr id="17" name="Text 15"/>
          <p:cNvSpPr/>
          <p:nvPr/>
        </p:nvSpPr>
        <p:spPr>
          <a:xfrm>
            <a:off x="7973568" y="2098548"/>
            <a:ext cx="310896" cy="219456"/>
          </a:xfrm>
          <a:prstGeom prst="rect">
            <a:avLst/>
          </a:prstGeom>
          <a:noFill/>
          <a:ln/>
        </p:spPr>
        <p:txBody>
          <a:bodyPr wrap="square" lIns="0" tIns="0" rIns="0" bIns="0" rtlCol="0" anchor="ctr">
            <a:normAutofit/>
          </a:bodyPr>
          <a:lstStyle/>
          <a:p>
            <a:pPr algn="ctr" indent="0" marL="0">
              <a:buNone/>
            </a:pPr>
            <a:r>
              <a:rPr lang="en-US" sz="850" b="1" dirty="0">
                <a:solidFill>
                  <a:srgbClr val="0D8F89"/>
                </a:solidFill>
                <a:latin typeface="Aptos" pitchFamily="34" charset="0"/>
                <a:ea typeface="Aptos" pitchFamily="34" charset="-122"/>
                <a:cs typeface="Aptos" pitchFamily="34" charset="-120"/>
              </a:rPr>
              <a:t>03</a:t>
            </a:r>
            <a:endParaRPr lang="en-US" sz="850" dirty="0"/>
          </a:p>
        </p:txBody>
      </p:sp>
      <p:sp>
        <p:nvSpPr>
          <p:cNvPr id="18" name="Text 16"/>
          <p:cNvSpPr/>
          <p:nvPr/>
        </p:nvSpPr>
        <p:spPr>
          <a:xfrm>
            <a:off x="7909560" y="2606040"/>
            <a:ext cx="2743200" cy="292608"/>
          </a:xfrm>
          <a:prstGeom prst="rect">
            <a:avLst/>
          </a:prstGeom>
          <a:noFill/>
          <a:ln/>
        </p:spPr>
        <p:txBody>
          <a:bodyPr wrap="square" lIns="0" tIns="0" rIns="0" bIns="0" rtlCol="0" anchor="ctr">
            <a:normAutofit/>
          </a:bodyPr>
          <a:lstStyle/>
          <a:p>
            <a:pPr indent="0" marL="0">
              <a:buNone/>
            </a:pPr>
            <a:r>
              <a:rPr lang="en-US" sz="1400" b="1" dirty="0">
                <a:solidFill>
                  <a:srgbClr val="173747"/>
                </a:solidFill>
                <a:latin typeface="Aptos" pitchFamily="34" charset="0"/>
                <a:ea typeface="Aptos" pitchFamily="34" charset="-122"/>
                <a:cs typeface="Aptos" pitchFamily="34" charset="-120"/>
              </a:rPr>
              <a:t>Actions lose momentum</a:t>
            </a:r>
            <a:endParaRPr lang="en-US" sz="1400" dirty="0"/>
          </a:p>
        </p:txBody>
      </p:sp>
      <p:sp>
        <p:nvSpPr>
          <p:cNvPr id="19" name="Text 17"/>
          <p:cNvSpPr/>
          <p:nvPr/>
        </p:nvSpPr>
        <p:spPr>
          <a:xfrm>
            <a:off x="7909560" y="3054096"/>
            <a:ext cx="2761488" cy="704088"/>
          </a:xfrm>
          <a:prstGeom prst="rect">
            <a:avLst/>
          </a:prstGeom>
          <a:noFill/>
          <a:ln/>
        </p:spPr>
        <p:txBody>
          <a:bodyPr wrap="square" lIns="0" tIns="0" rIns="0" bIns="0" rtlCol="0" anchor="t">
            <a:normAutofit/>
          </a:bodyPr>
          <a:lstStyle/>
          <a:p>
            <a:pPr indent="0" marL="0">
              <a:buNone/>
            </a:pPr>
            <a:r>
              <a:rPr lang="en-US" sz="1200" dirty="0">
                <a:solidFill>
                  <a:srgbClr val="6C808B"/>
                </a:solidFill>
                <a:latin typeface="Aptos" pitchFamily="34" charset="0"/>
                <a:ea typeface="Aptos" pitchFamily="34" charset="-122"/>
                <a:cs typeface="Aptos" pitchFamily="34" charset="-120"/>
              </a:rPr>
              <a:t>Findings become difficult to assign, review, and verify after the report is written.</a:t>
            </a:r>
            <a:endParaRPr lang="en-US" sz="1200" dirty="0"/>
          </a:p>
        </p:txBody>
      </p:sp>
      <p:sp>
        <p:nvSpPr>
          <p:cNvPr id="20" name="Shape 18"/>
          <p:cNvSpPr/>
          <p:nvPr/>
        </p:nvSpPr>
        <p:spPr>
          <a:xfrm>
            <a:off x="640080" y="4434840"/>
            <a:ext cx="10287000" cy="1115568"/>
          </a:xfrm>
          <a:prstGeom prst="roundRect">
            <a:avLst>
              <a:gd name="adj" fmla="val 9836"/>
            </a:avLst>
          </a:prstGeom>
          <a:solidFill>
            <a:srgbClr val="173747"/>
          </a:solidFill>
          <a:ln w="11430">
            <a:solidFill>
              <a:srgbClr val="173747"/>
            </a:solidFill>
            <a:prstDash val="solid"/>
          </a:ln>
        </p:spPr>
      </p:sp>
      <p:sp>
        <p:nvSpPr>
          <p:cNvPr id="21" name="Text 19"/>
          <p:cNvSpPr/>
          <p:nvPr/>
        </p:nvSpPr>
        <p:spPr>
          <a:xfrm>
            <a:off x="896112" y="4636008"/>
            <a:ext cx="1508760" cy="228600"/>
          </a:xfrm>
          <a:prstGeom prst="rect">
            <a:avLst/>
          </a:prstGeom>
          <a:noFill/>
          <a:ln/>
        </p:spPr>
        <p:txBody>
          <a:bodyPr wrap="square" lIns="0" tIns="0" rIns="0" bIns="0" rtlCol="0" anchor="ctr">
            <a:normAutofit/>
          </a:bodyPr>
          <a:lstStyle/>
          <a:p>
            <a:pPr indent="0" marL="0">
              <a:buNone/>
            </a:pPr>
            <a:r>
              <a:rPr lang="en-US" sz="1000" b="1" dirty="0">
                <a:solidFill>
                  <a:srgbClr val="85D4CA"/>
                </a:solidFill>
                <a:latin typeface="Aptos" pitchFamily="34" charset="0"/>
                <a:ea typeface="Aptos" pitchFamily="34" charset="-122"/>
                <a:cs typeface="Aptos" pitchFamily="34" charset="-120"/>
              </a:rPr>
              <a:t>What teams need</a:t>
            </a:r>
            <a:endParaRPr lang="en-US" sz="1000" dirty="0"/>
          </a:p>
        </p:txBody>
      </p:sp>
      <p:sp>
        <p:nvSpPr>
          <p:cNvPr id="22" name="Text 20"/>
          <p:cNvSpPr/>
          <p:nvPr/>
        </p:nvSpPr>
        <p:spPr>
          <a:xfrm>
            <a:off x="2578608" y="4590288"/>
            <a:ext cx="7863840" cy="566928"/>
          </a:xfrm>
          <a:prstGeom prst="rect">
            <a:avLst/>
          </a:prstGeom>
          <a:noFill/>
          <a:ln/>
        </p:spPr>
        <p:txBody>
          <a:bodyPr wrap="square" lIns="0" tIns="0" rIns="0" bIns="0" rtlCol="0" anchor="ctr">
            <a:normAutofit/>
          </a:bodyPr>
          <a:lstStyle/>
          <a:p>
            <a:pPr indent="0" marL="0">
              <a:buNone/>
            </a:pPr>
            <a:r>
              <a:rPr lang="en-US" sz="1700" b="1" dirty="0">
                <a:solidFill>
                  <a:srgbClr val="FFFFFF"/>
                </a:solidFill>
                <a:latin typeface="Aptos" pitchFamily="34" charset="0"/>
                <a:ea typeface="Aptos" pitchFamily="34" charset="-122"/>
                <a:cs typeface="Aptos" pitchFamily="34" charset="-120"/>
              </a:rPr>
              <a:t>A review trail that shows what the evidence says, what the evaluator concludes, and who verifies the improvement.</a:t>
            </a:r>
            <a:endParaRPr lang="en-US" sz="1700" dirty="0"/>
          </a:p>
        </p:txBody>
      </p:sp>
      <p:sp>
        <p:nvSpPr>
          <p:cNvPr id="23" name="Text 21"/>
          <p:cNvSpPr/>
          <p:nvPr/>
        </p:nvSpPr>
        <p:spPr>
          <a:xfrm>
            <a:off x="694944" y="5815584"/>
            <a:ext cx="10058400" cy="228600"/>
          </a:xfrm>
          <a:prstGeom prst="rect">
            <a:avLst/>
          </a:prstGeom>
          <a:noFill/>
          <a:ln/>
        </p:spPr>
        <p:txBody>
          <a:bodyPr wrap="square" lIns="0" tIns="0" rIns="0" bIns="0" rtlCol="0" anchor="ctr">
            <a:normAutofit/>
          </a:bodyPr>
          <a:lstStyle/>
          <a:p>
            <a:pPr indent="0" marL="0">
              <a:buNone/>
            </a:pPr>
            <a:r>
              <a:rPr lang="en-US" sz="900" i="1" dirty="0">
                <a:solidFill>
                  <a:srgbClr val="6C808B"/>
                </a:solidFill>
                <a:latin typeface="Aptos" pitchFamily="34" charset="0"/>
                <a:ea typeface="Aptos" pitchFamily="34" charset="-122"/>
                <a:cs typeface="Aptos" pitchFamily="34" charset="-120"/>
              </a:rPr>
              <a:t>The amount of time saved and the size of the gap vary by organization; neither has been measured yet.</a:t>
            </a:r>
            <a:endParaRPr lang="en-US" sz="900" dirty="0"/>
          </a:p>
        </p:txBody>
      </p:sp>
      <p:sp>
        <p:nvSpPr>
          <p:cNvPr id="25" name="Slide Number Placeholder 0"/>
          <p:cNvSpPr>
            <a:spLocks noGrp="1"/>
          </p:cNvSpPr>
          <p:nvPr>
            <p:ph type="sldNum" sz="quarter" idx="4294967295"/>
          </p:nvPr>
        </p:nvSpPr>
        <p:spPr>
          <a:xfrm>
            <a:off x="11768328" y="6556248"/>
            <a:ext cx="182880" cy="164592"/>
          </a:xfrm>
          <a:prstGeom prst="rect">
            <a:avLst/>
          </a:prstGeom>
          <a:extLst>
            <a:ext uri="{C572A759-6A51-4108-AA02-DFA0A04FC94B}">
              <ma14:wrappingTextBoxFlag xmlns:ma14="http://schemas.microsoft.com/office/mac/drawingml/2011/main" val="0"/>
            </a:ext>
          </a:extLst>
        </p:spPr>
        <p:txBody>
          <a:bodyPr/>
          <a:lstStyle>
            <a:lvl1pPr>
              <a:defRPr sz="700">
                <a:solidFill>
                  <a:srgbClr val="6C808B"/>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329184"/>
            <a:ext cx="10789920" cy="219456"/>
          </a:xfrm>
          <a:prstGeom prst="rect">
            <a:avLst/>
          </a:prstGeom>
          <a:noFill/>
          <a:ln/>
        </p:spPr>
        <p:txBody>
          <a:bodyPr wrap="square" lIns="0" tIns="0" rIns="0" bIns="0" rtlCol="0" anchor="ctr">
            <a:normAutofit/>
          </a:bodyPr>
          <a:lstStyle/>
          <a:p>
            <a:pPr indent="0" marL="0">
              <a:buNone/>
            </a:pPr>
            <a:r>
              <a:rPr lang="en-US" sz="900" b="1" spc="120" kern="0" dirty="0">
                <a:solidFill>
                  <a:srgbClr val="0D8F89"/>
                </a:solidFill>
                <a:latin typeface="Aptos" pitchFamily="34" charset="0"/>
                <a:ea typeface="Aptos" pitchFamily="34" charset="-122"/>
                <a:cs typeface="Aptos" pitchFamily="34" charset="-120"/>
              </a:rPr>
              <a:t>THE PRODUCT</a:t>
            </a:r>
            <a:endParaRPr lang="en-US" sz="900" dirty="0"/>
          </a:p>
        </p:txBody>
      </p:sp>
      <p:sp>
        <p:nvSpPr>
          <p:cNvPr id="3" name="Text 1"/>
          <p:cNvSpPr/>
          <p:nvPr/>
        </p:nvSpPr>
        <p:spPr>
          <a:xfrm>
            <a:off x="594360" y="640080"/>
            <a:ext cx="10972800" cy="475488"/>
          </a:xfrm>
          <a:prstGeom prst="rect">
            <a:avLst/>
          </a:prstGeom>
          <a:noFill/>
          <a:ln/>
        </p:spPr>
        <p:txBody>
          <a:bodyPr wrap="square" lIns="0" tIns="0" rIns="0" bIns="0" rtlCol="0" anchor="ctr">
            <a:normAutofit/>
          </a:bodyPr>
          <a:lstStyle/>
          <a:p>
            <a:pPr indent="0" marL="0">
              <a:buNone/>
            </a:pPr>
            <a:r>
              <a:rPr lang="en-US" sz="2600" b="1" dirty="0">
                <a:solidFill>
                  <a:srgbClr val="173747"/>
                </a:solidFill>
                <a:latin typeface="Aptos Display" pitchFamily="34" charset="0"/>
                <a:ea typeface="Aptos Display" pitchFamily="34" charset="-122"/>
                <a:cs typeface="Aptos Display" pitchFamily="34" charset="-120"/>
              </a:rPr>
              <a:t>One review workspace for the whole exercise</a:t>
            </a:r>
            <a:endParaRPr lang="en-US" sz="2600" dirty="0"/>
          </a:p>
        </p:txBody>
      </p:sp>
      <p:sp>
        <p:nvSpPr>
          <p:cNvPr id="4" name="Text 2"/>
          <p:cNvSpPr/>
          <p:nvPr/>
        </p:nvSpPr>
        <p:spPr>
          <a:xfrm>
            <a:off x="612648" y="1133856"/>
            <a:ext cx="10881360" cy="310896"/>
          </a:xfrm>
          <a:prstGeom prst="rect">
            <a:avLst/>
          </a:prstGeom>
          <a:noFill/>
          <a:ln/>
        </p:spPr>
        <p:txBody>
          <a:bodyPr wrap="square" lIns="0" tIns="0" rIns="0" bIns="0" rtlCol="0" anchor="ctr">
            <a:normAutofit/>
          </a:bodyPr>
          <a:lstStyle/>
          <a:p>
            <a:pPr indent="0" marL="0">
              <a:buNone/>
            </a:pPr>
            <a:r>
              <a:rPr lang="en-US" sz="1130" dirty="0">
                <a:solidFill>
                  <a:srgbClr val="6C808B"/>
                </a:solidFill>
                <a:latin typeface="Aptos" pitchFamily="34" charset="0"/>
                <a:ea typeface="Aptos" pitchFamily="34" charset="-122"/>
                <a:cs typeface="Aptos" pitchFamily="34" charset="-120"/>
              </a:rPr>
              <a:t>Follow evidence through to an after-action report and improvement plan (AAR/IP).</a:t>
            </a:r>
            <a:endParaRPr lang="en-US" sz="1130" dirty="0"/>
          </a:p>
        </p:txBody>
      </p:sp>
      <p:sp>
        <p:nvSpPr>
          <p:cNvPr id="5" name="Shape 3"/>
          <p:cNvSpPr/>
          <p:nvPr/>
        </p:nvSpPr>
        <p:spPr>
          <a:xfrm>
            <a:off x="658368" y="1673352"/>
            <a:ext cx="7909560" cy="4498848"/>
          </a:xfrm>
          <a:prstGeom prst="roundRect">
            <a:avLst>
              <a:gd name="adj" fmla="val 2439"/>
            </a:avLst>
          </a:prstGeom>
          <a:solidFill>
            <a:srgbClr val="FFFFFF"/>
          </a:solidFill>
          <a:ln w="11430">
            <a:solidFill>
              <a:srgbClr val="DCE7E8"/>
            </a:solidFill>
            <a:prstDash val="solid"/>
          </a:ln>
        </p:spPr>
      </p:sp>
      <p:pic>
        <p:nvPicPr>
          <p:cNvPr id="6" name="Image 0" descr="/Users/deepesh.agrawal/Documents/exp/Presight_Eureka_3/DrillLoop/assets/DrillLoop_Demo_Overview.png">    </p:cNvPr>
          <p:cNvPicPr>
            <a:picLocks noChangeAspect="1"/>
          </p:cNvPicPr>
          <p:nvPr/>
        </p:nvPicPr>
        <p:blipFill>
          <a:blip r:embed="rId1"/>
          <a:stretch>
            <a:fillRect/>
          </a:stretch>
        </p:blipFill>
        <p:spPr>
          <a:xfrm>
            <a:off x="1474262" y="1755648"/>
            <a:ext cx="6277772" cy="4315968"/>
          </a:xfrm>
          <a:prstGeom prst="rect">
            <a:avLst/>
          </a:prstGeom>
        </p:spPr>
      </p:pic>
      <p:sp>
        <p:nvSpPr>
          <p:cNvPr id="7" name="Text 4"/>
          <p:cNvSpPr/>
          <p:nvPr/>
        </p:nvSpPr>
        <p:spPr>
          <a:xfrm>
            <a:off x="8933688" y="1828800"/>
            <a:ext cx="2286000" cy="228600"/>
          </a:xfrm>
          <a:prstGeom prst="rect">
            <a:avLst/>
          </a:prstGeom>
          <a:noFill/>
          <a:ln/>
        </p:spPr>
        <p:txBody>
          <a:bodyPr wrap="square" lIns="0" tIns="0" rIns="0" bIns="0" rtlCol="0" anchor="ctr">
            <a:normAutofit/>
          </a:bodyPr>
          <a:lstStyle/>
          <a:p>
            <a:pPr indent="0" marL="0">
              <a:buNone/>
            </a:pPr>
            <a:r>
              <a:rPr lang="en-US" sz="850" b="1" spc="80" kern="0" dirty="0">
                <a:solidFill>
                  <a:srgbClr val="0D8F89"/>
                </a:solidFill>
                <a:latin typeface="Aptos" pitchFamily="34" charset="0"/>
                <a:ea typeface="Aptos" pitchFamily="34" charset="-122"/>
                <a:cs typeface="Aptos" pitchFamily="34" charset="-120"/>
              </a:rPr>
              <a:t>SYNTHETIC HOSPITAL EXERCISE</a:t>
            </a:r>
            <a:endParaRPr lang="en-US" sz="850" dirty="0"/>
          </a:p>
        </p:txBody>
      </p:sp>
      <p:sp>
        <p:nvSpPr>
          <p:cNvPr id="8" name="Text 5"/>
          <p:cNvSpPr/>
          <p:nvPr/>
        </p:nvSpPr>
        <p:spPr>
          <a:xfrm>
            <a:off x="8933688" y="2194560"/>
            <a:ext cx="2606040" cy="402336"/>
          </a:xfrm>
          <a:prstGeom prst="rect">
            <a:avLst/>
          </a:prstGeom>
          <a:noFill/>
          <a:ln/>
        </p:spPr>
        <p:txBody>
          <a:bodyPr wrap="square" lIns="0" tIns="0" rIns="0" bIns="0" rtlCol="0" anchor="t">
            <a:normAutofit/>
          </a:bodyPr>
          <a:lstStyle/>
          <a:p>
            <a:pPr indent="0" marL="0">
              <a:buNone/>
            </a:pPr>
            <a:r>
              <a:rPr lang="en-US" sz="1600" b="1" dirty="0">
                <a:solidFill>
                  <a:srgbClr val="173747"/>
                </a:solidFill>
                <a:latin typeface="Aptos" pitchFamily="34" charset="0"/>
                <a:ea typeface="Aptos" pitchFamily="34" charset="-122"/>
                <a:cs typeface="Aptos" pitchFamily="34" charset="-120"/>
              </a:rPr>
              <a:t>The screen keeps together:</a:t>
            </a:r>
            <a:endParaRPr lang="en-US" sz="1600" dirty="0"/>
          </a:p>
        </p:txBody>
      </p:sp>
      <p:sp>
        <p:nvSpPr>
          <p:cNvPr id="9" name="Shape 6"/>
          <p:cNvSpPr/>
          <p:nvPr/>
        </p:nvSpPr>
        <p:spPr>
          <a:xfrm>
            <a:off x="8970264" y="2852928"/>
            <a:ext cx="118872" cy="118872"/>
          </a:xfrm>
          <a:prstGeom prst="ellipse">
            <a:avLst/>
          </a:prstGeom>
          <a:solidFill>
            <a:srgbClr val="0D8F89"/>
          </a:solidFill>
          <a:ln w="12700">
            <a:solidFill>
              <a:srgbClr val="0D8F89">
                <a:alpha val="0"/>
              </a:srgbClr>
            </a:solidFill>
            <a:prstDash val="solid"/>
          </a:ln>
        </p:spPr>
      </p:sp>
      <p:sp>
        <p:nvSpPr>
          <p:cNvPr id="10" name="Text 7"/>
          <p:cNvSpPr/>
          <p:nvPr/>
        </p:nvSpPr>
        <p:spPr>
          <a:xfrm>
            <a:off x="9217152" y="2788920"/>
            <a:ext cx="2103120" cy="228600"/>
          </a:xfrm>
          <a:prstGeom prst="rect">
            <a:avLst/>
          </a:prstGeom>
          <a:noFill/>
          <a:ln/>
        </p:spPr>
        <p:txBody>
          <a:bodyPr wrap="square" lIns="0" tIns="0" rIns="0" bIns="0" rtlCol="0" anchor="ctr">
            <a:normAutofit/>
          </a:bodyPr>
          <a:lstStyle/>
          <a:p>
            <a:pPr indent="0" marL="0">
              <a:buNone/>
            </a:pPr>
            <a:r>
              <a:rPr lang="en-US" sz="1100" b="1" dirty="0">
                <a:solidFill>
                  <a:srgbClr val="253E4D"/>
                </a:solidFill>
                <a:latin typeface="Aptos" pitchFamily="34" charset="0"/>
                <a:ea typeface="Aptos" pitchFamily="34" charset="-122"/>
                <a:cs typeface="Aptos" pitchFamily="34" charset="-120"/>
              </a:rPr>
              <a:t>Exercise plan</a:t>
            </a:r>
            <a:endParaRPr lang="en-US" sz="1100" dirty="0"/>
          </a:p>
        </p:txBody>
      </p:sp>
      <p:sp>
        <p:nvSpPr>
          <p:cNvPr id="11" name="Text 8"/>
          <p:cNvSpPr/>
          <p:nvPr/>
        </p:nvSpPr>
        <p:spPr>
          <a:xfrm>
            <a:off x="9217152" y="3054096"/>
            <a:ext cx="2212848" cy="228600"/>
          </a:xfrm>
          <a:prstGeom prst="rect">
            <a:avLst/>
          </a:prstGeom>
          <a:noFill/>
          <a:ln/>
        </p:spPr>
        <p:txBody>
          <a:bodyPr wrap="square" lIns="0" tIns="0" rIns="0" bIns="0" rtlCol="0" anchor="ctr">
            <a:normAutofit/>
          </a:bodyPr>
          <a:lstStyle/>
          <a:p>
            <a:pPr indent="0" marL="0">
              <a:buNone/>
            </a:pPr>
            <a:r>
              <a:rPr lang="en-US" sz="910" dirty="0">
                <a:solidFill>
                  <a:srgbClr val="6C808B"/>
                </a:solidFill>
                <a:latin typeface="Aptos" pitchFamily="34" charset="0"/>
                <a:ea typeface="Aptos" pitchFamily="34" charset="-122"/>
                <a:cs typeface="Aptos" pitchFamily="34" charset="-120"/>
              </a:rPr>
              <a:t>Objectives and milestones</a:t>
            </a:r>
            <a:endParaRPr lang="en-US" sz="910" dirty="0"/>
          </a:p>
        </p:txBody>
      </p:sp>
      <p:sp>
        <p:nvSpPr>
          <p:cNvPr id="12" name="Shape 9"/>
          <p:cNvSpPr/>
          <p:nvPr/>
        </p:nvSpPr>
        <p:spPr>
          <a:xfrm>
            <a:off x="8970264" y="3538728"/>
            <a:ext cx="118872" cy="118872"/>
          </a:xfrm>
          <a:prstGeom prst="ellipse">
            <a:avLst/>
          </a:prstGeom>
          <a:solidFill>
            <a:srgbClr val="0D8F89"/>
          </a:solidFill>
          <a:ln w="12700">
            <a:solidFill>
              <a:srgbClr val="0D8F89">
                <a:alpha val="0"/>
              </a:srgbClr>
            </a:solidFill>
            <a:prstDash val="solid"/>
          </a:ln>
        </p:spPr>
      </p:sp>
      <p:sp>
        <p:nvSpPr>
          <p:cNvPr id="13" name="Text 10"/>
          <p:cNvSpPr/>
          <p:nvPr/>
        </p:nvSpPr>
        <p:spPr>
          <a:xfrm>
            <a:off x="9217152" y="3474720"/>
            <a:ext cx="2103120" cy="228600"/>
          </a:xfrm>
          <a:prstGeom prst="rect">
            <a:avLst/>
          </a:prstGeom>
          <a:noFill/>
          <a:ln/>
        </p:spPr>
        <p:txBody>
          <a:bodyPr wrap="square" lIns="0" tIns="0" rIns="0" bIns="0" rtlCol="0" anchor="ctr">
            <a:normAutofit/>
          </a:bodyPr>
          <a:lstStyle/>
          <a:p>
            <a:pPr indent="0" marL="0">
              <a:buNone/>
            </a:pPr>
            <a:r>
              <a:rPr lang="en-US" sz="1100" b="1" dirty="0">
                <a:solidFill>
                  <a:srgbClr val="253E4D"/>
                </a:solidFill>
                <a:latin typeface="Aptos" pitchFamily="34" charset="0"/>
                <a:ea typeface="Aptos" pitchFamily="34" charset="-122"/>
                <a:cs typeface="Aptos" pitchFamily="34" charset="-120"/>
              </a:rPr>
              <a:t>Evidence</a:t>
            </a:r>
            <a:endParaRPr lang="en-US" sz="1100" dirty="0"/>
          </a:p>
        </p:txBody>
      </p:sp>
      <p:sp>
        <p:nvSpPr>
          <p:cNvPr id="14" name="Text 11"/>
          <p:cNvSpPr/>
          <p:nvPr/>
        </p:nvSpPr>
        <p:spPr>
          <a:xfrm>
            <a:off x="9217152" y="3739896"/>
            <a:ext cx="2212848" cy="228600"/>
          </a:xfrm>
          <a:prstGeom prst="rect">
            <a:avLst/>
          </a:prstGeom>
          <a:noFill/>
          <a:ln/>
        </p:spPr>
        <p:txBody>
          <a:bodyPr wrap="square" lIns="0" tIns="0" rIns="0" bIns="0" rtlCol="0" anchor="ctr">
            <a:normAutofit/>
          </a:bodyPr>
          <a:lstStyle/>
          <a:p>
            <a:pPr indent="0" marL="0">
              <a:buNone/>
            </a:pPr>
            <a:r>
              <a:rPr lang="en-US" sz="910" dirty="0">
                <a:solidFill>
                  <a:srgbClr val="6C808B"/>
                </a:solidFill>
                <a:latin typeface="Aptos" pitchFamily="34" charset="0"/>
                <a:ea typeface="Aptos" pitchFamily="34" charset="-122"/>
                <a:cs typeface="Aptos" pitchFamily="34" charset="-120"/>
              </a:rPr>
              <a:t>File and source locator</a:t>
            </a:r>
            <a:endParaRPr lang="en-US" sz="910" dirty="0"/>
          </a:p>
        </p:txBody>
      </p:sp>
      <p:sp>
        <p:nvSpPr>
          <p:cNvPr id="15" name="Shape 12"/>
          <p:cNvSpPr/>
          <p:nvPr/>
        </p:nvSpPr>
        <p:spPr>
          <a:xfrm>
            <a:off x="8970264" y="4224528"/>
            <a:ext cx="118872" cy="118872"/>
          </a:xfrm>
          <a:prstGeom prst="ellipse">
            <a:avLst/>
          </a:prstGeom>
          <a:solidFill>
            <a:srgbClr val="0D8F89"/>
          </a:solidFill>
          <a:ln w="12700">
            <a:solidFill>
              <a:srgbClr val="0D8F89">
                <a:alpha val="0"/>
              </a:srgbClr>
            </a:solidFill>
            <a:prstDash val="solid"/>
          </a:ln>
        </p:spPr>
      </p:sp>
      <p:sp>
        <p:nvSpPr>
          <p:cNvPr id="16" name="Text 13"/>
          <p:cNvSpPr/>
          <p:nvPr/>
        </p:nvSpPr>
        <p:spPr>
          <a:xfrm>
            <a:off x="9217152" y="4160520"/>
            <a:ext cx="2103120" cy="228600"/>
          </a:xfrm>
          <a:prstGeom prst="rect">
            <a:avLst/>
          </a:prstGeom>
          <a:noFill/>
          <a:ln/>
        </p:spPr>
        <p:txBody>
          <a:bodyPr wrap="square" lIns="0" tIns="0" rIns="0" bIns="0" rtlCol="0" anchor="ctr">
            <a:normAutofit/>
          </a:bodyPr>
          <a:lstStyle/>
          <a:p>
            <a:pPr indent="0" marL="0">
              <a:buNone/>
            </a:pPr>
            <a:r>
              <a:rPr lang="en-US" sz="1100" b="1" dirty="0">
                <a:solidFill>
                  <a:srgbClr val="253E4D"/>
                </a:solidFill>
                <a:latin typeface="Aptos" pitchFamily="34" charset="0"/>
                <a:ea typeface="Aptos" pitchFamily="34" charset="-122"/>
                <a:cs typeface="Aptos" pitchFamily="34" charset="-120"/>
              </a:rPr>
              <a:t>Timeline</a:t>
            </a:r>
            <a:endParaRPr lang="en-US" sz="1100" dirty="0"/>
          </a:p>
        </p:txBody>
      </p:sp>
      <p:sp>
        <p:nvSpPr>
          <p:cNvPr id="17" name="Text 14"/>
          <p:cNvSpPr/>
          <p:nvPr/>
        </p:nvSpPr>
        <p:spPr>
          <a:xfrm>
            <a:off x="9217152" y="4425696"/>
            <a:ext cx="2212848" cy="228600"/>
          </a:xfrm>
          <a:prstGeom prst="rect">
            <a:avLst/>
          </a:prstGeom>
          <a:noFill/>
          <a:ln/>
        </p:spPr>
        <p:txBody>
          <a:bodyPr wrap="square" lIns="0" tIns="0" rIns="0" bIns="0" rtlCol="0" anchor="ctr">
            <a:normAutofit/>
          </a:bodyPr>
          <a:lstStyle/>
          <a:p>
            <a:pPr indent="0" marL="0">
              <a:buNone/>
            </a:pPr>
            <a:r>
              <a:rPr lang="en-US" sz="910" dirty="0">
                <a:solidFill>
                  <a:srgbClr val="6C808B"/>
                </a:solidFill>
                <a:latin typeface="Aptos" pitchFamily="34" charset="0"/>
                <a:ea typeface="Aptos" pitchFamily="34" charset="-122"/>
                <a:cs typeface="Aptos" pitchFamily="34" charset="-120"/>
              </a:rPr>
              <a:t>Known, missing, and conflicting times</a:t>
            </a:r>
            <a:endParaRPr lang="en-US" sz="910" dirty="0"/>
          </a:p>
        </p:txBody>
      </p:sp>
      <p:sp>
        <p:nvSpPr>
          <p:cNvPr id="18" name="Shape 15"/>
          <p:cNvSpPr/>
          <p:nvPr/>
        </p:nvSpPr>
        <p:spPr>
          <a:xfrm>
            <a:off x="8970264" y="4910328"/>
            <a:ext cx="118872" cy="118872"/>
          </a:xfrm>
          <a:prstGeom prst="ellipse">
            <a:avLst/>
          </a:prstGeom>
          <a:solidFill>
            <a:srgbClr val="0D8F89"/>
          </a:solidFill>
          <a:ln w="12700">
            <a:solidFill>
              <a:srgbClr val="0D8F89">
                <a:alpha val="0"/>
              </a:srgbClr>
            </a:solidFill>
            <a:prstDash val="solid"/>
          </a:ln>
        </p:spPr>
      </p:sp>
      <p:sp>
        <p:nvSpPr>
          <p:cNvPr id="19" name="Text 16"/>
          <p:cNvSpPr/>
          <p:nvPr/>
        </p:nvSpPr>
        <p:spPr>
          <a:xfrm>
            <a:off x="9217152" y="4846320"/>
            <a:ext cx="2103120" cy="228600"/>
          </a:xfrm>
          <a:prstGeom prst="rect">
            <a:avLst/>
          </a:prstGeom>
          <a:noFill/>
          <a:ln/>
        </p:spPr>
        <p:txBody>
          <a:bodyPr wrap="square" lIns="0" tIns="0" rIns="0" bIns="0" rtlCol="0" anchor="ctr">
            <a:normAutofit/>
          </a:bodyPr>
          <a:lstStyle/>
          <a:p>
            <a:pPr indent="0" marL="0">
              <a:buNone/>
            </a:pPr>
            <a:r>
              <a:rPr lang="en-US" sz="1100" b="1" dirty="0">
                <a:solidFill>
                  <a:srgbClr val="253E4D"/>
                </a:solidFill>
                <a:latin typeface="Aptos" pitchFamily="34" charset="0"/>
                <a:ea typeface="Aptos" pitchFamily="34" charset="-122"/>
                <a:cs typeface="Aptos" pitchFamily="34" charset="-120"/>
              </a:rPr>
              <a:t>Review</a:t>
            </a:r>
            <a:endParaRPr lang="en-US" sz="1100" dirty="0"/>
          </a:p>
        </p:txBody>
      </p:sp>
      <p:sp>
        <p:nvSpPr>
          <p:cNvPr id="20" name="Text 17"/>
          <p:cNvSpPr/>
          <p:nvPr/>
        </p:nvSpPr>
        <p:spPr>
          <a:xfrm>
            <a:off x="9217152" y="5111496"/>
            <a:ext cx="2212848" cy="228600"/>
          </a:xfrm>
          <a:prstGeom prst="rect">
            <a:avLst/>
          </a:prstGeom>
          <a:noFill/>
          <a:ln/>
        </p:spPr>
        <p:txBody>
          <a:bodyPr wrap="square" lIns="0" tIns="0" rIns="0" bIns="0" rtlCol="0" anchor="ctr">
            <a:normAutofit/>
          </a:bodyPr>
          <a:lstStyle/>
          <a:p>
            <a:pPr indent="0" marL="0">
              <a:buNone/>
            </a:pPr>
            <a:r>
              <a:rPr lang="en-US" sz="910" dirty="0">
                <a:solidFill>
                  <a:srgbClr val="6C808B"/>
                </a:solidFill>
                <a:latin typeface="Aptos" pitchFamily="34" charset="0"/>
                <a:ea typeface="Aptos" pitchFamily="34" charset="-122"/>
                <a:cs typeface="Aptos" pitchFamily="34" charset="-120"/>
              </a:rPr>
              <a:t>Proposed vs approved status</a:t>
            </a:r>
            <a:endParaRPr lang="en-US" sz="910" dirty="0"/>
          </a:p>
        </p:txBody>
      </p:sp>
      <p:sp>
        <p:nvSpPr>
          <p:cNvPr id="21" name="Text 18"/>
          <p:cNvSpPr/>
          <p:nvPr/>
        </p:nvSpPr>
        <p:spPr>
          <a:xfrm>
            <a:off x="713232" y="6245352"/>
            <a:ext cx="7772400" cy="164592"/>
          </a:xfrm>
          <a:prstGeom prst="rect">
            <a:avLst/>
          </a:prstGeom>
          <a:noFill/>
          <a:ln/>
        </p:spPr>
        <p:txBody>
          <a:bodyPr wrap="square" lIns="0" tIns="0" rIns="0" bIns="0" rtlCol="0" anchor="ctr">
            <a:normAutofit/>
          </a:bodyPr>
          <a:lstStyle/>
          <a:p>
            <a:pPr indent="0" marL="0">
              <a:buNone/>
            </a:pPr>
            <a:r>
              <a:rPr lang="en-US" sz="800" i="1" dirty="0">
                <a:solidFill>
                  <a:srgbClr val="6C808B"/>
                </a:solidFill>
                <a:latin typeface="Aptos" pitchFamily="34" charset="0"/>
                <a:ea typeface="Aptos" pitchFamily="34" charset="-122"/>
                <a:cs typeface="Aptos" pitchFamily="34" charset="-120"/>
              </a:rPr>
              <a:t>Screenshot captured from the running app. All exercise content is fictional.</a:t>
            </a:r>
            <a:endParaRPr lang="en-US" sz="800" dirty="0"/>
          </a:p>
        </p:txBody>
      </p:sp>
      <p:sp>
        <p:nvSpPr>
          <p:cNvPr id="25" name="Slide Number Placeholder 0"/>
          <p:cNvSpPr>
            <a:spLocks noGrp="1"/>
          </p:cNvSpPr>
          <p:nvPr>
            <p:ph type="sldNum" sz="quarter" idx="4294967295"/>
          </p:nvPr>
        </p:nvSpPr>
        <p:spPr>
          <a:xfrm>
            <a:off x="11768328" y="6556248"/>
            <a:ext cx="182880" cy="164592"/>
          </a:xfrm>
          <a:prstGeom prst="rect">
            <a:avLst/>
          </a:prstGeom>
          <a:extLst>
            <a:ext uri="{C572A759-6A51-4108-AA02-DFA0A04FC94B}">
              <ma14:wrappingTextBoxFlag xmlns:ma14="http://schemas.microsoft.com/office/mac/drawingml/2011/main" val="0"/>
            </a:ext>
          </a:extLst>
        </p:spPr>
        <p:txBody>
          <a:bodyPr/>
          <a:lstStyle>
            <a:lvl1pPr>
              <a:defRPr sz="700">
                <a:solidFill>
                  <a:srgbClr val="6C808B"/>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329184"/>
            <a:ext cx="10789920" cy="219456"/>
          </a:xfrm>
          <a:prstGeom prst="rect">
            <a:avLst/>
          </a:prstGeom>
          <a:noFill/>
          <a:ln/>
        </p:spPr>
        <p:txBody>
          <a:bodyPr wrap="square" lIns="0" tIns="0" rIns="0" bIns="0" rtlCol="0" anchor="ctr">
            <a:normAutofit/>
          </a:bodyPr>
          <a:lstStyle/>
          <a:p>
            <a:pPr indent="0" marL="0">
              <a:buNone/>
            </a:pPr>
            <a:r>
              <a:rPr lang="en-US" sz="900" b="1" spc="120" kern="0" dirty="0">
                <a:solidFill>
                  <a:srgbClr val="0D8F89"/>
                </a:solidFill>
                <a:latin typeface="Aptos" pitchFamily="34" charset="0"/>
                <a:ea typeface="Aptos" pitchFamily="34" charset="-122"/>
                <a:cs typeface="Aptos" pitchFamily="34" charset="-120"/>
              </a:rPr>
              <a:t>DEMO SCENARIO</a:t>
            </a:r>
            <a:endParaRPr lang="en-US" sz="900" dirty="0"/>
          </a:p>
        </p:txBody>
      </p:sp>
      <p:sp>
        <p:nvSpPr>
          <p:cNvPr id="3" name="Text 1"/>
          <p:cNvSpPr/>
          <p:nvPr/>
        </p:nvSpPr>
        <p:spPr>
          <a:xfrm>
            <a:off x="594360" y="640080"/>
            <a:ext cx="10972800" cy="475488"/>
          </a:xfrm>
          <a:prstGeom prst="rect">
            <a:avLst/>
          </a:prstGeom>
          <a:noFill/>
          <a:ln/>
        </p:spPr>
        <p:txBody>
          <a:bodyPr wrap="square" lIns="0" tIns="0" rIns="0" bIns="0" rtlCol="0" anchor="ctr">
            <a:normAutofit/>
          </a:bodyPr>
          <a:lstStyle/>
          <a:p>
            <a:pPr indent="0" marL="0">
              <a:buNone/>
            </a:pPr>
            <a:r>
              <a:rPr lang="en-US" sz="2600" b="1" dirty="0">
                <a:solidFill>
                  <a:srgbClr val="173747"/>
                </a:solidFill>
                <a:latin typeface="Aptos Display" pitchFamily="34" charset="0"/>
                <a:ea typeface="Aptos Display" pitchFamily="34" charset="-122"/>
                <a:cs typeface="Aptos Display" pitchFamily="34" charset="-120"/>
              </a:rPr>
              <a:t>A power outage with evidence that does not all agree</a:t>
            </a:r>
            <a:endParaRPr lang="en-US" sz="2600" dirty="0"/>
          </a:p>
        </p:txBody>
      </p:sp>
      <p:sp>
        <p:nvSpPr>
          <p:cNvPr id="4" name="Text 2"/>
          <p:cNvSpPr/>
          <p:nvPr/>
        </p:nvSpPr>
        <p:spPr>
          <a:xfrm>
            <a:off x="612648" y="1133856"/>
            <a:ext cx="10881360" cy="310896"/>
          </a:xfrm>
          <a:prstGeom prst="rect">
            <a:avLst/>
          </a:prstGeom>
          <a:noFill/>
          <a:ln/>
        </p:spPr>
        <p:txBody>
          <a:bodyPr wrap="square" lIns="0" tIns="0" rIns="0" bIns="0" rtlCol="0" anchor="ctr">
            <a:normAutofit/>
          </a:bodyPr>
          <a:lstStyle/>
          <a:p>
            <a:pPr indent="0" marL="0">
              <a:buNone/>
            </a:pPr>
            <a:r>
              <a:rPr lang="en-US" sz="1130" dirty="0">
                <a:solidFill>
                  <a:srgbClr val="6C808B"/>
                </a:solidFill>
                <a:latin typeface="Aptos" pitchFamily="34" charset="0"/>
                <a:ea typeface="Aptos" pitchFamily="34" charset="-122"/>
                <a:cs typeface="Aptos" pitchFamily="34" charset="-120"/>
              </a:rPr>
              <a:t>Hospital HOSP-PO-2026-01 · Night Shift: Extended Power Loss · fictional exercise.</a:t>
            </a:r>
            <a:endParaRPr lang="en-US" sz="1130" dirty="0"/>
          </a:p>
        </p:txBody>
      </p:sp>
      <p:sp>
        <p:nvSpPr>
          <p:cNvPr id="5" name="Shape 3"/>
          <p:cNvSpPr/>
          <p:nvPr/>
        </p:nvSpPr>
        <p:spPr>
          <a:xfrm>
            <a:off x="1005840" y="2953512"/>
            <a:ext cx="10195560" cy="0"/>
          </a:xfrm>
          <a:prstGeom prst="line">
            <a:avLst/>
          </a:prstGeom>
          <a:noFill/>
          <a:ln w="27940">
            <a:solidFill>
              <a:srgbClr val="B8CDCF"/>
            </a:solidFill>
            <a:prstDash val="solid"/>
          </a:ln>
        </p:spPr>
      </p:sp>
      <p:sp>
        <p:nvSpPr>
          <p:cNvPr id="6" name="Shape 4"/>
          <p:cNvSpPr/>
          <p:nvPr/>
        </p:nvSpPr>
        <p:spPr>
          <a:xfrm>
            <a:off x="1143000" y="2843784"/>
            <a:ext cx="219456" cy="219456"/>
          </a:xfrm>
          <a:prstGeom prst="ellipse">
            <a:avLst/>
          </a:prstGeom>
          <a:solidFill>
            <a:srgbClr val="B85A53"/>
          </a:solidFill>
          <a:ln w="12700">
            <a:solidFill>
              <a:srgbClr val="B85A53">
                <a:alpha val="0"/>
              </a:srgbClr>
            </a:solidFill>
            <a:prstDash val="solid"/>
          </a:ln>
        </p:spPr>
      </p:sp>
      <p:sp>
        <p:nvSpPr>
          <p:cNvPr id="7" name="Shape 5"/>
          <p:cNvSpPr/>
          <p:nvPr/>
        </p:nvSpPr>
        <p:spPr>
          <a:xfrm>
            <a:off x="612648" y="1746504"/>
            <a:ext cx="1783080" cy="914400"/>
          </a:xfrm>
          <a:prstGeom prst="roundRect">
            <a:avLst>
              <a:gd name="adj" fmla="val 12000"/>
            </a:avLst>
          </a:prstGeom>
          <a:solidFill>
            <a:srgbClr val="FFFFFF"/>
          </a:solidFill>
          <a:ln w="11430">
            <a:solidFill>
              <a:srgbClr val="DCE7E8"/>
            </a:solidFill>
            <a:prstDash val="solid"/>
          </a:ln>
        </p:spPr>
      </p:sp>
      <p:sp>
        <p:nvSpPr>
          <p:cNvPr id="8" name="Text 6"/>
          <p:cNvSpPr/>
          <p:nvPr/>
        </p:nvSpPr>
        <p:spPr>
          <a:xfrm>
            <a:off x="740664" y="1856232"/>
            <a:ext cx="1508760" cy="210312"/>
          </a:xfrm>
          <a:prstGeom prst="rect">
            <a:avLst/>
          </a:prstGeom>
          <a:noFill/>
          <a:ln/>
        </p:spPr>
        <p:txBody>
          <a:bodyPr wrap="square" lIns="0" tIns="0" rIns="0" bIns="0" rtlCol="0" anchor="ctr">
            <a:normAutofit/>
          </a:bodyPr>
          <a:lstStyle/>
          <a:p>
            <a:pPr indent="0" marL="0">
              <a:buNone/>
            </a:pPr>
            <a:r>
              <a:rPr lang="en-US" sz="900" b="1" dirty="0">
                <a:solidFill>
                  <a:srgbClr val="B85A53"/>
                </a:solidFill>
                <a:latin typeface="Aptos" pitchFamily="34" charset="0"/>
                <a:ea typeface="Aptos" pitchFamily="34" charset="-122"/>
                <a:cs typeface="Aptos" pitchFamily="34" charset="-120"/>
              </a:rPr>
              <a:t>09:02</a:t>
            </a:r>
            <a:endParaRPr lang="en-US" sz="900" dirty="0"/>
          </a:p>
        </p:txBody>
      </p:sp>
      <p:sp>
        <p:nvSpPr>
          <p:cNvPr id="9" name="Text 7"/>
          <p:cNvSpPr/>
          <p:nvPr/>
        </p:nvSpPr>
        <p:spPr>
          <a:xfrm>
            <a:off x="740664" y="2093976"/>
            <a:ext cx="1508760" cy="219456"/>
          </a:xfrm>
          <a:prstGeom prst="rect">
            <a:avLst/>
          </a:prstGeom>
          <a:noFill/>
          <a:ln/>
        </p:spPr>
        <p:txBody>
          <a:bodyPr wrap="square" lIns="0" tIns="0" rIns="0" bIns="0" rtlCol="0" anchor="ctr">
            <a:normAutofit/>
          </a:bodyPr>
          <a:lstStyle/>
          <a:p>
            <a:pPr indent="0" marL="0">
              <a:buNone/>
            </a:pPr>
            <a:r>
              <a:rPr lang="en-US" sz="1000" b="1" dirty="0">
                <a:solidFill>
                  <a:srgbClr val="173747"/>
                </a:solidFill>
                <a:latin typeface="Aptos" pitchFamily="34" charset="0"/>
                <a:ea typeface="Aptos" pitchFamily="34" charset="-122"/>
                <a:cs typeface="Aptos" pitchFamily="34" charset="-120"/>
              </a:rPr>
              <a:t>Utility power lost</a:t>
            </a:r>
            <a:endParaRPr lang="en-US" sz="1000" dirty="0"/>
          </a:p>
        </p:txBody>
      </p:sp>
      <p:sp>
        <p:nvSpPr>
          <p:cNvPr id="10" name="Text 8"/>
          <p:cNvSpPr/>
          <p:nvPr/>
        </p:nvSpPr>
        <p:spPr>
          <a:xfrm>
            <a:off x="740664" y="2340864"/>
            <a:ext cx="1508760" cy="228600"/>
          </a:xfrm>
          <a:prstGeom prst="rect">
            <a:avLst/>
          </a:prstGeom>
          <a:noFill/>
          <a:ln/>
        </p:spPr>
        <p:txBody>
          <a:bodyPr wrap="square" lIns="0" tIns="0" rIns="0" bIns="0" rtlCol="0" anchor="t">
            <a:normAutofit/>
          </a:bodyPr>
          <a:lstStyle/>
          <a:p>
            <a:pPr indent="0" marL="0">
              <a:buNone/>
            </a:pPr>
            <a:r>
              <a:rPr lang="en-US" sz="800" dirty="0">
                <a:solidFill>
                  <a:srgbClr val="6C808B"/>
                </a:solidFill>
                <a:latin typeface="Aptos" pitchFamily="34" charset="0"/>
                <a:ea typeface="Aptos" pitchFamily="34" charset="-122"/>
                <a:cs typeface="Aptos" pitchFamily="34" charset="-120"/>
              </a:rPr>
              <a:t>Primary supply failure</a:t>
            </a:r>
            <a:endParaRPr lang="en-US" sz="800" dirty="0"/>
          </a:p>
        </p:txBody>
      </p:sp>
      <p:sp>
        <p:nvSpPr>
          <p:cNvPr id="11" name="Shape 9"/>
          <p:cNvSpPr/>
          <p:nvPr/>
        </p:nvSpPr>
        <p:spPr>
          <a:xfrm>
            <a:off x="1143000" y="2660904"/>
            <a:ext cx="0" cy="182880"/>
          </a:xfrm>
          <a:prstGeom prst="line">
            <a:avLst/>
          </a:prstGeom>
          <a:noFill/>
          <a:ln w="10160">
            <a:solidFill>
              <a:srgbClr val="C4D4D6"/>
            </a:solidFill>
            <a:prstDash val="solid"/>
          </a:ln>
        </p:spPr>
      </p:sp>
      <p:sp>
        <p:nvSpPr>
          <p:cNvPr id="12" name="Shape 10"/>
          <p:cNvSpPr/>
          <p:nvPr/>
        </p:nvSpPr>
        <p:spPr>
          <a:xfrm>
            <a:off x="3154680" y="2843784"/>
            <a:ext cx="219456" cy="219456"/>
          </a:xfrm>
          <a:prstGeom prst="ellipse">
            <a:avLst/>
          </a:prstGeom>
          <a:solidFill>
            <a:srgbClr val="C78324"/>
          </a:solidFill>
          <a:ln w="12700">
            <a:solidFill>
              <a:srgbClr val="C78324">
                <a:alpha val="0"/>
              </a:srgbClr>
            </a:solidFill>
            <a:prstDash val="solid"/>
          </a:ln>
        </p:spPr>
      </p:sp>
      <p:sp>
        <p:nvSpPr>
          <p:cNvPr id="13" name="Shape 11"/>
          <p:cNvSpPr/>
          <p:nvPr/>
        </p:nvSpPr>
        <p:spPr>
          <a:xfrm>
            <a:off x="2624328" y="3429000"/>
            <a:ext cx="1783080" cy="914400"/>
          </a:xfrm>
          <a:prstGeom prst="roundRect">
            <a:avLst>
              <a:gd name="adj" fmla="val 12000"/>
            </a:avLst>
          </a:prstGeom>
          <a:solidFill>
            <a:srgbClr val="FFFFFF"/>
          </a:solidFill>
          <a:ln w="11430">
            <a:solidFill>
              <a:srgbClr val="DCE7E8"/>
            </a:solidFill>
            <a:prstDash val="solid"/>
          </a:ln>
        </p:spPr>
      </p:sp>
      <p:sp>
        <p:nvSpPr>
          <p:cNvPr id="14" name="Text 12"/>
          <p:cNvSpPr/>
          <p:nvPr/>
        </p:nvSpPr>
        <p:spPr>
          <a:xfrm>
            <a:off x="2752344" y="3538728"/>
            <a:ext cx="1508760" cy="210312"/>
          </a:xfrm>
          <a:prstGeom prst="rect">
            <a:avLst/>
          </a:prstGeom>
          <a:noFill/>
          <a:ln/>
        </p:spPr>
        <p:txBody>
          <a:bodyPr wrap="square" lIns="0" tIns="0" rIns="0" bIns="0" rtlCol="0" anchor="ctr">
            <a:normAutofit/>
          </a:bodyPr>
          <a:lstStyle/>
          <a:p>
            <a:pPr indent="0" marL="0">
              <a:buNone/>
            </a:pPr>
            <a:r>
              <a:rPr lang="en-US" sz="900" b="1" dirty="0">
                <a:solidFill>
                  <a:srgbClr val="C78324"/>
                </a:solidFill>
                <a:latin typeface="Aptos" pitchFamily="34" charset="0"/>
                <a:ea typeface="Aptos" pitchFamily="34" charset="-122"/>
                <a:cs typeface="Aptos" pitchFamily="34" charset="-120"/>
              </a:rPr>
              <a:t>09:03</a:t>
            </a:r>
            <a:endParaRPr lang="en-US" sz="900" dirty="0"/>
          </a:p>
        </p:txBody>
      </p:sp>
      <p:sp>
        <p:nvSpPr>
          <p:cNvPr id="15" name="Text 13"/>
          <p:cNvSpPr/>
          <p:nvPr/>
        </p:nvSpPr>
        <p:spPr>
          <a:xfrm>
            <a:off x="2752344" y="3776472"/>
            <a:ext cx="1508760" cy="219456"/>
          </a:xfrm>
          <a:prstGeom prst="rect">
            <a:avLst/>
          </a:prstGeom>
          <a:noFill/>
          <a:ln/>
        </p:spPr>
        <p:txBody>
          <a:bodyPr wrap="square" lIns="0" tIns="0" rIns="0" bIns="0" rtlCol="0" anchor="ctr">
            <a:normAutofit/>
          </a:bodyPr>
          <a:lstStyle/>
          <a:p>
            <a:pPr indent="0" marL="0">
              <a:buNone/>
            </a:pPr>
            <a:r>
              <a:rPr lang="en-US" sz="1000" b="1" dirty="0">
                <a:solidFill>
                  <a:srgbClr val="173747"/>
                </a:solidFill>
                <a:latin typeface="Aptos" pitchFamily="34" charset="0"/>
                <a:ea typeface="Aptos" pitchFamily="34" charset="-122"/>
                <a:cs typeface="Aptos" pitchFamily="34" charset="-120"/>
              </a:rPr>
              <a:t>Radio request</a:t>
            </a:r>
            <a:endParaRPr lang="en-US" sz="1000" dirty="0"/>
          </a:p>
        </p:txBody>
      </p:sp>
      <p:sp>
        <p:nvSpPr>
          <p:cNvPr id="16" name="Text 14"/>
          <p:cNvSpPr/>
          <p:nvPr/>
        </p:nvSpPr>
        <p:spPr>
          <a:xfrm>
            <a:off x="2752344" y="4023360"/>
            <a:ext cx="1508760" cy="228600"/>
          </a:xfrm>
          <a:prstGeom prst="rect">
            <a:avLst/>
          </a:prstGeom>
          <a:noFill/>
          <a:ln/>
        </p:spPr>
        <p:txBody>
          <a:bodyPr wrap="square" lIns="0" tIns="0" rIns="0" bIns="0" rtlCol="0" anchor="t">
            <a:normAutofit/>
          </a:bodyPr>
          <a:lstStyle/>
          <a:p>
            <a:pPr indent="0" marL="0">
              <a:buNone/>
            </a:pPr>
            <a:r>
              <a:rPr lang="en-US" sz="800" dirty="0">
                <a:solidFill>
                  <a:srgbClr val="6C808B"/>
                </a:solidFill>
                <a:latin typeface="Aptos" pitchFamily="34" charset="0"/>
                <a:ea typeface="Aptos" pitchFamily="34" charset="-122"/>
                <a:cs typeface="Aptos" pitchFamily="34" charset="-120"/>
              </a:rPr>
              <a:t>ICU acknowledgement pending</a:t>
            </a:r>
            <a:endParaRPr lang="en-US" sz="800" dirty="0"/>
          </a:p>
        </p:txBody>
      </p:sp>
      <p:sp>
        <p:nvSpPr>
          <p:cNvPr id="17" name="Shape 15"/>
          <p:cNvSpPr/>
          <p:nvPr/>
        </p:nvSpPr>
        <p:spPr>
          <a:xfrm>
            <a:off x="3154680" y="3429000"/>
            <a:ext cx="0" cy="-365760"/>
          </a:xfrm>
          <a:prstGeom prst="line">
            <a:avLst/>
          </a:prstGeom>
          <a:noFill/>
          <a:ln w="10160">
            <a:solidFill>
              <a:srgbClr val="C4D4D6"/>
            </a:solidFill>
            <a:prstDash val="solid"/>
          </a:ln>
        </p:spPr>
      </p:sp>
      <p:sp>
        <p:nvSpPr>
          <p:cNvPr id="18" name="Shape 16"/>
          <p:cNvSpPr/>
          <p:nvPr/>
        </p:nvSpPr>
        <p:spPr>
          <a:xfrm>
            <a:off x="5330952" y="2843784"/>
            <a:ext cx="219456" cy="219456"/>
          </a:xfrm>
          <a:prstGeom prst="ellipse">
            <a:avLst/>
          </a:prstGeom>
          <a:solidFill>
            <a:srgbClr val="B85A53"/>
          </a:solidFill>
          <a:ln w="12700">
            <a:solidFill>
              <a:srgbClr val="B85A53">
                <a:alpha val="0"/>
              </a:srgbClr>
            </a:solidFill>
            <a:prstDash val="solid"/>
          </a:ln>
        </p:spPr>
      </p:sp>
      <p:sp>
        <p:nvSpPr>
          <p:cNvPr id="19" name="Shape 17"/>
          <p:cNvSpPr/>
          <p:nvPr/>
        </p:nvSpPr>
        <p:spPr>
          <a:xfrm>
            <a:off x="4800600" y="1746504"/>
            <a:ext cx="1783080" cy="914400"/>
          </a:xfrm>
          <a:prstGeom prst="roundRect">
            <a:avLst>
              <a:gd name="adj" fmla="val 12000"/>
            </a:avLst>
          </a:prstGeom>
          <a:solidFill>
            <a:srgbClr val="FFFFFF"/>
          </a:solidFill>
          <a:ln w="11430">
            <a:solidFill>
              <a:srgbClr val="DCE7E8"/>
            </a:solidFill>
            <a:prstDash val="solid"/>
          </a:ln>
        </p:spPr>
      </p:sp>
      <p:sp>
        <p:nvSpPr>
          <p:cNvPr id="20" name="Text 18"/>
          <p:cNvSpPr/>
          <p:nvPr/>
        </p:nvSpPr>
        <p:spPr>
          <a:xfrm>
            <a:off x="4928616" y="1856232"/>
            <a:ext cx="1508760" cy="210312"/>
          </a:xfrm>
          <a:prstGeom prst="rect">
            <a:avLst/>
          </a:prstGeom>
          <a:noFill/>
          <a:ln/>
        </p:spPr>
        <p:txBody>
          <a:bodyPr wrap="square" lIns="0" tIns="0" rIns="0" bIns="0" rtlCol="0" anchor="ctr">
            <a:normAutofit/>
          </a:bodyPr>
          <a:lstStyle/>
          <a:p>
            <a:pPr indent="0" marL="0">
              <a:buNone/>
            </a:pPr>
            <a:r>
              <a:rPr lang="en-US" sz="900" b="1" dirty="0">
                <a:solidFill>
                  <a:srgbClr val="B85A53"/>
                </a:solidFill>
                <a:latin typeface="Aptos" pitchFamily="34" charset="0"/>
                <a:ea typeface="Aptos" pitchFamily="34" charset="-122"/>
                <a:cs typeface="Aptos" pitchFamily="34" charset="-120"/>
              </a:rPr>
              <a:t>09:06</a:t>
            </a:r>
            <a:endParaRPr lang="en-US" sz="900" dirty="0"/>
          </a:p>
        </p:txBody>
      </p:sp>
      <p:sp>
        <p:nvSpPr>
          <p:cNvPr id="21" name="Text 19"/>
          <p:cNvSpPr/>
          <p:nvPr/>
        </p:nvSpPr>
        <p:spPr>
          <a:xfrm>
            <a:off x="4928616" y="2093976"/>
            <a:ext cx="1508760" cy="219456"/>
          </a:xfrm>
          <a:prstGeom prst="rect">
            <a:avLst/>
          </a:prstGeom>
          <a:noFill/>
          <a:ln/>
        </p:spPr>
        <p:txBody>
          <a:bodyPr wrap="square" lIns="0" tIns="0" rIns="0" bIns="0" rtlCol="0" anchor="ctr">
            <a:normAutofit/>
          </a:bodyPr>
          <a:lstStyle/>
          <a:p>
            <a:pPr indent="0" marL="0">
              <a:buNone/>
            </a:pPr>
            <a:r>
              <a:rPr lang="en-US" sz="1000" b="1" dirty="0">
                <a:solidFill>
                  <a:srgbClr val="173747"/>
                </a:solidFill>
                <a:latin typeface="Aptos" pitchFamily="34" charset="0"/>
                <a:ea typeface="Aptos" pitchFamily="34" charset="-122"/>
                <a:cs typeface="Aptos" pitchFamily="34" charset="-120"/>
              </a:rPr>
              <a:t>Backup stabilized</a:t>
            </a:r>
            <a:endParaRPr lang="en-US" sz="1000" dirty="0"/>
          </a:p>
        </p:txBody>
      </p:sp>
      <p:sp>
        <p:nvSpPr>
          <p:cNvPr id="22" name="Text 20"/>
          <p:cNvSpPr/>
          <p:nvPr/>
        </p:nvSpPr>
        <p:spPr>
          <a:xfrm>
            <a:off x="4928616" y="2340864"/>
            <a:ext cx="1508760" cy="228600"/>
          </a:xfrm>
          <a:prstGeom prst="rect">
            <a:avLst/>
          </a:prstGeom>
          <a:noFill/>
          <a:ln/>
        </p:spPr>
        <p:txBody>
          <a:bodyPr wrap="square" lIns="0" tIns="0" rIns="0" bIns="0" rtlCol="0" anchor="t">
            <a:normAutofit/>
          </a:bodyPr>
          <a:lstStyle/>
          <a:p>
            <a:pPr indent="0" marL="0">
              <a:buNone/>
            </a:pPr>
            <a:r>
              <a:rPr lang="en-US" sz="800" dirty="0">
                <a:solidFill>
                  <a:srgbClr val="6C808B"/>
                </a:solidFill>
                <a:latin typeface="Aptos" pitchFamily="34" charset="0"/>
                <a:ea typeface="Aptos" pitchFamily="34" charset="-122"/>
                <a:cs typeface="Aptos" pitchFamily="34" charset="-120"/>
              </a:rPr>
              <a:t>4 min after outage · objective: 60 sec</a:t>
            </a:r>
            <a:endParaRPr lang="en-US" sz="800" dirty="0"/>
          </a:p>
        </p:txBody>
      </p:sp>
      <p:sp>
        <p:nvSpPr>
          <p:cNvPr id="23" name="Shape 21"/>
          <p:cNvSpPr/>
          <p:nvPr/>
        </p:nvSpPr>
        <p:spPr>
          <a:xfrm>
            <a:off x="5330952" y="2660904"/>
            <a:ext cx="0" cy="182880"/>
          </a:xfrm>
          <a:prstGeom prst="line">
            <a:avLst/>
          </a:prstGeom>
          <a:noFill/>
          <a:ln w="10160">
            <a:solidFill>
              <a:srgbClr val="C4D4D6"/>
            </a:solidFill>
            <a:prstDash val="solid"/>
          </a:ln>
        </p:spPr>
      </p:sp>
      <p:sp>
        <p:nvSpPr>
          <p:cNvPr id="24" name="Shape 22"/>
          <p:cNvSpPr/>
          <p:nvPr/>
        </p:nvSpPr>
        <p:spPr>
          <a:xfrm>
            <a:off x="7543800" y="2843784"/>
            <a:ext cx="219456" cy="219456"/>
          </a:xfrm>
          <a:prstGeom prst="ellipse">
            <a:avLst/>
          </a:prstGeom>
          <a:solidFill>
            <a:srgbClr val="C78324"/>
          </a:solidFill>
          <a:ln w="12700">
            <a:solidFill>
              <a:srgbClr val="C78324">
                <a:alpha val="0"/>
              </a:srgbClr>
            </a:solidFill>
            <a:prstDash val="solid"/>
          </a:ln>
        </p:spPr>
      </p:sp>
      <p:sp>
        <p:nvSpPr>
          <p:cNvPr id="25" name="Shape 23"/>
          <p:cNvSpPr/>
          <p:nvPr/>
        </p:nvSpPr>
        <p:spPr>
          <a:xfrm>
            <a:off x="7013448" y="3429000"/>
            <a:ext cx="1993392" cy="914400"/>
          </a:xfrm>
          <a:prstGeom prst="roundRect">
            <a:avLst>
              <a:gd name="adj" fmla="val 12000"/>
            </a:avLst>
          </a:prstGeom>
          <a:solidFill>
            <a:srgbClr val="FFFFFF"/>
          </a:solidFill>
          <a:ln w="11430">
            <a:solidFill>
              <a:srgbClr val="DCE7E8"/>
            </a:solidFill>
            <a:prstDash val="solid"/>
          </a:ln>
        </p:spPr>
      </p:sp>
      <p:sp>
        <p:nvSpPr>
          <p:cNvPr id="26" name="Text 24"/>
          <p:cNvSpPr/>
          <p:nvPr/>
        </p:nvSpPr>
        <p:spPr>
          <a:xfrm>
            <a:off x="7141464" y="3538728"/>
            <a:ext cx="1737360" cy="210312"/>
          </a:xfrm>
          <a:prstGeom prst="rect">
            <a:avLst/>
          </a:prstGeom>
          <a:noFill/>
          <a:ln/>
        </p:spPr>
        <p:txBody>
          <a:bodyPr wrap="square" lIns="0" tIns="0" rIns="0" bIns="0" rtlCol="0" anchor="ctr">
            <a:normAutofit/>
          </a:bodyPr>
          <a:lstStyle/>
          <a:p>
            <a:pPr indent="0" marL="0">
              <a:buNone/>
            </a:pPr>
            <a:r>
              <a:rPr lang="en-US" sz="900" b="1" dirty="0">
                <a:solidFill>
                  <a:srgbClr val="C78324"/>
                </a:solidFill>
                <a:latin typeface="Aptos" pitchFamily="34" charset="0"/>
                <a:ea typeface="Aptos" pitchFamily="34" charset="-122"/>
                <a:cs typeface="Aptos" pitchFamily="34" charset="-120"/>
              </a:rPr>
              <a:t>09:10 / 09:11</a:t>
            </a:r>
            <a:endParaRPr lang="en-US" sz="900" dirty="0"/>
          </a:p>
        </p:txBody>
      </p:sp>
      <p:sp>
        <p:nvSpPr>
          <p:cNvPr id="27" name="Text 25"/>
          <p:cNvSpPr/>
          <p:nvPr/>
        </p:nvSpPr>
        <p:spPr>
          <a:xfrm>
            <a:off x="7141464" y="3776472"/>
            <a:ext cx="1737360" cy="219456"/>
          </a:xfrm>
          <a:prstGeom prst="rect">
            <a:avLst/>
          </a:prstGeom>
          <a:noFill/>
          <a:ln/>
        </p:spPr>
        <p:txBody>
          <a:bodyPr wrap="square" lIns="0" tIns="0" rIns="0" bIns="0" rtlCol="0" anchor="ctr">
            <a:normAutofit/>
          </a:bodyPr>
          <a:lstStyle/>
          <a:p>
            <a:pPr indent="0" marL="0">
              <a:buNone/>
            </a:pPr>
            <a:r>
              <a:rPr lang="en-US" sz="1000" b="1" dirty="0">
                <a:solidFill>
                  <a:srgbClr val="173747"/>
                </a:solidFill>
                <a:latin typeface="Aptos" pitchFamily="34" charset="0"/>
                <a:ea typeface="Aptos" pitchFamily="34" charset="-122"/>
                <a:cs typeface="Aptos" pitchFamily="34" charset="-120"/>
              </a:rPr>
              <a:t>Acknowledgement recorded</a:t>
            </a:r>
            <a:endParaRPr lang="en-US" sz="1000" dirty="0"/>
          </a:p>
        </p:txBody>
      </p:sp>
      <p:sp>
        <p:nvSpPr>
          <p:cNvPr id="28" name="Text 26"/>
          <p:cNvSpPr/>
          <p:nvPr/>
        </p:nvSpPr>
        <p:spPr>
          <a:xfrm>
            <a:off x="7141464" y="4023360"/>
            <a:ext cx="1737360" cy="228600"/>
          </a:xfrm>
          <a:prstGeom prst="rect">
            <a:avLst/>
          </a:prstGeom>
          <a:noFill/>
          <a:ln/>
        </p:spPr>
        <p:txBody>
          <a:bodyPr wrap="square" lIns="0" tIns="0" rIns="0" bIns="0" rtlCol="0" anchor="t">
            <a:normAutofit/>
          </a:bodyPr>
          <a:lstStyle/>
          <a:p>
            <a:pPr indent="0" marL="0">
              <a:buNone/>
            </a:pPr>
            <a:r>
              <a:rPr lang="en-US" sz="800" dirty="0">
                <a:solidFill>
                  <a:srgbClr val="6C808B"/>
                </a:solidFill>
                <a:latin typeface="Aptos" pitchFamily="34" charset="0"/>
                <a:ea typeface="Aptos" pitchFamily="34" charset="-122"/>
                <a:cs typeface="Aptos" pitchFamily="34" charset="-120"/>
              </a:rPr>
              <a:t>Log and evaluator note conflict</a:t>
            </a:r>
            <a:endParaRPr lang="en-US" sz="800" dirty="0"/>
          </a:p>
        </p:txBody>
      </p:sp>
      <p:sp>
        <p:nvSpPr>
          <p:cNvPr id="29" name="Shape 27"/>
          <p:cNvSpPr/>
          <p:nvPr/>
        </p:nvSpPr>
        <p:spPr>
          <a:xfrm>
            <a:off x="7543800" y="3429000"/>
            <a:ext cx="0" cy="-365760"/>
          </a:xfrm>
          <a:prstGeom prst="line">
            <a:avLst/>
          </a:prstGeom>
          <a:noFill/>
          <a:ln w="10160">
            <a:solidFill>
              <a:srgbClr val="C4D4D6"/>
            </a:solidFill>
            <a:prstDash val="solid"/>
          </a:ln>
        </p:spPr>
      </p:sp>
      <p:sp>
        <p:nvSpPr>
          <p:cNvPr id="30" name="Shape 28"/>
          <p:cNvSpPr/>
          <p:nvPr/>
        </p:nvSpPr>
        <p:spPr>
          <a:xfrm>
            <a:off x="9921240" y="2843784"/>
            <a:ext cx="219456" cy="219456"/>
          </a:xfrm>
          <a:prstGeom prst="ellipse">
            <a:avLst/>
          </a:prstGeom>
          <a:solidFill>
            <a:srgbClr val="368576"/>
          </a:solidFill>
          <a:ln w="12700">
            <a:solidFill>
              <a:srgbClr val="368576">
                <a:alpha val="0"/>
              </a:srgbClr>
            </a:solidFill>
            <a:prstDash val="solid"/>
          </a:ln>
        </p:spPr>
      </p:sp>
      <p:sp>
        <p:nvSpPr>
          <p:cNvPr id="31" name="Shape 29"/>
          <p:cNvSpPr/>
          <p:nvPr/>
        </p:nvSpPr>
        <p:spPr>
          <a:xfrm>
            <a:off x="9390888" y="1746504"/>
            <a:ext cx="1783080" cy="914400"/>
          </a:xfrm>
          <a:prstGeom prst="roundRect">
            <a:avLst>
              <a:gd name="adj" fmla="val 12000"/>
            </a:avLst>
          </a:prstGeom>
          <a:solidFill>
            <a:srgbClr val="FFFFFF"/>
          </a:solidFill>
          <a:ln w="11430">
            <a:solidFill>
              <a:srgbClr val="DCE7E8"/>
            </a:solidFill>
            <a:prstDash val="solid"/>
          </a:ln>
        </p:spPr>
      </p:sp>
      <p:sp>
        <p:nvSpPr>
          <p:cNvPr id="32" name="Text 30"/>
          <p:cNvSpPr/>
          <p:nvPr/>
        </p:nvSpPr>
        <p:spPr>
          <a:xfrm>
            <a:off x="9518904" y="1856232"/>
            <a:ext cx="1508760" cy="210312"/>
          </a:xfrm>
          <a:prstGeom prst="rect">
            <a:avLst/>
          </a:prstGeom>
          <a:noFill/>
          <a:ln/>
        </p:spPr>
        <p:txBody>
          <a:bodyPr wrap="square" lIns="0" tIns="0" rIns="0" bIns="0" rtlCol="0" anchor="ctr">
            <a:normAutofit/>
          </a:bodyPr>
          <a:lstStyle/>
          <a:p>
            <a:pPr indent="0" marL="0">
              <a:buNone/>
            </a:pPr>
            <a:r>
              <a:rPr lang="en-US" sz="900" b="1" dirty="0">
                <a:solidFill>
                  <a:srgbClr val="368576"/>
                </a:solidFill>
                <a:latin typeface="Aptos" pitchFamily="34" charset="0"/>
                <a:ea typeface="Aptos" pitchFamily="34" charset="-122"/>
                <a:cs typeface="Aptos" pitchFamily="34" charset="-120"/>
              </a:rPr>
              <a:t>09:18</a:t>
            </a:r>
            <a:endParaRPr lang="en-US" sz="900" dirty="0"/>
          </a:p>
        </p:txBody>
      </p:sp>
      <p:sp>
        <p:nvSpPr>
          <p:cNvPr id="33" name="Text 31"/>
          <p:cNvSpPr/>
          <p:nvPr/>
        </p:nvSpPr>
        <p:spPr>
          <a:xfrm>
            <a:off x="9518904" y="2093976"/>
            <a:ext cx="1508760" cy="219456"/>
          </a:xfrm>
          <a:prstGeom prst="rect">
            <a:avLst/>
          </a:prstGeom>
          <a:noFill/>
          <a:ln/>
        </p:spPr>
        <p:txBody>
          <a:bodyPr wrap="square" lIns="0" tIns="0" rIns="0" bIns="0" rtlCol="0" anchor="ctr">
            <a:normAutofit/>
          </a:bodyPr>
          <a:lstStyle/>
          <a:p>
            <a:pPr indent="0" marL="0">
              <a:buNone/>
            </a:pPr>
            <a:r>
              <a:rPr lang="en-US" sz="1000" b="1" dirty="0">
                <a:solidFill>
                  <a:srgbClr val="173747"/>
                </a:solidFill>
                <a:latin typeface="Aptos" pitchFamily="34" charset="0"/>
                <a:ea typeface="Aptos" pitchFamily="34" charset="-122"/>
                <a:cs typeface="Aptos" pitchFamily="34" charset="-120"/>
              </a:rPr>
              <a:t>Procedure complete</a:t>
            </a:r>
            <a:endParaRPr lang="en-US" sz="1000" dirty="0"/>
          </a:p>
        </p:txBody>
      </p:sp>
      <p:sp>
        <p:nvSpPr>
          <p:cNvPr id="34" name="Text 32"/>
          <p:cNvSpPr/>
          <p:nvPr/>
        </p:nvSpPr>
        <p:spPr>
          <a:xfrm>
            <a:off x="9518904" y="2340864"/>
            <a:ext cx="1508760" cy="228600"/>
          </a:xfrm>
          <a:prstGeom prst="rect">
            <a:avLst/>
          </a:prstGeom>
          <a:noFill/>
          <a:ln/>
        </p:spPr>
        <p:txBody>
          <a:bodyPr wrap="square" lIns="0" tIns="0" rIns="0" bIns="0" rtlCol="0" anchor="t">
            <a:normAutofit/>
          </a:bodyPr>
          <a:lstStyle/>
          <a:p>
            <a:pPr indent="0" marL="0">
              <a:buNone/>
            </a:pPr>
            <a:r>
              <a:rPr lang="en-US" sz="800" dirty="0">
                <a:solidFill>
                  <a:srgbClr val="6C808B"/>
                </a:solidFill>
                <a:latin typeface="Aptos" pitchFamily="34" charset="0"/>
                <a:ea typeface="Aptos" pitchFamily="34" charset="-122"/>
                <a:cs typeface="Aptos" pitchFamily="34" charset="-120"/>
              </a:rPr>
              <a:t>Cold-chain relocation logged</a:t>
            </a:r>
            <a:endParaRPr lang="en-US" sz="800" dirty="0"/>
          </a:p>
        </p:txBody>
      </p:sp>
      <p:sp>
        <p:nvSpPr>
          <p:cNvPr id="35" name="Shape 33"/>
          <p:cNvSpPr/>
          <p:nvPr/>
        </p:nvSpPr>
        <p:spPr>
          <a:xfrm>
            <a:off x="9921240" y="2660904"/>
            <a:ext cx="0" cy="182880"/>
          </a:xfrm>
          <a:prstGeom prst="line">
            <a:avLst/>
          </a:prstGeom>
          <a:noFill/>
          <a:ln w="10160">
            <a:solidFill>
              <a:srgbClr val="C4D4D6"/>
            </a:solidFill>
            <a:prstDash val="solid"/>
          </a:ln>
        </p:spPr>
      </p:sp>
      <p:sp>
        <p:nvSpPr>
          <p:cNvPr id="36" name="Shape 34"/>
          <p:cNvSpPr/>
          <p:nvPr/>
        </p:nvSpPr>
        <p:spPr>
          <a:xfrm>
            <a:off x="685800" y="4919472"/>
            <a:ext cx="10881360" cy="758952"/>
          </a:xfrm>
          <a:prstGeom prst="roundRect">
            <a:avLst>
              <a:gd name="adj" fmla="val 14458"/>
            </a:avLst>
          </a:prstGeom>
          <a:solidFill>
            <a:srgbClr val="FFF4E2"/>
          </a:solidFill>
          <a:ln w="11430">
            <a:solidFill>
              <a:srgbClr val="EBD9B9"/>
            </a:solidFill>
            <a:prstDash val="solid"/>
          </a:ln>
        </p:spPr>
      </p:sp>
      <p:sp>
        <p:nvSpPr>
          <p:cNvPr id="37" name="Text 35"/>
          <p:cNvSpPr/>
          <p:nvPr/>
        </p:nvSpPr>
        <p:spPr>
          <a:xfrm>
            <a:off x="896112" y="5093208"/>
            <a:ext cx="1920240" cy="228600"/>
          </a:xfrm>
          <a:prstGeom prst="rect">
            <a:avLst/>
          </a:prstGeom>
          <a:noFill/>
          <a:ln/>
        </p:spPr>
        <p:txBody>
          <a:bodyPr wrap="square" lIns="0" tIns="0" rIns="0" bIns="0" rtlCol="0" anchor="ctr">
            <a:normAutofit/>
          </a:bodyPr>
          <a:lstStyle/>
          <a:p>
            <a:pPr indent="0" marL="0">
              <a:buNone/>
            </a:pPr>
            <a:r>
              <a:rPr lang="en-US" sz="1100" b="1" dirty="0">
                <a:solidFill>
                  <a:srgbClr val="946A2E"/>
                </a:solidFill>
                <a:latin typeface="Aptos" pitchFamily="34" charset="0"/>
                <a:ea typeface="Aptos" pitchFamily="34" charset="-122"/>
                <a:cs typeface="Aptos" pitchFamily="34" charset="-120"/>
              </a:rPr>
              <a:t>Uncertainty stays visible</a:t>
            </a:r>
            <a:endParaRPr lang="en-US" sz="1100" dirty="0"/>
          </a:p>
        </p:txBody>
      </p:sp>
      <p:sp>
        <p:nvSpPr>
          <p:cNvPr id="38" name="Text 36"/>
          <p:cNvSpPr/>
          <p:nvPr/>
        </p:nvSpPr>
        <p:spPr>
          <a:xfrm>
            <a:off x="2852928" y="5038344"/>
            <a:ext cx="8275320" cy="393192"/>
          </a:xfrm>
          <a:prstGeom prst="rect">
            <a:avLst/>
          </a:prstGeom>
          <a:noFill/>
          <a:ln/>
        </p:spPr>
        <p:txBody>
          <a:bodyPr wrap="square" lIns="0" tIns="0" rIns="0" bIns="0" rtlCol="0" anchor="ctr">
            <a:normAutofit/>
          </a:bodyPr>
          <a:lstStyle/>
          <a:p>
            <a:pPr indent="0" marL="0">
              <a:buNone/>
            </a:pPr>
            <a:r>
              <a:rPr lang="en-US" sz="1100" dirty="0">
                <a:solidFill>
                  <a:srgbClr val="253E4D"/>
                </a:solidFill>
                <a:latin typeface="Aptos" pitchFamily="34" charset="0"/>
                <a:ea typeface="Aptos" pitchFamily="34" charset="-122"/>
                <a:cs typeface="Aptos" pitchFamily="34" charset="-120"/>
              </a:rPr>
              <a:t>09:10 vs 09:11 is unresolved. “Generator lagged a bit” has no time or measure, so it is not ordered as a confirmed event.</a:t>
            </a:r>
            <a:endParaRPr lang="en-US" sz="1100" dirty="0"/>
          </a:p>
        </p:txBody>
      </p:sp>
      <p:sp>
        <p:nvSpPr>
          <p:cNvPr id="25" name="Slide Number Placeholder 0"/>
          <p:cNvSpPr>
            <a:spLocks noGrp="1"/>
          </p:cNvSpPr>
          <p:nvPr>
            <p:ph type="sldNum" sz="quarter" idx="4294967295"/>
          </p:nvPr>
        </p:nvSpPr>
        <p:spPr>
          <a:xfrm>
            <a:off x="11768328" y="6556248"/>
            <a:ext cx="182880" cy="164592"/>
          </a:xfrm>
          <a:prstGeom prst="rect">
            <a:avLst/>
          </a:prstGeom>
          <a:extLst>
            <a:ext uri="{C572A759-6A51-4108-AA02-DFA0A04FC94B}">
              <ma14:wrappingTextBoxFlag xmlns:ma14="http://schemas.microsoft.com/office/mac/drawingml/2011/main" val="0"/>
            </a:ext>
          </a:extLst>
        </p:spPr>
        <p:txBody>
          <a:bodyPr/>
          <a:lstStyle>
            <a:lvl1pPr>
              <a:defRPr sz="700">
                <a:solidFill>
                  <a:srgbClr val="6C808B"/>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329184"/>
            <a:ext cx="10789920" cy="219456"/>
          </a:xfrm>
          <a:prstGeom prst="rect">
            <a:avLst/>
          </a:prstGeom>
          <a:noFill/>
          <a:ln/>
        </p:spPr>
        <p:txBody>
          <a:bodyPr wrap="square" lIns="0" tIns="0" rIns="0" bIns="0" rtlCol="0" anchor="ctr">
            <a:normAutofit/>
          </a:bodyPr>
          <a:lstStyle/>
          <a:p>
            <a:pPr indent="0" marL="0">
              <a:buNone/>
            </a:pPr>
            <a:r>
              <a:rPr lang="en-US" sz="900" b="1" spc="120" kern="0" dirty="0">
                <a:solidFill>
                  <a:srgbClr val="0D8F89"/>
                </a:solidFill>
                <a:latin typeface="Aptos" pitchFamily="34" charset="0"/>
                <a:ea typeface="Aptos" pitchFamily="34" charset="-122"/>
                <a:cs typeface="Aptos" pitchFamily="34" charset="-120"/>
              </a:rPr>
              <a:t>FROM EVIDENCE TO A FINDING</a:t>
            </a:r>
            <a:endParaRPr lang="en-US" sz="900" dirty="0"/>
          </a:p>
        </p:txBody>
      </p:sp>
      <p:sp>
        <p:nvSpPr>
          <p:cNvPr id="3" name="Text 1"/>
          <p:cNvSpPr/>
          <p:nvPr/>
        </p:nvSpPr>
        <p:spPr>
          <a:xfrm>
            <a:off x="594360" y="640080"/>
            <a:ext cx="10972800" cy="475488"/>
          </a:xfrm>
          <a:prstGeom prst="rect">
            <a:avLst/>
          </a:prstGeom>
          <a:noFill/>
          <a:ln/>
        </p:spPr>
        <p:txBody>
          <a:bodyPr wrap="square" lIns="0" tIns="0" rIns="0" bIns="0" rtlCol="0" anchor="ctr">
            <a:normAutofit/>
          </a:bodyPr>
          <a:lstStyle/>
          <a:p>
            <a:pPr indent="0" marL="0">
              <a:buNone/>
            </a:pPr>
            <a:r>
              <a:rPr lang="en-US" sz="2600" b="1" dirty="0">
                <a:solidFill>
                  <a:srgbClr val="173747"/>
                </a:solidFill>
                <a:latin typeface="Aptos Display" pitchFamily="34" charset="0"/>
                <a:ea typeface="Aptos Display" pitchFamily="34" charset="-122"/>
                <a:cs typeface="Aptos Display" pitchFamily="34" charset="-120"/>
              </a:rPr>
              <a:t>Open the source behind every draft</a:t>
            </a:r>
            <a:endParaRPr lang="en-US" sz="2600" dirty="0"/>
          </a:p>
        </p:txBody>
      </p:sp>
      <p:sp>
        <p:nvSpPr>
          <p:cNvPr id="4" name="Text 2"/>
          <p:cNvSpPr/>
          <p:nvPr/>
        </p:nvSpPr>
        <p:spPr>
          <a:xfrm>
            <a:off x="612648" y="1133856"/>
            <a:ext cx="10881360" cy="310896"/>
          </a:xfrm>
          <a:prstGeom prst="rect">
            <a:avLst/>
          </a:prstGeom>
          <a:noFill/>
          <a:ln/>
        </p:spPr>
        <p:txBody>
          <a:bodyPr wrap="square" lIns="0" tIns="0" rIns="0" bIns="0" rtlCol="0" anchor="ctr">
            <a:normAutofit/>
          </a:bodyPr>
          <a:lstStyle/>
          <a:p>
            <a:pPr indent="0" marL="0">
              <a:buNone/>
            </a:pPr>
            <a:r>
              <a:rPr lang="en-US" sz="1130" dirty="0">
                <a:solidFill>
                  <a:srgbClr val="6C808B"/>
                </a:solidFill>
                <a:latin typeface="Aptos" pitchFamily="34" charset="0"/>
                <a:ea typeface="Aptos" pitchFamily="34" charset="-122"/>
                <a:cs typeface="Aptos" pitchFamily="34" charset="-120"/>
              </a:rPr>
              <a:t>See what the record says, what it may mean, and where a reviewer can check it.</a:t>
            </a:r>
            <a:endParaRPr lang="en-US" sz="1130" dirty="0"/>
          </a:p>
        </p:txBody>
      </p:sp>
      <p:sp>
        <p:nvSpPr>
          <p:cNvPr id="5" name="Shape 3"/>
          <p:cNvSpPr/>
          <p:nvPr/>
        </p:nvSpPr>
        <p:spPr>
          <a:xfrm>
            <a:off x="658368" y="1673352"/>
            <a:ext cx="7269480" cy="4498848"/>
          </a:xfrm>
          <a:prstGeom prst="roundRect">
            <a:avLst>
              <a:gd name="adj" fmla="val 2439"/>
            </a:avLst>
          </a:prstGeom>
          <a:solidFill>
            <a:srgbClr val="FFFFFF"/>
          </a:solidFill>
          <a:ln w="11430">
            <a:solidFill>
              <a:srgbClr val="DCE7E8"/>
            </a:solidFill>
            <a:prstDash val="solid"/>
          </a:ln>
        </p:spPr>
      </p:sp>
      <p:pic>
        <p:nvPicPr>
          <p:cNvPr id="6" name="Image 0" descr="/Users/deepesh.agrawal/Documents/exp/Presight_Eureka_3/DrillLoop/assets/DrillLoop_Demo_Findings.png">    </p:cNvPr>
          <p:cNvPicPr>
            <a:picLocks noChangeAspect="1"/>
          </p:cNvPicPr>
          <p:nvPr/>
        </p:nvPicPr>
        <p:blipFill>
          <a:blip r:embed="rId1"/>
          <a:stretch>
            <a:fillRect/>
          </a:stretch>
        </p:blipFill>
        <p:spPr>
          <a:xfrm>
            <a:off x="1154222" y="1755648"/>
            <a:ext cx="6277772" cy="4315968"/>
          </a:xfrm>
          <a:prstGeom prst="rect">
            <a:avLst/>
          </a:prstGeom>
        </p:spPr>
      </p:pic>
      <p:sp>
        <p:nvSpPr>
          <p:cNvPr id="7" name="Text 4"/>
          <p:cNvSpPr/>
          <p:nvPr/>
        </p:nvSpPr>
        <p:spPr>
          <a:xfrm>
            <a:off x="8247888" y="1883664"/>
            <a:ext cx="2423160" cy="210312"/>
          </a:xfrm>
          <a:prstGeom prst="rect">
            <a:avLst/>
          </a:prstGeom>
          <a:noFill/>
          <a:ln/>
        </p:spPr>
        <p:txBody>
          <a:bodyPr wrap="square" lIns="0" tIns="0" rIns="0" bIns="0" rtlCol="0" anchor="ctr">
            <a:normAutofit/>
          </a:bodyPr>
          <a:lstStyle/>
          <a:p>
            <a:pPr indent="0" marL="0">
              <a:buNone/>
            </a:pPr>
            <a:r>
              <a:rPr lang="en-US" sz="850" b="1" spc="80" kern="0" dirty="0">
                <a:solidFill>
                  <a:srgbClr val="0D8F89"/>
                </a:solidFill>
                <a:latin typeface="Aptos" pitchFamily="34" charset="0"/>
                <a:ea typeface="Aptos" pitchFamily="34" charset="-122"/>
                <a:cs typeface="Aptos" pitchFamily="34" charset="-120"/>
              </a:rPr>
              <a:t>DRAFT FINDING</a:t>
            </a:r>
            <a:endParaRPr lang="en-US" sz="850" dirty="0"/>
          </a:p>
        </p:txBody>
      </p:sp>
      <p:sp>
        <p:nvSpPr>
          <p:cNvPr id="8" name="Text 5"/>
          <p:cNvSpPr/>
          <p:nvPr/>
        </p:nvSpPr>
        <p:spPr>
          <a:xfrm>
            <a:off x="8247888" y="2212848"/>
            <a:ext cx="2880360" cy="457200"/>
          </a:xfrm>
          <a:prstGeom prst="rect">
            <a:avLst/>
          </a:prstGeom>
          <a:noFill/>
          <a:ln/>
        </p:spPr>
        <p:txBody>
          <a:bodyPr wrap="square" lIns="0" tIns="0" rIns="0" bIns="0" rtlCol="0" anchor="t">
            <a:normAutofit/>
          </a:bodyPr>
          <a:lstStyle/>
          <a:p>
            <a:pPr indent="0" marL="0">
              <a:buNone/>
            </a:pPr>
            <a:r>
              <a:rPr lang="en-US" sz="1700" b="1" dirty="0">
                <a:solidFill>
                  <a:srgbClr val="173747"/>
                </a:solidFill>
                <a:latin typeface="Aptos" pitchFamily="34" charset="0"/>
                <a:ea typeface="Aptos" pitchFamily="34" charset="-122"/>
                <a:cs typeface="Aptos" pitchFamily="34" charset="-120"/>
              </a:rPr>
              <a:t>Delayed ICU acknowledgement</a:t>
            </a:r>
            <a:endParaRPr lang="en-US" sz="1700" dirty="0"/>
          </a:p>
        </p:txBody>
      </p:sp>
      <p:sp>
        <p:nvSpPr>
          <p:cNvPr id="9" name="Shape 6"/>
          <p:cNvSpPr/>
          <p:nvPr/>
        </p:nvSpPr>
        <p:spPr>
          <a:xfrm>
            <a:off x="8247888" y="2907792"/>
            <a:ext cx="2862072" cy="1124712"/>
          </a:xfrm>
          <a:prstGeom prst="roundRect">
            <a:avLst>
              <a:gd name="adj" fmla="val 9756"/>
            </a:avLst>
          </a:prstGeom>
          <a:solidFill>
            <a:srgbClr val="EFF5F5"/>
          </a:solidFill>
          <a:ln w="11430">
            <a:solidFill>
              <a:srgbClr val="DCE7E8"/>
            </a:solidFill>
            <a:prstDash val="solid"/>
          </a:ln>
        </p:spPr>
      </p:sp>
      <p:sp>
        <p:nvSpPr>
          <p:cNvPr id="10" name="Text 7"/>
          <p:cNvSpPr/>
          <p:nvPr/>
        </p:nvSpPr>
        <p:spPr>
          <a:xfrm>
            <a:off x="8412480" y="3072384"/>
            <a:ext cx="1417320" cy="182880"/>
          </a:xfrm>
          <a:prstGeom prst="rect">
            <a:avLst/>
          </a:prstGeom>
          <a:noFill/>
          <a:ln/>
        </p:spPr>
        <p:txBody>
          <a:bodyPr wrap="square" lIns="0" tIns="0" rIns="0" bIns="0" rtlCol="0" anchor="ctr">
            <a:normAutofit/>
          </a:bodyPr>
          <a:lstStyle/>
          <a:p>
            <a:pPr indent="0" marL="0">
              <a:buNone/>
            </a:pPr>
            <a:r>
              <a:rPr lang="en-US" sz="800" b="1" dirty="0">
                <a:solidFill>
                  <a:srgbClr val="6C808B"/>
                </a:solidFill>
                <a:latin typeface="Aptos" pitchFamily="34" charset="0"/>
                <a:ea typeface="Aptos" pitchFamily="34" charset="-122"/>
                <a:cs typeface="Aptos" pitchFamily="34" charset="-120"/>
              </a:rPr>
              <a:t>WHAT IT MAY MEAN</a:t>
            </a:r>
            <a:endParaRPr lang="en-US" sz="800" dirty="0"/>
          </a:p>
        </p:txBody>
      </p:sp>
      <p:sp>
        <p:nvSpPr>
          <p:cNvPr id="11" name="Text 8"/>
          <p:cNvSpPr/>
          <p:nvPr/>
        </p:nvSpPr>
        <p:spPr>
          <a:xfrm>
            <a:off x="8412480" y="3346704"/>
            <a:ext cx="2432304" cy="475488"/>
          </a:xfrm>
          <a:prstGeom prst="rect">
            <a:avLst/>
          </a:prstGeom>
          <a:noFill/>
          <a:ln/>
        </p:spPr>
        <p:txBody>
          <a:bodyPr wrap="square" lIns="0" tIns="0" rIns="0" bIns="0" rtlCol="0" anchor="t">
            <a:normAutofit/>
          </a:bodyPr>
          <a:lstStyle/>
          <a:p>
            <a:pPr indent="0" marL="0">
              <a:buNone/>
            </a:pPr>
            <a:r>
              <a:rPr lang="en-US" sz="1020" dirty="0">
                <a:solidFill>
                  <a:srgbClr val="253E4D"/>
                </a:solidFill>
                <a:latin typeface="Aptos" pitchFamily="34" charset="0"/>
                <a:ea typeface="Aptos" pitchFamily="34" charset="-122"/>
                <a:cs typeface="Aptos" pitchFamily="34" charset="-120"/>
              </a:rPr>
              <a:t>About 7 minutes observed; exercise target is 3 minutes.</a:t>
            </a:r>
            <a:endParaRPr lang="en-US" sz="1020" dirty="0"/>
          </a:p>
        </p:txBody>
      </p:sp>
      <p:sp>
        <p:nvSpPr>
          <p:cNvPr id="12" name="Text 9"/>
          <p:cNvSpPr/>
          <p:nvPr/>
        </p:nvSpPr>
        <p:spPr>
          <a:xfrm>
            <a:off x="8247888" y="4315968"/>
            <a:ext cx="2194560" cy="182880"/>
          </a:xfrm>
          <a:prstGeom prst="rect">
            <a:avLst/>
          </a:prstGeom>
          <a:noFill/>
          <a:ln/>
        </p:spPr>
        <p:txBody>
          <a:bodyPr wrap="square" lIns="0" tIns="0" rIns="0" bIns="0" rtlCol="0" anchor="ctr">
            <a:normAutofit/>
          </a:bodyPr>
          <a:lstStyle/>
          <a:p>
            <a:pPr indent="0" marL="0">
              <a:buNone/>
            </a:pPr>
            <a:r>
              <a:rPr lang="en-US" sz="800" b="1" dirty="0">
                <a:solidFill>
                  <a:srgbClr val="6C808B"/>
                </a:solidFill>
                <a:latin typeface="Aptos" pitchFamily="34" charset="0"/>
                <a:ea typeface="Aptos" pitchFamily="34" charset="-122"/>
                <a:cs typeface="Aptos" pitchFamily="34" charset="-120"/>
              </a:rPr>
              <a:t>SUPPORTING RECORDS</a:t>
            </a:r>
            <a:endParaRPr lang="en-US" sz="800" dirty="0"/>
          </a:p>
        </p:txBody>
      </p:sp>
      <p:sp>
        <p:nvSpPr>
          <p:cNvPr id="13" name="Shape 10"/>
          <p:cNvSpPr/>
          <p:nvPr/>
        </p:nvSpPr>
        <p:spPr>
          <a:xfrm>
            <a:off x="8247888" y="4617720"/>
            <a:ext cx="1298448" cy="265176"/>
          </a:xfrm>
          <a:prstGeom prst="roundRect">
            <a:avLst>
              <a:gd name="adj" fmla="val 41379"/>
            </a:avLst>
          </a:prstGeom>
          <a:solidFill>
            <a:srgbClr val="E5F4F2"/>
          </a:solidFill>
          <a:ln w="12700">
            <a:solidFill>
              <a:srgbClr val="E5F4F2">
                <a:alpha val="0"/>
              </a:srgbClr>
            </a:solidFill>
            <a:prstDash val="solid"/>
          </a:ln>
        </p:spPr>
      </p:sp>
      <p:sp>
        <p:nvSpPr>
          <p:cNvPr id="14" name="Text 11"/>
          <p:cNvSpPr/>
          <p:nvPr/>
        </p:nvSpPr>
        <p:spPr>
          <a:xfrm>
            <a:off x="8321040" y="4631436"/>
            <a:ext cx="1152144" cy="219456"/>
          </a:xfrm>
          <a:prstGeom prst="rect">
            <a:avLst/>
          </a:prstGeom>
          <a:noFill/>
          <a:ln/>
        </p:spPr>
        <p:txBody>
          <a:bodyPr wrap="square" lIns="0" tIns="0" rIns="0" bIns="0" rtlCol="0" anchor="ctr">
            <a:normAutofit/>
          </a:bodyPr>
          <a:lstStyle/>
          <a:p>
            <a:pPr algn="ctr" indent="0" marL="0">
              <a:buNone/>
            </a:pPr>
            <a:r>
              <a:rPr lang="en-US" sz="850" b="1" dirty="0">
                <a:solidFill>
                  <a:srgbClr val="0D8F89"/>
                </a:solidFill>
                <a:latin typeface="Aptos" pitchFamily="34" charset="0"/>
                <a:ea typeface="Aptos" pitchFamily="34" charset="-122"/>
                <a:cs typeface="Aptos" pitchFamily="34" charset="-120"/>
              </a:rPr>
              <a:t>CSV rows 4–5</a:t>
            </a:r>
            <a:endParaRPr lang="en-US" sz="850" dirty="0"/>
          </a:p>
        </p:txBody>
      </p:sp>
      <p:sp>
        <p:nvSpPr>
          <p:cNvPr id="15" name="Shape 12"/>
          <p:cNvSpPr/>
          <p:nvPr/>
        </p:nvSpPr>
        <p:spPr>
          <a:xfrm>
            <a:off x="9674352" y="4617720"/>
            <a:ext cx="1298448" cy="265176"/>
          </a:xfrm>
          <a:prstGeom prst="roundRect">
            <a:avLst>
              <a:gd name="adj" fmla="val 41379"/>
            </a:avLst>
          </a:prstGeom>
          <a:solidFill>
            <a:srgbClr val="E5F4F2"/>
          </a:solidFill>
          <a:ln w="12700">
            <a:solidFill>
              <a:srgbClr val="E5F4F2">
                <a:alpha val="0"/>
              </a:srgbClr>
            </a:solidFill>
            <a:prstDash val="solid"/>
          </a:ln>
        </p:spPr>
      </p:sp>
      <p:sp>
        <p:nvSpPr>
          <p:cNvPr id="16" name="Text 13"/>
          <p:cNvSpPr/>
          <p:nvPr/>
        </p:nvSpPr>
        <p:spPr>
          <a:xfrm>
            <a:off x="9747504" y="4631436"/>
            <a:ext cx="1152144" cy="219456"/>
          </a:xfrm>
          <a:prstGeom prst="rect">
            <a:avLst/>
          </a:prstGeom>
          <a:noFill/>
          <a:ln/>
        </p:spPr>
        <p:txBody>
          <a:bodyPr wrap="square" lIns="0" tIns="0" rIns="0" bIns="0" rtlCol="0" anchor="ctr">
            <a:normAutofit/>
          </a:bodyPr>
          <a:lstStyle/>
          <a:p>
            <a:pPr algn="ctr" indent="0" marL="0">
              <a:buNone/>
            </a:pPr>
            <a:r>
              <a:rPr lang="en-US" sz="850" b="1" dirty="0">
                <a:solidFill>
                  <a:srgbClr val="0D8F89"/>
                </a:solidFill>
                <a:latin typeface="Aptos" pitchFamily="34" charset="0"/>
                <a:ea typeface="Aptos" pitchFamily="34" charset="-122"/>
                <a:cs typeface="Aptos" pitchFamily="34" charset="-120"/>
              </a:rPr>
              <a:t>Note line 9</a:t>
            </a:r>
            <a:endParaRPr lang="en-US" sz="850" dirty="0"/>
          </a:p>
        </p:txBody>
      </p:sp>
      <p:sp>
        <p:nvSpPr>
          <p:cNvPr id="17" name="Text 14"/>
          <p:cNvSpPr/>
          <p:nvPr/>
        </p:nvSpPr>
        <p:spPr>
          <a:xfrm>
            <a:off x="8266176" y="5221224"/>
            <a:ext cx="2468880" cy="256032"/>
          </a:xfrm>
          <a:prstGeom prst="rect">
            <a:avLst/>
          </a:prstGeom>
          <a:noFill/>
          <a:ln/>
        </p:spPr>
        <p:txBody>
          <a:bodyPr wrap="square" lIns="0" tIns="0" rIns="0" bIns="0" rtlCol="0" anchor="ctr">
            <a:normAutofit/>
          </a:bodyPr>
          <a:lstStyle/>
          <a:p>
            <a:pPr indent="0" marL="0">
              <a:buNone/>
            </a:pPr>
            <a:r>
              <a:rPr lang="en-US" sz="900" b="1" dirty="0">
                <a:solidFill>
                  <a:srgbClr val="C78324"/>
                </a:solidFill>
                <a:latin typeface="Aptos" pitchFamily="34" charset="0"/>
                <a:ea typeface="Aptos" pitchFamily="34" charset="-122"/>
                <a:cs typeface="Aptos" pitchFamily="34" charset="-120"/>
              </a:rPr>
              <a:t>DRAFT  /  awaiting evaluator</a:t>
            </a:r>
            <a:endParaRPr lang="en-US" sz="900" dirty="0"/>
          </a:p>
        </p:txBody>
      </p:sp>
      <p:sp>
        <p:nvSpPr>
          <p:cNvPr id="18" name="Text 15"/>
          <p:cNvSpPr/>
          <p:nvPr/>
        </p:nvSpPr>
        <p:spPr>
          <a:xfrm>
            <a:off x="8247888" y="5614416"/>
            <a:ext cx="2880360" cy="502920"/>
          </a:xfrm>
          <a:prstGeom prst="rect">
            <a:avLst/>
          </a:prstGeom>
          <a:noFill/>
          <a:ln/>
        </p:spPr>
        <p:txBody>
          <a:bodyPr wrap="square" lIns="0" tIns="0" rIns="0" bIns="0" rtlCol="0" anchor="t">
            <a:normAutofit/>
          </a:bodyPr>
          <a:lstStyle/>
          <a:p>
            <a:pPr indent="0" marL="0">
              <a:buNone/>
            </a:pPr>
            <a:r>
              <a:rPr lang="en-US" sz="920" dirty="0">
                <a:solidFill>
                  <a:srgbClr val="6C808B"/>
                </a:solidFill>
                <a:latin typeface="Aptos" pitchFamily="34" charset="0"/>
                <a:ea typeface="Aptos" pitchFamily="34" charset="-122"/>
                <a:cs typeface="Aptos" pitchFamily="34" charset="-120"/>
              </a:rPr>
              <a:t>The response-time discrepancy cites the independent event log; the low-confidence “too minutes” transcript phrase remains uncertain.</a:t>
            </a:r>
            <a:endParaRPr lang="en-US" sz="920" dirty="0"/>
          </a:p>
        </p:txBody>
      </p:sp>
      <p:sp>
        <p:nvSpPr>
          <p:cNvPr id="19" name="Text 16"/>
          <p:cNvSpPr/>
          <p:nvPr/>
        </p:nvSpPr>
        <p:spPr>
          <a:xfrm>
            <a:off x="722376" y="6245352"/>
            <a:ext cx="8138160" cy="164592"/>
          </a:xfrm>
          <a:prstGeom prst="rect">
            <a:avLst/>
          </a:prstGeom>
          <a:noFill/>
          <a:ln/>
        </p:spPr>
        <p:txBody>
          <a:bodyPr wrap="square" lIns="0" tIns="0" rIns="0" bIns="0" rtlCol="0" anchor="ctr">
            <a:normAutofit/>
          </a:bodyPr>
          <a:lstStyle/>
          <a:p>
            <a:pPr indent="0" marL="0">
              <a:buNone/>
            </a:pPr>
            <a:r>
              <a:rPr lang="en-US" sz="800" i="1" dirty="0">
                <a:solidFill>
                  <a:srgbClr val="6C808B"/>
                </a:solidFill>
                <a:latin typeface="Aptos" pitchFamily="34" charset="0"/>
                <a:ea typeface="Aptos" pitchFamily="34" charset="-122"/>
                <a:cs typeface="Aptos" pitchFamily="34" charset="-120"/>
              </a:rPr>
              <a:t>No finding is approved by the model. Reviewer decision remains explicit.</a:t>
            </a:r>
            <a:endParaRPr lang="en-US" sz="800" dirty="0"/>
          </a:p>
        </p:txBody>
      </p:sp>
      <p:sp>
        <p:nvSpPr>
          <p:cNvPr id="25" name="Slide Number Placeholder 0"/>
          <p:cNvSpPr>
            <a:spLocks noGrp="1"/>
          </p:cNvSpPr>
          <p:nvPr>
            <p:ph type="sldNum" sz="quarter" idx="4294967295"/>
          </p:nvPr>
        </p:nvSpPr>
        <p:spPr>
          <a:xfrm>
            <a:off x="11768328" y="6556248"/>
            <a:ext cx="182880" cy="164592"/>
          </a:xfrm>
          <a:prstGeom prst="rect">
            <a:avLst/>
          </a:prstGeom>
          <a:extLst>
            <a:ext uri="{C572A759-6A51-4108-AA02-DFA0A04FC94B}">
              <ma14:wrappingTextBoxFlag xmlns:ma14="http://schemas.microsoft.com/office/mac/drawingml/2011/main" val="0"/>
            </a:ext>
          </a:extLst>
        </p:spPr>
        <p:txBody>
          <a:bodyPr/>
          <a:lstStyle>
            <a:lvl1pPr>
              <a:defRPr sz="700">
                <a:solidFill>
                  <a:srgbClr val="6C808B"/>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329184"/>
            <a:ext cx="10789920" cy="219456"/>
          </a:xfrm>
          <a:prstGeom prst="rect">
            <a:avLst/>
          </a:prstGeom>
          <a:noFill/>
          <a:ln/>
        </p:spPr>
        <p:txBody>
          <a:bodyPr wrap="square" lIns="0" tIns="0" rIns="0" bIns="0" rtlCol="0" anchor="ctr">
            <a:normAutofit/>
          </a:bodyPr>
          <a:lstStyle/>
          <a:p>
            <a:pPr indent="0" marL="0">
              <a:buNone/>
            </a:pPr>
            <a:r>
              <a:rPr lang="en-US" sz="900" b="1" spc="120" kern="0" dirty="0">
                <a:solidFill>
                  <a:srgbClr val="0D8F89"/>
                </a:solidFill>
                <a:latin typeface="Aptos" pitchFamily="34" charset="0"/>
                <a:ea typeface="Aptos" pitchFamily="34" charset="-122"/>
                <a:cs typeface="Aptos" pitchFamily="34" charset="-120"/>
              </a:rPr>
              <a:t>AI WORKFLOW</a:t>
            </a:r>
            <a:endParaRPr lang="en-US" sz="900" dirty="0"/>
          </a:p>
        </p:txBody>
      </p:sp>
      <p:sp>
        <p:nvSpPr>
          <p:cNvPr id="3" name="Text 1"/>
          <p:cNvSpPr/>
          <p:nvPr/>
        </p:nvSpPr>
        <p:spPr>
          <a:xfrm>
            <a:off x="594360" y="640080"/>
            <a:ext cx="10972800" cy="475488"/>
          </a:xfrm>
          <a:prstGeom prst="rect">
            <a:avLst/>
          </a:prstGeom>
          <a:noFill/>
          <a:ln/>
        </p:spPr>
        <p:txBody>
          <a:bodyPr wrap="square" lIns="0" tIns="0" rIns="0" bIns="0" rtlCol="0" anchor="ctr">
            <a:normAutofit/>
          </a:bodyPr>
          <a:lstStyle/>
          <a:p>
            <a:pPr indent="0" marL="0">
              <a:buNone/>
            </a:pPr>
            <a:r>
              <a:rPr lang="en-US" sz="2600" b="1" dirty="0">
                <a:solidFill>
                  <a:srgbClr val="173747"/>
                </a:solidFill>
                <a:latin typeface="Aptos Display" pitchFamily="34" charset="0"/>
                <a:ea typeface="Aptos Display" pitchFamily="34" charset="-122"/>
                <a:cs typeface="Aptos Display" pitchFamily="34" charset="-120"/>
              </a:rPr>
              <a:t>A fixed pipeline keeps the evidence path inspectable</a:t>
            </a:r>
            <a:endParaRPr lang="en-US" sz="2600" dirty="0"/>
          </a:p>
        </p:txBody>
      </p:sp>
      <p:sp>
        <p:nvSpPr>
          <p:cNvPr id="4" name="Text 2"/>
          <p:cNvSpPr/>
          <p:nvPr/>
        </p:nvSpPr>
        <p:spPr>
          <a:xfrm>
            <a:off x="612648" y="1133856"/>
            <a:ext cx="10881360" cy="310896"/>
          </a:xfrm>
          <a:prstGeom prst="rect">
            <a:avLst/>
          </a:prstGeom>
          <a:noFill/>
          <a:ln/>
        </p:spPr>
        <p:txBody>
          <a:bodyPr wrap="square" lIns="0" tIns="0" rIns="0" bIns="0" rtlCol="0" anchor="ctr">
            <a:normAutofit/>
          </a:bodyPr>
          <a:lstStyle/>
          <a:p>
            <a:pPr indent="0" marL="0">
              <a:buNone/>
            </a:pPr>
            <a:r>
              <a:rPr lang="en-US" sz="1130" dirty="0">
                <a:solidFill>
                  <a:srgbClr val="6C808B"/>
                </a:solidFill>
                <a:latin typeface="Aptos" pitchFamily="34" charset="0"/>
                <a:ea typeface="Aptos" pitchFamily="34" charset="-122"/>
                <a:cs typeface="Aptos" pitchFamily="34" charset="-120"/>
              </a:rPr>
              <a:t>The MVP uses deterministic extraction for the demo fixture. Optional local models stay behind defined boundaries.</a:t>
            </a:r>
            <a:endParaRPr lang="en-US" sz="1130" dirty="0"/>
          </a:p>
        </p:txBody>
      </p:sp>
      <p:sp>
        <p:nvSpPr>
          <p:cNvPr id="5" name="Shape 3"/>
          <p:cNvSpPr/>
          <p:nvPr/>
        </p:nvSpPr>
        <p:spPr>
          <a:xfrm>
            <a:off x="713232" y="1965960"/>
            <a:ext cx="1975104" cy="1389888"/>
          </a:xfrm>
          <a:prstGeom prst="roundRect">
            <a:avLst>
              <a:gd name="adj" fmla="val 7895"/>
            </a:avLst>
          </a:prstGeom>
          <a:solidFill>
            <a:srgbClr val="FFFFFF"/>
          </a:solidFill>
          <a:ln w="11430">
            <a:solidFill>
              <a:srgbClr val="DCE7E8"/>
            </a:solidFill>
            <a:prstDash val="solid"/>
          </a:ln>
        </p:spPr>
      </p:sp>
      <p:sp>
        <p:nvSpPr>
          <p:cNvPr id="6" name="Shape 4"/>
          <p:cNvSpPr/>
          <p:nvPr/>
        </p:nvSpPr>
        <p:spPr>
          <a:xfrm>
            <a:off x="868680" y="2130552"/>
            <a:ext cx="429768" cy="265176"/>
          </a:xfrm>
          <a:prstGeom prst="roundRect">
            <a:avLst>
              <a:gd name="adj" fmla="val 41379"/>
            </a:avLst>
          </a:prstGeom>
          <a:solidFill>
            <a:srgbClr val="E5F4F2"/>
          </a:solidFill>
          <a:ln w="12700">
            <a:solidFill>
              <a:srgbClr val="E5F4F2">
                <a:alpha val="0"/>
              </a:srgbClr>
            </a:solidFill>
            <a:prstDash val="solid"/>
          </a:ln>
        </p:spPr>
      </p:sp>
      <p:sp>
        <p:nvSpPr>
          <p:cNvPr id="7" name="Text 5"/>
          <p:cNvSpPr/>
          <p:nvPr/>
        </p:nvSpPr>
        <p:spPr>
          <a:xfrm>
            <a:off x="941832" y="2144268"/>
            <a:ext cx="283464" cy="219456"/>
          </a:xfrm>
          <a:prstGeom prst="rect">
            <a:avLst/>
          </a:prstGeom>
          <a:noFill/>
          <a:ln/>
        </p:spPr>
        <p:txBody>
          <a:bodyPr wrap="square" lIns="0" tIns="0" rIns="0" bIns="0" rtlCol="0" anchor="ctr">
            <a:normAutofit/>
          </a:bodyPr>
          <a:lstStyle/>
          <a:p>
            <a:pPr algn="ctr" indent="0" marL="0">
              <a:buNone/>
            </a:pPr>
            <a:r>
              <a:rPr lang="en-US" sz="850" b="1" dirty="0">
                <a:solidFill>
                  <a:srgbClr val="0D8F89"/>
                </a:solidFill>
                <a:latin typeface="Aptos" pitchFamily="34" charset="0"/>
                <a:ea typeface="Aptos" pitchFamily="34" charset="-122"/>
                <a:cs typeface="Aptos" pitchFamily="34" charset="-120"/>
              </a:rPr>
              <a:t>01</a:t>
            </a:r>
            <a:endParaRPr lang="en-US" sz="850" dirty="0"/>
          </a:p>
        </p:txBody>
      </p:sp>
      <p:sp>
        <p:nvSpPr>
          <p:cNvPr id="8" name="Text 6"/>
          <p:cNvSpPr/>
          <p:nvPr/>
        </p:nvSpPr>
        <p:spPr>
          <a:xfrm>
            <a:off x="877824" y="2532888"/>
            <a:ext cx="1664208" cy="256032"/>
          </a:xfrm>
          <a:prstGeom prst="rect">
            <a:avLst/>
          </a:prstGeom>
          <a:noFill/>
          <a:ln/>
        </p:spPr>
        <p:txBody>
          <a:bodyPr wrap="square" lIns="0" tIns="0" rIns="0" bIns="0" rtlCol="0" anchor="ctr">
            <a:normAutofit/>
          </a:bodyPr>
          <a:lstStyle/>
          <a:p>
            <a:pPr indent="0" marL="0">
              <a:buNone/>
            </a:pPr>
            <a:r>
              <a:rPr lang="en-US" sz="1500" b="1" dirty="0">
                <a:solidFill>
                  <a:srgbClr val="173747"/>
                </a:solidFill>
                <a:latin typeface="Aptos" pitchFamily="34" charset="0"/>
                <a:ea typeface="Aptos" pitchFamily="34" charset="-122"/>
                <a:cs typeface="Aptos" pitchFamily="34" charset="-120"/>
              </a:rPr>
              <a:t>Collect files</a:t>
            </a:r>
            <a:endParaRPr lang="en-US" sz="1500" dirty="0"/>
          </a:p>
        </p:txBody>
      </p:sp>
      <p:sp>
        <p:nvSpPr>
          <p:cNvPr id="9" name="Text 7"/>
          <p:cNvSpPr/>
          <p:nvPr/>
        </p:nvSpPr>
        <p:spPr>
          <a:xfrm>
            <a:off x="877824" y="2862072"/>
            <a:ext cx="1664208" cy="384048"/>
          </a:xfrm>
          <a:prstGeom prst="rect">
            <a:avLst/>
          </a:prstGeom>
          <a:noFill/>
          <a:ln/>
        </p:spPr>
        <p:txBody>
          <a:bodyPr wrap="square" lIns="0" tIns="0" rIns="0" bIns="0" rtlCol="0" anchor="t">
            <a:normAutofit/>
          </a:bodyPr>
          <a:lstStyle/>
          <a:p>
            <a:pPr indent="0" marL="0">
              <a:buNone/>
            </a:pPr>
            <a:r>
              <a:rPr lang="en-US" sz="920" dirty="0">
                <a:solidFill>
                  <a:srgbClr val="6C808B"/>
                </a:solidFill>
                <a:latin typeface="Aptos" pitchFamily="34" charset="0"/>
                <a:ea typeface="Aptos" pitchFamily="34" charset="-122"/>
                <a:cs typeface="Aptos" pitchFamily="34" charset="-120"/>
              </a:rPr>
              <a:t>Notes · spreadsheets</a:t>
            </a:r>
            <a:endParaRPr lang="en-US" sz="920" dirty="0"/>
          </a:p>
          <a:p>
            <a:pPr indent="0" marL="0">
              <a:buNone/>
            </a:pPr>
            <a:r>
              <a:rPr lang="en-US" sz="920" dirty="0">
                <a:solidFill>
                  <a:srgbClr val="6C808B"/>
                </a:solidFill>
                <a:latin typeface="Aptos" pitchFamily="34" charset="0"/>
                <a:ea typeface="Aptos" pitchFamily="34" charset="-122"/>
                <a:cs typeface="Aptos" pitchFamily="34" charset="-120"/>
              </a:rPr>
              <a:t>transcripts · readable PDFs</a:t>
            </a:r>
            <a:endParaRPr lang="en-US" sz="920" dirty="0"/>
          </a:p>
        </p:txBody>
      </p:sp>
      <p:sp>
        <p:nvSpPr>
          <p:cNvPr id="10" name="Shape 8"/>
          <p:cNvSpPr/>
          <p:nvPr/>
        </p:nvSpPr>
        <p:spPr>
          <a:xfrm>
            <a:off x="2724912" y="2660904"/>
            <a:ext cx="210312" cy="0"/>
          </a:xfrm>
          <a:prstGeom prst="line">
            <a:avLst/>
          </a:prstGeom>
          <a:noFill/>
          <a:ln w="19050">
            <a:solidFill>
              <a:srgbClr val="0D8F89"/>
            </a:solidFill>
            <a:prstDash val="solid"/>
          </a:ln>
        </p:spPr>
      </p:sp>
      <p:sp>
        <p:nvSpPr>
          <p:cNvPr id="11" name="Shape 9"/>
          <p:cNvSpPr/>
          <p:nvPr/>
        </p:nvSpPr>
        <p:spPr>
          <a:xfrm>
            <a:off x="2990088" y="1965960"/>
            <a:ext cx="1975104" cy="1389888"/>
          </a:xfrm>
          <a:prstGeom prst="roundRect">
            <a:avLst>
              <a:gd name="adj" fmla="val 7895"/>
            </a:avLst>
          </a:prstGeom>
          <a:solidFill>
            <a:srgbClr val="FFFFFF"/>
          </a:solidFill>
          <a:ln w="11430">
            <a:solidFill>
              <a:srgbClr val="DCE7E8"/>
            </a:solidFill>
            <a:prstDash val="solid"/>
          </a:ln>
        </p:spPr>
      </p:sp>
      <p:sp>
        <p:nvSpPr>
          <p:cNvPr id="12" name="Shape 10"/>
          <p:cNvSpPr/>
          <p:nvPr/>
        </p:nvSpPr>
        <p:spPr>
          <a:xfrm>
            <a:off x="3145536" y="2130552"/>
            <a:ext cx="429768" cy="265176"/>
          </a:xfrm>
          <a:prstGeom prst="roundRect">
            <a:avLst>
              <a:gd name="adj" fmla="val 41379"/>
            </a:avLst>
          </a:prstGeom>
          <a:solidFill>
            <a:srgbClr val="E5F4F2"/>
          </a:solidFill>
          <a:ln w="12700">
            <a:solidFill>
              <a:srgbClr val="E5F4F2">
                <a:alpha val="0"/>
              </a:srgbClr>
            </a:solidFill>
            <a:prstDash val="solid"/>
          </a:ln>
        </p:spPr>
      </p:sp>
      <p:sp>
        <p:nvSpPr>
          <p:cNvPr id="13" name="Text 11"/>
          <p:cNvSpPr/>
          <p:nvPr/>
        </p:nvSpPr>
        <p:spPr>
          <a:xfrm>
            <a:off x="3218688" y="2144268"/>
            <a:ext cx="283464" cy="219456"/>
          </a:xfrm>
          <a:prstGeom prst="rect">
            <a:avLst/>
          </a:prstGeom>
          <a:noFill/>
          <a:ln/>
        </p:spPr>
        <p:txBody>
          <a:bodyPr wrap="square" lIns="0" tIns="0" rIns="0" bIns="0" rtlCol="0" anchor="ctr">
            <a:normAutofit/>
          </a:bodyPr>
          <a:lstStyle/>
          <a:p>
            <a:pPr algn="ctr" indent="0" marL="0">
              <a:buNone/>
            </a:pPr>
            <a:r>
              <a:rPr lang="en-US" sz="850" b="1" dirty="0">
                <a:solidFill>
                  <a:srgbClr val="0D8F89"/>
                </a:solidFill>
                <a:latin typeface="Aptos" pitchFamily="34" charset="0"/>
                <a:ea typeface="Aptos" pitchFamily="34" charset="-122"/>
                <a:cs typeface="Aptos" pitchFamily="34" charset="-120"/>
              </a:rPr>
              <a:t>02</a:t>
            </a:r>
            <a:endParaRPr lang="en-US" sz="850" dirty="0"/>
          </a:p>
        </p:txBody>
      </p:sp>
      <p:sp>
        <p:nvSpPr>
          <p:cNvPr id="14" name="Text 12"/>
          <p:cNvSpPr/>
          <p:nvPr/>
        </p:nvSpPr>
        <p:spPr>
          <a:xfrm>
            <a:off x="3154680" y="2532888"/>
            <a:ext cx="1664208" cy="256032"/>
          </a:xfrm>
          <a:prstGeom prst="rect">
            <a:avLst/>
          </a:prstGeom>
          <a:noFill/>
          <a:ln/>
        </p:spPr>
        <p:txBody>
          <a:bodyPr wrap="square" lIns="0" tIns="0" rIns="0" bIns="0" rtlCol="0" anchor="ctr">
            <a:normAutofit/>
          </a:bodyPr>
          <a:lstStyle/>
          <a:p>
            <a:pPr indent="0" marL="0">
              <a:buNone/>
            </a:pPr>
            <a:r>
              <a:rPr lang="en-US" sz="1500" b="1" dirty="0">
                <a:solidFill>
                  <a:srgbClr val="173747"/>
                </a:solidFill>
                <a:latin typeface="Aptos" pitchFamily="34" charset="0"/>
                <a:ea typeface="Aptos" pitchFamily="34" charset="-122"/>
                <a:cs typeface="Aptos" pitchFamily="34" charset="-120"/>
              </a:rPr>
              <a:t>Record details</a:t>
            </a:r>
            <a:endParaRPr lang="en-US" sz="1500" dirty="0"/>
          </a:p>
        </p:txBody>
      </p:sp>
      <p:sp>
        <p:nvSpPr>
          <p:cNvPr id="15" name="Text 13"/>
          <p:cNvSpPr/>
          <p:nvPr/>
        </p:nvSpPr>
        <p:spPr>
          <a:xfrm>
            <a:off x="3154680" y="2862072"/>
            <a:ext cx="1664208" cy="384048"/>
          </a:xfrm>
          <a:prstGeom prst="rect">
            <a:avLst/>
          </a:prstGeom>
          <a:noFill/>
          <a:ln/>
        </p:spPr>
        <p:txBody>
          <a:bodyPr wrap="square" lIns="0" tIns="0" rIns="0" bIns="0" rtlCol="0" anchor="t">
            <a:normAutofit/>
          </a:bodyPr>
          <a:lstStyle/>
          <a:p>
            <a:pPr indent="0" marL="0">
              <a:buNone/>
            </a:pPr>
            <a:r>
              <a:rPr lang="en-US" sz="920" dirty="0">
                <a:solidFill>
                  <a:srgbClr val="6C808B"/>
                </a:solidFill>
                <a:latin typeface="Aptos" pitchFamily="34" charset="0"/>
                <a:ea typeface="Aptos" pitchFamily="34" charset="-122"/>
                <a:cs typeface="Aptos" pitchFamily="34" charset="-120"/>
              </a:rPr>
              <a:t>Keep exact file location</a:t>
            </a:r>
            <a:endParaRPr lang="en-US" sz="920" dirty="0"/>
          </a:p>
          <a:p>
            <a:pPr indent="0" marL="0">
              <a:buNone/>
            </a:pPr>
            <a:r>
              <a:rPr lang="en-US" sz="920" dirty="0">
                <a:solidFill>
                  <a:srgbClr val="6C808B"/>
                </a:solidFill>
                <a:latin typeface="Aptos" pitchFamily="34" charset="0"/>
                <a:ea typeface="Aptos" pitchFamily="34" charset="-122"/>
                <a:cs typeface="Aptos" pitchFamily="34" charset="-120"/>
              </a:rPr>
              <a:t>and known / unknown time</a:t>
            </a:r>
            <a:endParaRPr lang="en-US" sz="920" dirty="0"/>
          </a:p>
        </p:txBody>
      </p:sp>
      <p:sp>
        <p:nvSpPr>
          <p:cNvPr id="16" name="Shape 14"/>
          <p:cNvSpPr/>
          <p:nvPr/>
        </p:nvSpPr>
        <p:spPr>
          <a:xfrm>
            <a:off x="5001768" y="2660904"/>
            <a:ext cx="210312" cy="0"/>
          </a:xfrm>
          <a:prstGeom prst="line">
            <a:avLst/>
          </a:prstGeom>
          <a:noFill/>
          <a:ln w="19050">
            <a:solidFill>
              <a:srgbClr val="0D8F89"/>
            </a:solidFill>
            <a:prstDash val="solid"/>
          </a:ln>
        </p:spPr>
      </p:sp>
      <p:sp>
        <p:nvSpPr>
          <p:cNvPr id="17" name="Shape 15"/>
          <p:cNvSpPr/>
          <p:nvPr/>
        </p:nvSpPr>
        <p:spPr>
          <a:xfrm>
            <a:off x="5266944" y="1965960"/>
            <a:ext cx="1975104" cy="1389888"/>
          </a:xfrm>
          <a:prstGeom prst="roundRect">
            <a:avLst>
              <a:gd name="adj" fmla="val 7895"/>
            </a:avLst>
          </a:prstGeom>
          <a:solidFill>
            <a:srgbClr val="FFFFFF"/>
          </a:solidFill>
          <a:ln w="11430">
            <a:solidFill>
              <a:srgbClr val="DCE7E8"/>
            </a:solidFill>
            <a:prstDash val="solid"/>
          </a:ln>
        </p:spPr>
      </p:sp>
      <p:sp>
        <p:nvSpPr>
          <p:cNvPr id="18" name="Shape 16"/>
          <p:cNvSpPr/>
          <p:nvPr/>
        </p:nvSpPr>
        <p:spPr>
          <a:xfrm>
            <a:off x="5422392" y="2130552"/>
            <a:ext cx="429768" cy="265176"/>
          </a:xfrm>
          <a:prstGeom prst="roundRect">
            <a:avLst>
              <a:gd name="adj" fmla="val 41379"/>
            </a:avLst>
          </a:prstGeom>
          <a:solidFill>
            <a:srgbClr val="E5F4F2"/>
          </a:solidFill>
          <a:ln w="12700">
            <a:solidFill>
              <a:srgbClr val="E5F4F2">
                <a:alpha val="0"/>
              </a:srgbClr>
            </a:solidFill>
            <a:prstDash val="solid"/>
          </a:ln>
        </p:spPr>
      </p:sp>
      <p:sp>
        <p:nvSpPr>
          <p:cNvPr id="19" name="Text 17"/>
          <p:cNvSpPr/>
          <p:nvPr/>
        </p:nvSpPr>
        <p:spPr>
          <a:xfrm>
            <a:off x="5495544" y="2144268"/>
            <a:ext cx="283464" cy="219456"/>
          </a:xfrm>
          <a:prstGeom prst="rect">
            <a:avLst/>
          </a:prstGeom>
          <a:noFill/>
          <a:ln/>
        </p:spPr>
        <p:txBody>
          <a:bodyPr wrap="square" lIns="0" tIns="0" rIns="0" bIns="0" rtlCol="0" anchor="ctr">
            <a:normAutofit/>
          </a:bodyPr>
          <a:lstStyle/>
          <a:p>
            <a:pPr algn="ctr" indent="0" marL="0">
              <a:buNone/>
            </a:pPr>
            <a:r>
              <a:rPr lang="en-US" sz="850" b="1" dirty="0">
                <a:solidFill>
                  <a:srgbClr val="0D8F89"/>
                </a:solidFill>
                <a:latin typeface="Aptos" pitchFamily="34" charset="0"/>
                <a:ea typeface="Aptos" pitchFamily="34" charset="-122"/>
                <a:cs typeface="Aptos" pitchFamily="34" charset="-120"/>
              </a:rPr>
              <a:t>03</a:t>
            </a:r>
            <a:endParaRPr lang="en-US" sz="850" dirty="0"/>
          </a:p>
        </p:txBody>
      </p:sp>
      <p:sp>
        <p:nvSpPr>
          <p:cNvPr id="20" name="Text 18"/>
          <p:cNvSpPr/>
          <p:nvPr/>
        </p:nvSpPr>
        <p:spPr>
          <a:xfrm>
            <a:off x="5431536" y="2532888"/>
            <a:ext cx="1664208" cy="256032"/>
          </a:xfrm>
          <a:prstGeom prst="rect">
            <a:avLst/>
          </a:prstGeom>
          <a:noFill/>
          <a:ln/>
        </p:spPr>
        <p:txBody>
          <a:bodyPr wrap="square" lIns="0" tIns="0" rIns="0" bIns="0" rtlCol="0" anchor="ctr">
            <a:normAutofit/>
          </a:bodyPr>
          <a:lstStyle/>
          <a:p>
            <a:pPr indent="0" marL="0">
              <a:buNone/>
            </a:pPr>
            <a:r>
              <a:rPr lang="en-US" sz="1500" b="1" dirty="0">
                <a:solidFill>
                  <a:srgbClr val="173747"/>
                </a:solidFill>
                <a:latin typeface="Aptos" pitchFamily="34" charset="0"/>
                <a:ea typeface="Aptos" pitchFamily="34" charset="-122"/>
                <a:cs typeface="Aptos" pitchFamily="34" charset="-120"/>
              </a:rPr>
              <a:t>Compare</a:t>
            </a:r>
            <a:endParaRPr lang="en-US" sz="1500" dirty="0"/>
          </a:p>
        </p:txBody>
      </p:sp>
      <p:sp>
        <p:nvSpPr>
          <p:cNvPr id="21" name="Text 19"/>
          <p:cNvSpPr/>
          <p:nvPr/>
        </p:nvSpPr>
        <p:spPr>
          <a:xfrm>
            <a:off x="5431536" y="2862072"/>
            <a:ext cx="1664208" cy="384048"/>
          </a:xfrm>
          <a:prstGeom prst="rect">
            <a:avLst/>
          </a:prstGeom>
          <a:noFill/>
          <a:ln/>
        </p:spPr>
        <p:txBody>
          <a:bodyPr wrap="square" lIns="0" tIns="0" rIns="0" bIns="0" rtlCol="0" anchor="t">
            <a:normAutofit/>
          </a:bodyPr>
          <a:lstStyle/>
          <a:p>
            <a:pPr indent="0" marL="0">
              <a:buNone/>
            </a:pPr>
            <a:r>
              <a:rPr lang="en-US" sz="920" dirty="0">
                <a:solidFill>
                  <a:srgbClr val="6C808B"/>
                </a:solidFill>
                <a:latin typeface="Aptos" pitchFamily="34" charset="0"/>
                <a:ea typeface="Aptos" pitchFamily="34" charset="-122"/>
                <a:cs typeface="Aptos" pitchFamily="34" charset="-120"/>
              </a:rPr>
              <a:t>Compare recorded events</a:t>
            </a:r>
            <a:endParaRPr lang="en-US" sz="920" dirty="0"/>
          </a:p>
          <a:p>
            <a:pPr indent="0" marL="0">
              <a:buNone/>
            </a:pPr>
            <a:r>
              <a:rPr lang="en-US" sz="920" dirty="0">
                <a:solidFill>
                  <a:srgbClr val="6C808B"/>
                </a:solidFill>
                <a:latin typeface="Aptos" pitchFamily="34" charset="0"/>
                <a:ea typeface="Aptos" pitchFamily="34" charset="-122"/>
                <a:cs typeface="Aptos" pitchFamily="34" charset="-120"/>
              </a:rPr>
              <a:t>with exercise targets</a:t>
            </a:r>
            <a:endParaRPr lang="en-US" sz="920" dirty="0"/>
          </a:p>
        </p:txBody>
      </p:sp>
      <p:sp>
        <p:nvSpPr>
          <p:cNvPr id="22" name="Shape 20"/>
          <p:cNvSpPr/>
          <p:nvPr/>
        </p:nvSpPr>
        <p:spPr>
          <a:xfrm>
            <a:off x="7278624" y="2660904"/>
            <a:ext cx="210312" cy="0"/>
          </a:xfrm>
          <a:prstGeom prst="line">
            <a:avLst/>
          </a:prstGeom>
          <a:noFill/>
          <a:ln w="19050">
            <a:solidFill>
              <a:srgbClr val="0D8F89"/>
            </a:solidFill>
            <a:prstDash val="solid"/>
          </a:ln>
        </p:spPr>
      </p:sp>
      <p:sp>
        <p:nvSpPr>
          <p:cNvPr id="23" name="Shape 21"/>
          <p:cNvSpPr/>
          <p:nvPr/>
        </p:nvSpPr>
        <p:spPr>
          <a:xfrm>
            <a:off x="7543800" y="1965960"/>
            <a:ext cx="1975104" cy="1389888"/>
          </a:xfrm>
          <a:prstGeom prst="roundRect">
            <a:avLst>
              <a:gd name="adj" fmla="val 7895"/>
            </a:avLst>
          </a:prstGeom>
          <a:solidFill>
            <a:srgbClr val="FFFFFF"/>
          </a:solidFill>
          <a:ln w="11430">
            <a:solidFill>
              <a:srgbClr val="DCE7E8"/>
            </a:solidFill>
            <a:prstDash val="solid"/>
          </a:ln>
        </p:spPr>
      </p:sp>
      <p:sp>
        <p:nvSpPr>
          <p:cNvPr id="24" name="Shape 22"/>
          <p:cNvSpPr/>
          <p:nvPr/>
        </p:nvSpPr>
        <p:spPr>
          <a:xfrm>
            <a:off x="7699248" y="2130552"/>
            <a:ext cx="429768" cy="265176"/>
          </a:xfrm>
          <a:prstGeom prst="roundRect">
            <a:avLst>
              <a:gd name="adj" fmla="val 41379"/>
            </a:avLst>
          </a:prstGeom>
          <a:solidFill>
            <a:srgbClr val="E5F4F2"/>
          </a:solidFill>
          <a:ln w="12700">
            <a:solidFill>
              <a:srgbClr val="E5F4F2">
                <a:alpha val="0"/>
              </a:srgbClr>
            </a:solidFill>
            <a:prstDash val="solid"/>
          </a:ln>
        </p:spPr>
      </p:sp>
      <p:sp>
        <p:nvSpPr>
          <p:cNvPr id="25" name="Text 23"/>
          <p:cNvSpPr/>
          <p:nvPr/>
        </p:nvSpPr>
        <p:spPr>
          <a:xfrm>
            <a:off x="7772400" y="2144268"/>
            <a:ext cx="283464" cy="219456"/>
          </a:xfrm>
          <a:prstGeom prst="rect">
            <a:avLst/>
          </a:prstGeom>
          <a:noFill/>
          <a:ln/>
        </p:spPr>
        <p:txBody>
          <a:bodyPr wrap="square" lIns="0" tIns="0" rIns="0" bIns="0" rtlCol="0" anchor="ctr">
            <a:normAutofit/>
          </a:bodyPr>
          <a:lstStyle/>
          <a:p>
            <a:pPr algn="ctr" indent="0" marL="0">
              <a:buNone/>
            </a:pPr>
            <a:r>
              <a:rPr lang="en-US" sz="850" b="1" dirty="0">
                <a:solidFill>
                  <a:srgbClr val="0D8F89"/>
                </a:solidFill>
                <a:latin typeface="Aptos" pitchFamily="34" charset="0"/>
                <a:ea typeface="Aptos" pitchFamily="34" charset="-122"/>
                <a:cs typeface="Aptos" pitchFamily="34" charset="-120"/>
              </a:rPr>
              <a:t>04</a:t>
            </a:r>
            <a:endParaRPr lang="en-US" sz="850" dirty="0"/>
          </a:p>
        </p:txBody>
      </p:sp>
      <p:sp>
        <p:nvSpPr>
          <p:cNvPr id="26" name="Text 24"/>
          <p:cNvSpPr/>
          <p:nvPr/>
        </p:nvSpPr>
        <p:spPr>
          <a:xfrm>
            <a:off x="7708392" y="2532888"/>
            <a:ext cx="1664208" cy="256032"/>
          </a:xfrm>
          <a:prstGeom prst="rect">
            <a:avLst/>
          </a:prstGeom>
          <a:noFill/>
          <a:ln/>
        </p:spPr>
        <p:txBody>
          <a:bodyPr wrap="square" lIns="0" tIns="0" rIns="0" bIns="0" rtlCol="0" anchor="ctr">
            <a:normAutofit/>
          </a:bodyPr>
          <a:lstStyle/>
          <a:p>
            <a:pPr indent="0" marL="0">
              <a:buNone/>
            </a:pPr>
            <a:r>
              <a:rPr lang="en-US" sz="1500" b="1" dirty="0">
                <a:solidFill>
                  <a:srgbClr val="173747"/>
                </a:solidFill>
                <a:latin typeface="Aptos" pitchFamily="34" charset="0"/>
                <a:ea typeface="Aptos" pitchFamily="34" charset="-122"/>
                <a:cs typeface="Aptos" pitchFamily="34" charset="-120"/>
              </a:rPr>
              <a:t>Link evidence</a:t>
            </a:r>
            <a:endParaRPr lang="en-US" sz="1500" dirty="0"/>
          </a:p>
        </p:txBody>
      </p:sp>
      <p:sp>
        <p:nvSpPr>
          <p:cNvPr id="27" name="Text 25"/>
          <p:cNvSpPr/>
          <p:nvPr/>
        </p:nvSpPr>
        <p:spPr>
          <a:xfrm>
            <a:off x="7708392" y="2862072"/>
            <a:ext cx="1664208" cy="384048"/>
          </a:xfrm>
          <a:prstGeom prst="rect">
            <a:avLst/>
          </a:prstGeom>
          <a:noFill/>
          <a:ln/>
        </p:spPr>
        <p:txBody>
          <a:bodyPr wrap="square" lIns="0" tIns="0" rIns="0" bIns="0" rtlCol="0" anchor="t">
            <a:normAutofit/>
          </a:bodyPr>
          <a:lstStyle/>
          <a:p>
            <a:pPr indent="0" marL="0">
              <a:buNone/>
            </a:pPr>
            <a:r>
              <a:rPr lang="en-US" sz="920" dirty="0">
                <a:solidFill>
                  <a:srgbClr val="6C808B"/>
                </a:solidFill>
                <a:latin typeface="Aptos" pitchFamily="34" charset="0"/>
                <a:ea typeface="Aptos" pitchFamily="34" charset="-122"/>
                <a:cs typeface="Aptos" pitchFamily="34" charset="-120"/>
              </a:rPr>
              <a:t>Show the exact source</a:t>
            </a:r>
            <a:endParaRPr lang="en-US" sz="920" dirty="0"/>
          </a:p>
          <a:p>
            <a:pPr indent="0" marL="0">
              <a:buNone/>
            </a:pPr>
            <a:r>
              <a:rPr lang="en-US" sz="920" dirty="0">
                <a:solidFill>
                  <a:srgbClr val="6C808B"/>
                </a:solidFill>
                <a:latin typeface="Aptos" pitchFamily="34" charset="0"/>
                <a:ea typeface="Aptos" pitchFamily="34" charset="-122"/>
                <a:cs typeface="Aptos" pitchFamily="34" charset="-120"/>
              </a:rPr>
              <a:t>behind every proposal</a:t>
            </a:r>
            <a:endParaRPr lang="en-US" sz="920" dirty="0"/>
          </a:p>
        </p:txBody>
      </p:sp>
      <p:sp>
        <p:nvSpPr>
          <p:cNvPr id="28" name="Shape 26"/>
          <p:cNvSpPr/>
          <p:nvPr/>
        </p:nvSpPr>
        <p:spPr>
          <a:xfrm>
            <a:off x="9555480" y="2660904"/>
            <a:ext cx="210312" cy="0"/>
          </a:xfrm>
          <a:prstGeom prst="line">
            <a:avLst/>
          </a:prstGeom>
          <a:noFill/>
          <a:ln w="19050">
            <a:solidFill>
              <a:srgbClr val="0D8F89"/>
            </a:solidFill>
            <a:prstDash val="solid"/>
          </a:ln>
        </p:spPr>
      </p:sp>
      <p:sp>
        <p:nvSpPr>
          <p:cNvPr id="29" name="Shape 27"/>
          <p:cNvSpPr/>
          <p:nvPr/>
        </p:nvSpPr>
        <p:spPr>
          <a:xfrm>
            <a:off x="9820656" y="1965960"/>
            <a:ext cx="1975104" cy="1389888"/>
          </a:xfrm>
          <a:prstGeom prst="roundRect">
            <a:avLst>
              <a:gd name="adj" fmla="val 7895"/>
            </a:avLst>
          </a:prstGeom>
          <a:solidFill>
            <a:srgbClr val="173747"/>
          </a:solidFill>
          <a:ln w="11430">
            <a:solidFill>
              <a:srgbClr val="173747"/>
            </a:solidFill>
            <a:prstDash val="solid"/>
          </a:ln>
        </p:spPr>
      </p:sp>
      <p:sp>
        <p:nvSpPr>
          <p:cNvPr id="30" name="Shape 28"/>
          <p:cNvSpPr/>
          <p:nvPr/>
        </p:nvSpPr>
        <p:spPr>
          <a:xfrm>
            <a:off x="9976104" y="2130552"/>
            <a:ext cx="429768" cy="265176"/>
          </a:xfrm>
          <a:prstGeom prst="roundRect">
            <a:avLst>
              <a:gd name="adj" fmla="val 41379"/>
            </a:avLst>
          </a:prstGeom>
          <a:solidFill>
            <a:srgbClr val="21505C"/>
          </a:solidFill>
          <a:ln w="12700">
            <a:solidFill>
              <a:srgbClr val="21505C">
                <a:alpha val="0"/>
              </a:srgbClr>
            </a:solidFill>
            <a:prstDash val="solid"/>
          </a:ln>
        </p:spPr>
      </p:sp>
      <p:sp>
        <p:nvSpPr>
          <p:cNvPr id="31" name="Text 29"/>
          <p:cNvSpPr/>
          <p:nvPr/>
        </p:nvSpPr>
        <p:spPr>
          <a:xfrm>
            <a:off x="10049256" y="2144268"/>
            <a:ext cx="283464" cy="219456"/>
          </a:xfrm>
          <a:prstGeom prst="rect">
            <a:avLst/>
          </a:prstGeom>
          <a:noFill/>
          <a:ln/>
        </p:spPr>
        <p:txBody>
          <a:bodyPr wrap="square" lIns="0" tIns="0" rIns="0" bIns="0" rtlCol="0" anchor="ctr">
            <a:normAutofit/>
          </a:bodyPr>
          <a:lstStyle/>
          <a:p>
            <a:pPr algn="ctr" indent="0" marL="0">
              <a:buNone/>
            </a:pPr>
            <a:r>
              <a:rPr lang="en-US" sz="850" b="1" dirty="0">
                <a:solidFill>
                  <a:srgbClr val="A6E0D8"/>
                </a:solidFill>
                <a:latin typeface="Aptos" pitchFamily="34" charset="0"/>
                <a:ea typeface="Aptos" pitchFamily="34" charset="-122"/>
                <a:cs typeface="Aptos" pitchFamily="34" charset="-120"/>
              </a:rPr>
              <a:t>05</a:t>
            </a:r>
            <a:endParaRPr lang="en-US" sz="850" dirty="0"/>
          </a:p>
        </p:txBody>
      </p:sp>
      <p:sp>
        <p:nvSpPr>
          <p:cNvPr id="32" name="Text 30"/>
          <p:cNvSpPr/>
          <p:nvPr/>
        </p:nvSpPr>
        <p:spPr>
          <a:xfrm>
            <a:off x="9985248" y="2532888"/>
            <a:ext cx="1664208" cy="25603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Human review</a:t>
            </a:r>
            <a:endParaRPr lang="en-US" sz="1500" dirty="0"/>
          </a:p>
        </p:txBody>
      </p:sp>
      <p:sp>
        <p:nvSpPr>
          <p:cNvPr id="33" name="Text 31"/>
          <p:cNvSpPr/>
          <p:nvPr/>
        </p:nvSpPr>
        <p:spPr>
          <a:xfrm>
            <a:off x="9985248" y="2862072"/>
            <a:ext cx="1664208" cy="384048"/>
          </a:xfrm>
          <a:prstGeom prst="rect">
            <a:avLst/>
          </a:prstGeom>
          <a:noFill/>
          <a:ln/>
        </p:spPr>
        <p:txBody>
          <a:bodyPr wrap="square" lIns="0" tIns="0" rIns="0" bIns="0" rtlCol="0" anchor="t">
            <a:normAutofit/>
          </a:bodyPr>
          <a:lstStyle/>
          <a:p>
            <a:pPr indent="0" marL="0">
              <a:buNone/>
            </a:pPr>
            <a:r>
              <a:rPr lang="en-US" sz="920" dirty="0">
                <a:solidFill>
                  <a:srgbClr val="C2D4D6"/>
                </a:solidFill>
                <a:latin typeface="Aptos" pitchFamily="34" charset="0"/>
                <a:ea typeface="Aptos" pitchFamily="34" charset="-122"/>
                <a:cs typeface="Aptos" pitchFamily="34" charset="-120"/>
              </a:rPr>
              <a:t>A person decides</a:t>
            </a:r>
            <a:endParaRPr lang="en-US" sz="920" dirty="0"/>
          </a:p>
          <a:p>
            <a:pPr indent="0" marL="0">
              <a:buNone/>
            </a:pPr>
            <a:r>
              <a:rPr lang="en-US" sz="920" dirty="0">
                <a:solidFill>
                  <a:srgbClr val="C2D4D6"/>
                </a:solidFill>
                <a:latin typeface="Aptos" pitchFamily="34" charset="0"/>
                <a:ea typeface="Aptos" pitchFamily="34" charset="-122"/>
                <a:cs typeface="Aptos" pitchFamily="34" charset="-120"/>
              </a:rPr>
              <a:t>approve / reject</a:t>
            </a:r>
            <a:endParaRPr lang="en-US" sz="920" dirty="0"/>
          </a:p>
        </p:txBody>
      </p:sp>
      <p:sp>
        <p:nvSpPr>
          <p:cNvPr id="34" name="Shape 32"/>
          <p:cNvSpPr/>
          <p:nvPr/>
        </p:nvSpPr>
        <p:spPr>
          <a:xfrm>
            <a:off x="713232" y="3822192"/>
            <a:ext cx="5230368" cy="1261872"/>
          </a:xfrm>
          <a:prstGeom prst="roundRect">
            <a:avLst>
              <a:gd name="adj" fmla="val 8696"/>
            </a:avLst>
          </a:prstGeom>
          <a:solidFill>
            <a:srgbClr val="E5F4F2"/>
          </a:solidFill>
          <a:ln w="11430">
            <a:solidFill>
              <a:srgbClr val="D1E9E6"/>
            </a:solidFill>
            <a:prstDash val="solid"/>
          </a:ln>
        </p:spPr>
      </p:sp>
      <p:sp>
        <p:nvSpPr>
          <p:cNvPr id="35" name="Text 33"/>
          <p:cNvSpPr/>
          <p:nvPr/>
        </p:nvSpPr>
        <p:spPr>
          <a:xfrm>
            <a:off x="932688" y="4023360"/>
            <a:ext cx="2651760" cy="192024"/>
          </a:xfrm>
          <a:prstGeom prst="rect">
            <a:avLst/>
          </a:prstGeom>
          <a:noFill/>
          <a:ln/>
        </p:spPr>
        <p:txBody>
          <a:bodyPr wrap="square" lIns="0" tIns="0" rIns="0" bIns="0" rtlCol="0" anchor="ctr">
            <a:normAutofit/>
          </a:bodyPr>
          <a:lstStyle/>
          <a:p>
            <a:pPr indent="0" marL="0">
              <a:buNone/>
            </a:pPr>
            <a:r>
              <a:rPr lang="en-US" sz="850" b="1" dirty="0">
                <a:solidFill>
                  <a:srgbClr val="0D8F89"/>
                </a:solidFill>
                <a:latin typeface="Aptos" pitchFamily="34" charset="0"/>
                <a:ea typeface="Aptos" pitchFamily="34" charset="-122"/>
                <a:cs typeface="Aptos" pitchFamily="34" charset="-120"/>
              </a:rPr>
              <a:t>OPTIONAL LOCAL SPEECH-TO-TEXT</a:t>
            </a:r>
            <a:endParaRPr lang="en-US" sz="850" dirty="0"/>
          </a:p>
        </p:txBody>
      </p:sp>
      <p:sp>
        <p:nvSpPr>
          <p:cNvPr id="36" name="Text 34"/>
          <p:cNvSpPr/>
          <p:nvPr/>
        </p:nvSpPr>
        <p:spPr>
          <a:xfrm>
            <a:off x="932688" y="4361688"/>
            <a:ext cx="4645152" cy="438912"/>
          </a:xfrm>
          <a:prstGeom prst="rect">
            <a:avLst/>
          </a:prstGeom>
          <a:noFill/>
          <a:ln/>
        </p:spPr>
        <p:txBody>
          <a:bodyPr wrap="square" lIns="0" tIns="0" rIns="0" bIns="0" rtlCol="0" anchor="t">
            <a:normAutofit/>
          </a:bodyPr>
          <a:lstStyle/>
          <a:p>
            <a:pPr indent="0" marL="0">
              <a:buNone/>
            </a:pPr>
            <a:r>
              <a:rPr lang="en-US" sz="1030" dirty="0">
                <a:solidFill>
                  <a:srgbClr val="253E4D"/>
                </a:solidFill>
                <a:latin typeface="Aptos" pitchFamily="34" charset="0"/>
                <a:ea typeface="Aptos" pitchFamily="34" charset="-122"/>
                <a:cs typeface="Aptos" pitchFamily="34" charset="-120"/>
              </a:rPr>
              <a:t>faster-whisper can turn audio into draft text when installed. Demo transcript is pre-written; speakers are not identified.</a:t>
            </a:r>
            <a:endParaRPr lang="en-US" sz="1030" dirty="0"/>
          </a:p>
        </p:txBody>
      </p:sp>
      <p:sp>
        <p:nvSpPr>
          <p:cNvPr id="37" name="Shape 35"/>
          <p:cNvSpPr/>
          <p:nvPr/>
        </p:nvSpPr>
        <p:spPr>
          <a:xfrm>
            <a:off x="6199632" y="3822192"/>
            <a:ext cx="5230368" cy="1261872"/>
          </a:xfrm>
          <a:prstGeom prst="roundRect">
            <a:avLst>
              <a:gd name="adj" fmla="val 8696"/>
            </a:avLst>
          </a:prstGeom>
          <a:solidFill>
            <a:srgbClr val="FFF4E2"/>
          </a:solidFill>
          <a:ln w="11430">
            <a:solidFill>
              <a:srgbClr val="EBD9B9"/>
            </a:solidFill>
            <a:prstDash val="solid"/>
          </a:ln>
        </p:spPr>
      </p:sp>
      <p:sp>
        <p:nvSpPr>
          <p:cNvPr id="38" name="Text 36"/>
          <p:cNvSpPr/>
          <p:nvPr/>
        </p:nvSpPr>
        <p:spPr>
          <a:xfrm>
            <a:off x="6419088" y="4023360"/>
            <a:ext cx="2560320" cy="192024"/>
          </a:xfrm>
          <a:prstGeom prst="rect">
            <a:avLst/>
          </a:prstGeom>
          <a:noFill/>
          <a:ln/>
        </p:spPr>
        <p:txBody>
          <a:bodyPr wrap="square" lIns="0" tIns="0" rIns="0" bIns="0" rtlCol="0" anchor="ctr">
            <a:normAutofit/>
          </a:bodyPr>
          <a:lstStyle/>
          <a:p>
            <a:pPr indent="0" marL="0">
              <a:buNone/>
            </a:pPr>
            <a:r>
              <a:rPr lang="en-US" sz="850" b="1" dirty="0">
                <a:solidFill>
                  <a:srgbClr val="946A2E"/>
                </a:solidFill>
                <a:latin typeface="Aptos" pitchFamily="34" charset="0"/>
                <a:ea typeface="Aptos" pitchFamily="34" charset="-122"/>
                <a:cs typeface="Aptos" pitchFamily="34" charset="-120"/>
              </a:rPr>
              <a:t>OPTIONAL LOCAL WRITING MODEL</a:t>
            </a:r>
            <a:endParaRPr lang="en-US" sz="850" dirty="0"/>
          </a:p>
        </p:txBody>
      </p:sp>
      <p:sp>
        <p:nvSpPr>
          <p:cNvPr id="39" name="Text 37"/>
          <p:cNvSpPr/>
          <p:nvPr/>
        </p:nvSpPr>
        <p:spPr>
          <a:xfrm>
            <a:off x="6419088" y="4361688"/>
            <a:ext cx="4645152" cy="438912"/>
          </a:xfrm>
          <a:prstGeom prst="rect">
            <a:avLst/>
          </a:prstGeom>
          <a:noFill/>
          <a:ln/>
        </p:spPr>
        <p:txBody>
          <a:bodyPr wrap="square" lIns="0" tIns="0" rIns="0" bIns="0" rtlCol="0" anchor="t">
            <a:normAutofit/>
          </a:bodyPr>
          <a:lstStyle/>
          <a:p>
            <a:pPr indent="0" marL="0">
              <a:buNone/>
            </a:pPr>
            <a:r>
              <a:rPr lang="en-US" sz="1030" dirty="0">
                <a:solidFill>
                  <a:srgbClr val="253E4D"/>
                </a:solidFill>
                <a:latin typeface="Aptos" pitchFamily="34" charset="0"/>
                <a:ea typeface="Aptos" pitchFamily="34" charset="-122"/>
                <a:cs typeface="Aptos" pitchFamily="34" charset="-120"/>
              </a:rPr>
              <a:t>Ollama may reword an action draft only. It cannot create a finding, change a source link, or make a reviewer decision.</a:t>
            </a:r>
            <a:endParaRPr lang="en-US" sz="1030" dirty="0"/>
          </a:p>
        </p:txBody>
      </p:sp>
      <p:sp>
        <p:nvSpPr>
          <p:cNvPr id="40" name="Text 38"/>
          <p:cNvSpPr/>
          <p:nvPr/>
        </p:nvSpPr>
        <p:spPr>
          <a:xfrm>
            <a:off x="777240" y="5623560"/>
            <a:ext cx="8686800" cy="256032"/>
          </a:xfrm>
          <a:prstGeom prst="rect">
            <a:avLst/>
          </a:prstGeom>
          <a:noFill/>
          <a:ln/>
        </p:spPr>
        <p:txBody>
          <a:bodyPr wrap="square" lIns="0" tIns="0" rIns="0" bIns="0" rtlCol="0" anchor="ctr">
            <a:normAutofit/>
          </a:bodyPr>
          <a:lstStyle/>
          <a:p>
            <a:pPr indent="0" marL="0">
              <a:buNone/>
            </a:pPr>
            <a:r>
              <a:rPr lang="en-US" sz="1100" b="1" dirty="0">
                <a:solidFill>
                  <a:srgbClr val="173747"/>
                </a:solidFill>
                <a:latin typeface="Aptos" pitchFamily="34" charset="0"/>
                <a:ea typeface="Aptos" pitchFamily="34" charset="-122"/>
                <a:cs typeface="Aptos" pitchFamily="34" charset="-120"/>
              </a:rPr>
              <a:t>Same evidence + same rules produce a repeatable draft. The evaluator still decides.</a:t>
            </a:r>
            <a:endParaRPr lang="en-US" sz="1100" dirty="0"/>
          </a:p>
        </p:txBody>
      </p:sp>
      <p:sp>
        <p:nvSpPr>
          <p:cNvPr id="25" name="Slide Number Placeholder 0"/>
          <p:cNvSpPr>
            <a:spLocks noGrp="1"/>
          </p:cNvSpPr>
          <p:nvPr>
            <p:ph type="sldNum" sz="quarter" idx="4294967295"/>
          </p:nvPr>
        </p:nvSpPr>
        <p:spPr>
          <a:xfrm>
            <a:off x="11768328" y="6556248"/>
            <a:ext cx="182880" cy="164592"/>
          </a:xfrm>
          <a:prstGeom prst="rect">
            <a:avLst/>
          </a:prstGeom>
          <a:extLst>
            <a:ext uri="{C572A759-6A51-4108-AA02-DFA0A04FC94B}">
              <ma14:wrappingTextBoxFlag xmlns:ma14="http://schemas.microsoft.com/office/mac/drawingml/2011/main" val="0"/>
            </a:ext>
          </a:extLst>
        </p:spPr>
        <p:txBody>
          <a:bodyPr/>
          <a:lstStyle>
            <a:lvl1pPr>
              <a:defRPr sz="700">
                <a:solidFill>
                  <a:srgbClr val="6C808B"/>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329184"/>
            <a:ext cx="10789920" cy="219456"/>
          </a:xfrm>
          <a:prstGeom prst="rect">
            <a:avLst/>
          </a:prstGeom>
          <a:noFill/>
          <a:ln/>
        </p:spPr>
        <p:txBody>
          <a:bodyPr wrap="square" lIns="0" tIns="0" rIns="0" bIns="0" rtlCol="0" anchor="ctr">
            <a:normAutofit/>
          </a:bodyPr>
          <a:lstStyle/>
          <a:p>
            <a:pPr indent="0" marL="0">
              <a:buNone/>
            </a:pPr>
            <a:r>
              <a:rPr lang="en-US" sz="900" b="1" spc="120" kern="0" dirty="0">
                <a:solidFill>
                  <a:srgbClr val="0D8F89"/>
                </a:solidFill>
                <a:latin typeface="Aptos" pitchFamily="34" charset="0"/>
                <a:ea typeface="Aptos" pitchFamily="34" charset="-122"/>
                <a:cs typeface="Aptos" pitchFamily="34" charset="-120"/>
              </a:rPr>
              <a:t>CORRECTIVE ACTION MANAGEMENT</a:t>
            </a:r>
            <a:endParaRPr lang="en-US" sz="900" dirty="0"/>
          </a:p>
        </p:txBody>
      </p:sp>
      <p:sp>
        <p:nvSpPr>
          <p:cNvPr id="3" name="Text 1"/>
          <p:cNvSpPr/>
          <p:nvPr/>
        </p:nvSpPr>
        <p:spPr>
          <a:xfrm>
            <a:off x="594360" y="640080"/>
            <a:ext cx="10972800" cy="475488"/>
          </a:xfrm>
          <a:prstGeom prst="rect">
            <a:avLst/>
          </a:prstGeom>
          <a:noFill/>
          <a:ln/>
        </p:spPr>
        <p:txBody>
          <a:bodyPr wrap="square" lIns="0" tIns="0" rIns="0" bIns="0" rtlCol="0" anchor="ctr">
            <a:normAutofit/>
          </a:bodyPr>
          <a:lstStyle/>
          <a:p>
            <a:pPr indent="0" marL="0">
              <a:buNone/>
            </a:pPr>
            <a:r>
              <a:rPr lang="en-US" sz="2600" b="1" dirty="0">
                <a:solidFill>
                  <a:srgbClr val="173747"/>
                </a:solidFill>
                <a:latin typeface="Aptos Display" pitchFamily="34" charset="0"/>
                <a:ea typeface="Aptos Display" pitchFamily="34" charset="-122"/>
                <a:cs typeface="Aptos Display" pitchFamily="34" charset="-120"/>
              </a:rPr>
              <a:t>A finding stays open until its improvement is checked</a:t>
            </a:r>
            <a:endParaRPr lang="en-US" sz="2600" dirty="0"/>
          </a:p>
        </p:txBody>
      </p:sp>
      <p:sp>
        <p:nvSpPr>
          <p:cNvPr id="4" name="Text 2"/>
          <p:cNvSpPr/>
          <p:nvPr/>
        </p:nvSpPr>
        <p:spPr>
          <a:xfrm>
            <a:off x="612648" y="1133856"/>
            <a:ext cx="10881360" cy="310896"/>
          </a:xfrm>
          <a:prstGeom prst="rect">
            <a:avLst/>
          </a:prstGeom>
          <a:noFill/>
          <a:ln/>
        </p:spPr>
        <p:txBody>
          <a:bodyPr wrap="square" lIns="0" tIns="0" rIns="0" bIns="0" rtlCol="0" anchor="ctr">
            <a:normAutofit/>
          </a:bodyPr>
          <a:lstStyle/>
          <a:p>
            <a:pPr indent="0" marL="0">
              <a:buNone/>
            </a:pPr>
            <a:r>
              <a:rPr lang="en-US" sz="1130" dirty="0">
                <a:solidFill>
                  <a:srgbClr val="6C808B"/>
                </a:solidFill>
                <a:latin typeface="Aptos" pitchFamily="34" charset="0"/>
                <a:ea typeface="Aptos" pitchFamily="34" charset="-122"/>
                <a:cs typeface="Aptos" pitchFamily="34" charset="-120"/>
              </a:rPr>
              <a:t>Every action needs an owner, a due date, a clear test for completion, and reviewer confirmation.</a:t>
            </a:r>
            <a:endParaRPr lang="en-US" sz="1130" dirty="0"/>
          </a:p>
        </p:txBody>
      </p:sp>
      <p:sp>
        <p:nvSpPr>
          <p:cNvPr id="5" name="Shape 3"/>
          <p:cNvSpPr/>
          <p:nvPr/>
        </p:nvSpPr>
        <p:spPr>
          <a:xfrm>
            <a:off x="658368" y="1682496"/>
            <a:ext cx="7315200" cy="4498848"/>
          </a:xfrm>
          <a:prstGeom prst="roundRect">
            <a:avLst>
              <a:gd name="adj" fmla="val 2439"/>
            </a:avLst>
          </a:prstGeom>
          <a:solidFill>
            <a:srgbClr val="FFFFFF"/>
          </a:solidFill>
          <a:ln w="11430">
            <a:solidFill>
              <a:srgbClr val="DCE7E8"/>
            </a:solidFill>
            <a:prstDash val="solid"/>
          </a:ln>
        </p:spPr>
      </p:sp>
      <p:pic>
        <p:nvPicPr>
          <p:cNvPr id="6" name="Image 0" descr="/Users/deepesh.agrawal/Documents/exp/Presight_Eureka_3/DrillLoop/assets/DrillLoop_Demo_Actions.png">    </p:cNvPr>
          <p:cNvPicPr>
            <a:picLocks noChangeAspect="1"/>
          </p:cNvPicPr>
          <p:nvPr/>
        </p:nvPicPr>
        <p:blipFill>
          <a:blip r:embed="rId1"/>
          <a:stretch>
            <a:fillRect/>
          </a:stretch>
        </p:blipFill>
        <p:spPr>
          <a:xfrm>
            <a:off x="1177082" y="1764792"/>
            <a:ext cx="6277772" cy="4315968"/>
          </a:xfrm>
          <a:prstGeom prst="rect">
            <a:avLst/>
          </a:prstGeom>
        </p:spPr>
      </p:pic>
      <p:sp>
        <p:nvSpPr>
          <p:cNvPr id="7" name="Shape 4"/>
          <p:cNvSpPr/>
          <p:nvPr/>
        </p:nvSpPr>
        <p:spPr>
          <a:xfrm>
            <a:off x="8394192" y="1892808"/>
            <a:ext cx="164592" cy="164592"/>
          </a:xfrm>
          <a:prstGeom prst="ellipse">
            <a:avLst/>
          </a:prstGeom>
          <a:solidFill>
            <a:srgbClr val="0D8F89"/>
          </a:solidFill>
          <a:ln w="12700">
            <a:solidFill>
              <a:srgbClr val="0D8F89">
                <a:alpha val="0"/>
              </a:srgbClr>
            </a:solidFill>
            <a:prstDash val="solid"/>
          </a:ln>
        </p:spPr>
      </p:sp>
      <p:sp>
        <p:nvSpPr>
          <p:cNvPr id="8" name="Shape 5"/>
          <p:cNvSpPr/>
          <p:nvPr/>
        </p:nvSpPr>
        <p:spPr>
          <a:xfrm>
            <a:off x="8476488" y="2057400"/>
            <a:ext cx="0" cy="521208"/>
          </a:xfrm>
          <a:prstGeom prst="line">
            <a:avLst/>
          </a:prstGeom>
          <a:noFill/>
          <a:ln w="17780">
            <a:solidFill>
              <a:srgbClr val="BFD2D3"/>
            </a:solidFill>
            <a:prstDash val="solid"/>
          </a:ln>
        </p:spPr>
      </p:sp>
      <p:sp>
        <p:nvSpPr>
          <p:cNvPr id="9" name="Text 6"/>
          <p:cNvSpPr/>
          <p:nvPr/>
        </p:nvSpPr>
        <p:spPr>
          <a:xfrm>
            <a:off x="8741664" y="1828800"/>
            <a:ext cx="2240280" cy="228600"/>
          </a:xfrm>
          <a:prstGeom prst="rect">
            <a:avLst/>
          </a:prstGeom>
          <a:noFill/>
          <a:ln/>
        </p:spPr>
        <p:txBody>
          <a:bodyPr wrap="square" lIns="0" tIns="0" rIns="0" bIns="0" rtlCol="0" anchor="ctr">
            <a:normAutofit/>
          </a:bodyPr>
          <a:lstStyle/>
          <a:p>
            <a:pPr indent="0" marL="0">
              <a:buNone/>
            </a:pPr>
            <a:r>
              <a:rPr lang="en-US" sz="1100" b="1" dirty="0">
                <a:solidFill>
                  <a:srgbClr val="173747"/>
                </a:solidFill>
                <a:latin typeface="Aptos" pitchFamily="34" charset="0"/>
                <a:ea typeface="Aptos" pitchFamily="34" charset="-122"/>
                <a:cs typeface="Aptos" pitchFamily="34" charset="-120"/>
              </a:rPr>
              <a:t>Proposed</a:t>
            </a:r>
            <a:endParaRPr lang="en-US" sz="1100" dirty="0"/>
          </a:p>
        </p:txBody>
      </p:sp>
      <p:sp>
        <p:nvSpPr>
          <p:cNvPr id="10" name="Text 7"/>
          <p:cNvSpPr/>
          <p:nvPr/>
        </p:nvSpPr>
        <p:spPr>
          <a:xfrm>
            <a:off x="8741664" y="2093976"/>
            <a:ext cx="2514600" cy="228600"/>
          </a:xfrm>
          <a:prstGeom prst="rect">
            <a:avLst/>
          </a:prstGeom>
          <a:noFill/>
          <a:ln/>
        </p:spPr>
        <p:txBody>
          <a:bodyPr wrap="square" lIns="0" tIns="0" rIns="0" bIns="0" rtlCol="0" anchor="ctr">
            <a:normAutofit/>
          </a:bodyPr>
          <a:lstStyle/>
          <a:p>
            <a:pPr indent="0" marL="0">
              <a:buNone/>
            </a:pPr>
            <a:r>
              <a:rPr lang="en-US" sz="920" dirty="0">
                <a:solidFill>
                  <a:srgbClr val="6C808B"/>
                </a:solidFill>
                <a:latin typeface="Aptos" pitchFamily="34" charset="0"/>
                <a:ea typeface="Aptos" pitchFamily="34" charset="-122"/>
                <a:cs typeface="Aptos" pitchFamily="34" charset="-120"/>
              </a:rPr>
              <a:t>Finding awaiting review</a:t>
            </a:r>
            <a:endParaRPr lang="en-US" sz="920" dirty="0"/>
          </a:p>
        </p:txBody>
      </p:sp>
      <p:sp>
        <p:nvSpPr>
          <p:cNvPr id="11" name="Shape 8"/>
          <p:cNvSpPr/>
          <p:nvPr/>
        </p:nvSpPr>
        <p:spPr>
          <a:xfrm>
            <a:off x="8394192" y="2642616"/>
            <a:ext cx="164592" cy="164592"/>
          </a:xfrm>
          <a:prstGeom prst="ellipse">
            <a:avLst/>
          </a:prstGeom>
          <a:solidFill>
            <a:srgbClr val="0D8F89"/>
          </a:solidFill>
          <a:ln w="12700">
            <a:solidFill>
              <a:srgbClr val="0D8F89">
                <a:alpha val="0"/>
              </a:srgbClr>
            </a:solidFill>
            <a:prstDash val="solid"/>
          </a:ln>
        </p:spPr>
      </p:sp>
      <p:sp>
        <p:nvSpPr>
          <p:cNvPr id="12" name="Shape 9"/>
          <p:cNvSpPr/>
          <p:nvPr/>
        </p:nvSpPr>
        <p:spPr>
          <a:xfrm>
            <a:off x="8476488" y="2807208"/>
            <a:ext cx="0" cy="521208"/>
          </a:xfrm>
          <a:prstGeom prst="line">
            <a:avLst/>
          </a:prstGeom>
          <a:noFill/>
          <a:ln w="17780">
            <a:solidFill>
              <a:srgbClr val="BFD2D3"/>
            </a:solidFill>
            <a:prstDash val="solid"/>
          </a:ln>
        </p:spPr>
      </p:sp>
      <p:sp>
        <p:nvSpPr>
          <p:cNvPr id="13" name="Text 10"/>
          <p:cNvSpPr/>
          <p:nvPr/>
        </p:nvSpPr>
        <p:spPr>
          <a:xfrm>
            <a:off x="8741664" y="2578608"/>
            <a:ext cx="2240280" cy="228600"/>
          </a:xfrm>
          <a:prstGeom prst="rect">
            <a:avLst/>
          </a:prstGeom>
          <a:noFill/>
          <a:ln/>
        </p:spPr>
        <p:txBody>
          <a:bodyPr wrap="square" lIns="0" tIns="0" rIns="0" bIns="0" rtlCol="0" anchor="ctr">
            <a:normAutofit/>
          </a:bodyPr>
          <a:lstStyle/>
          <a:p>
            <a:pPr indent="0" marL="0">
              <a:buNone/>
            </a:pPr>
            <a:r>
              <a:rPr lang="en-US" sz="1100" b="1" dirty="0">
                <a:solidFill>
                  <a:srgbClr val="173747"/>
                </a:solidFill>
                <a:latin typeface="Aptos" pitchFamily="34" charset="0"/>
                <a:ea typeface="Aptos" pitchFamily="34" charset="-122"/>
                <a:cs typeface="Aptos" pitchFamily="34" charset="-120"/>
              </a:rPr>
              <a:t>Assigned</a:t>
            </a:r>
            <a:endParaRPr lang="en-US" sz="1100" dirty="0"/>
          </a:p>
        </p:txBody>
      </p:sp>
      <p:sp>
        <p:nvSpPr>
          <p:cNvPr id="14" name="Text 11"/>
          <p:cNvSpPr/>
          <p:nvPr/>
        </p:nvSpPr>
        <p:spPr>
          <a:xfrm>
            <a:off x="8741664" y="2843784"/>
            <a:ext cx="2514600" cy="228600"/>
          </a:xfrm>
          <a:prstGeom prst="rect">
            <a:avLst/>
          </a:prstGeom>
          <a:noFill/>
          <a:ln/>
        </p:spPr>
        <p:txBody>
          <a:bodyPr wrap="square" lIns="0" tIns="0" rIns="0" bIns="0" rtlCol="0" anchor="ctr">
            <a:normAutofit/>
          </a:bodyPr>
          <a:lstStyle/>
          <a:p>
            <a:pPr indent="0" marL="0">
              <a:buNone/>
            </a:pPr>
            <a:r>
              <a:rPr lang="en-US" sz="920" dirty="0">
                <a:solidFill>
                  <a:srgbClr val="6C808B"/>
                </a:solidFill>
                <a:latin typeface="Aptos" pitchFamily="34" charset="0"/>
                <a:ea typeface="Aptos" pitchFamily="34" charset="-122"/>
                <a:cs typeface="Aptos" pitchFamily="34" charset="-120"/>
              </a:rPr>
              <a:t>Owner + due date</a:t>
            </a:r>
            <a:endParaRPr lang="en-US" sz="920" dirty="0"/>
          </a:p>
        </p:txBody>
      </p:sp>
      <p:sp>
        <p:nvSpPr>
          <p:cNvPr id="15" name="Shape 12"/>
          <p:cNvSpPr/>
          <p:nvPr/>
        </p:nvSpPr>
        <p:spPr>
          <a:xfrm>
            <a:off x="8394192" y="3392424"/>
            <a:ext cx="164592" cy="164592"/>
          </a:xfrm>
          <a:prstGeom prst="ellipse">
            <a:avLst/>
          </a:prstGeom>
          <a:solidFill>
            <a:srgbClr val="0D8F89"/>
          </a:solidFill>
          <a:ln w="12700">
            <a:solidFill>
              <a:srgbClr val="0D8F89">
                <a:alpha val="0"/>
              </a:srgbClr>
            </a:solidFill>
            <a:prstDash val="solid"/>
          </a:ln>
        </p:spPr>
      </p:sp>
      <p:sp>
        <p:nvSpPr>
          <p:cNvPr id="16" name="Shape 13"/>
          <p:cNvSpPr/>
          <p:nvPr/>
        </p:nvSpPr>
        <p:spPr>
          <a:xfrm>
            <a:off x="8476488" y="3557016"/>
            <a:ext cx="0" cy="521208"/>
          </a:xfrm>
          <a:prstGeom prst="line">
            <a:avLst/>
          </a:prstGeom>
          <a:noFill/>
          <a:ln w="17780">
            <a:solidFill>
              <a:srgbClr val="BFD2D3"/>
            </a:solidFill>
            <a:prstDash val="solid"/>
          </a:ln>
        </p:spPr>
      </p:sp>
      <p:sp>
        <p:nvSpPr>
          <p:cNvPr id="17" name="Text 14"/>
          <p:cNvSpPr/>
          <p:nvPr/>
        </p:nvSpPr>
        <p:spPr>
          <a:xfrm>
            <a:off x="8741664" y="3328416"/>
            <a:ext cx="2240280" cy="228600"/>
          </a:xfrm>
          <a:prstGeom prst="rect">
            <a:avLst/>
          </a:prstGeom>
          <a:noFill/>
          <a:ln/>
        </p:spPr>
        <p:txBody>
          <a:bodyPr wrap="square" lIns="0" tIns="0" rIns="0" bIns="0" rtlCol="0" anchor="ctr">
            <a:normAutofit/>
          </a:bodyPr>
          <a:lstStyle/>
          <a:p>
            <a:pPr indent="0" marL="0">
              <a:buNone/>
            </a:pPr>
            <a:r>
              <a:rPr lang="en-US" sz="1100" b="1" dirty="0">
                <a:solidFill>
                  <a:srgbClr val="173747"/>
                </a:solidFill>
                <a:latin typeface="Aptos" pitchFamily="34" charset="0"/>
                <a:ea typeface="Aptos" pitchFamily="34" charset="-122"/>
                <a:cs typeface="Aptos" pitchFamily="34" charset="-120"/>
              </a:rPr>
              <a:t>In progress</a:t>
            </a:r>
            <a:endParaRPr lang="en-US" sz="1100" dirty="0"/>
          </a:p>
        </p:txBody>
      </p:sp>
      <p:sp>
        <p:nvSpPr>
          <p:cNvPr id="18" name="Text 15"/>
          <p:cNvSpPr/>
          <p:nvPr/>
        </p:nvSpPr>
        <p:spPr>
          <a:xfrm>
            <a:off x="8741664" y="3593592"/>
            <a:ext cx="2514600" cy="228600"/>
          </a:xfrm>
          <a:prstGeom prst="rect">
            <a:avLst/>
          </a:prstGeom>
          <a:noFill/>
          <a:ln/>
        </p:spPr>
        <p:txBody>
          <a:bodyPr wrap="square" lIns="0" tIns="0" rIns="0" bIns="0" rtlCol="0" anchor="ctr">
            <a:normAutofit/>
          </a:bodyPr>
          <a:lstStyle/>
          <a:p>
            <a:pPr indent="0" marL="0">
              <a:buNone/>
            </a:pPr>
            <a:r>
              <a:rPr lang="en-US" sz="920" dirty="0">
                <a:solidFill>
                  <a:srgbClr val="6C808B"/>
                </a:solidFill>
                <a:latin typeface="Aptos" pitchFamily="34" charset="0"/>
                <a:ea typeface="Aptos" pitchFamily="34" charset="-122"/>
                <a:cs typeface="Aptos" pitchFamily="34" charset="-120"/>
              </a:rPr>
              <a:t>Acceptance criteria</a:t>
            </a:r>
            <a:endParaRPr lang="en-US" sz="920" dirty="0"/>
          </a:p>
        </p:txBody>
      </p:sp>
      <p:sp>
        <p:nvSpPr>
          <p:cNvPr id="19" name="Shape 16"/>
          <p:cNvSpPr/>
          <p:nvPr/>
        </p:nvSpPr>
        <p:spPr>
          <a:xfrm>
            <a:off x="8394192" y="4142232"/>
            <a:ext cx="164592" cy="164592"/>
          </a:xfrm>
          <a:prstGeom prst="ellipse">
            <a:avLst/>
          </a:prstGeom>
          <a:solidFill>
            <a:srgbClr val="0D8F89"/>
          </a:solidFill>
          <a:ln w="12700">
            <a:solidFill>
              <a:srgbClr val="0D8F89">
                <a:alpha val="0"/>
              </a:srgbClr>
            </a:solidFill>
            <a:prstDash val="solid"/>
          </a:ln>
        </p:spPr>
      </p:sp>
      <p:sp>
        <p:nvSpPr>
          <p:cNvPr id="20" name="Shape 17"/>
          <p:cNvSpPr/>
          <p:nvPr/>
        </p:nvSpPr>
        <p:spPr>
          <a:xfrm>
            <a:off x="8476488" y="4306824"/>
            <a:ext cx="0" cy="521208"/>
          </a:xfrm>
          <a:prstGeom prst="line">
            <a:avLst/>
          </a:prstGeom>
          <a:noFill/>
          <a:ln w="17780">
            <a:solidFill>
              <a:srgbClr val="BFD2D3"/>
            </a:solidFill>
            <a:prstDash val="solid"/>
          </a:ln>
        </p:spPr>
      </p:sp>
      <p:sp>
        <p:nvSpPr>
          <p:cNvPr id="21" name="Text 18"/>
          <p:cNvSpPr/>
          <p:nvPr/>
        </p:nvSpPr>
        <p:spPr>
          <a:xfrm>
            <a:off x="8741664" y="4078224"/>
            <a:ext cx="2240280" cy="228600"/>
          </a:xfrm>
          <a:prstGeom prst="rect">
            <a:avLst/>
          </a:prstGeom>
          <a:noFill/>
          <a:ln/>
        </p:spPr>
        <p:txBody>
          <a:bodyPr wrap="square" lIns="0" tIns="0" rIns="0" bIns="0" rtlCol="0" anchor="ctr">
            <a:normAutofit/>
          </a:bodyPr>
          <a:lstStyle/>
          <a:p>
            <a:pPr indent="0" marL="0">
              <a:buNone/>
            </a:pPr>
            <a:r>
              <a:rPr lang="en-US" sz="1100" b="1" dirty="0">
                <a:solidFill>
                  <a:srgbClr val="173747"/>
                </a:solidFill>
                <a:latin typeface="Aptos" pitchFamily="34" charset="0"/>
                <a:ea typeface="Aptos" pitchFamily="34" charset="-122"/>
                <a:cs typeface="Aptos" pitchFamily="34" charset="-120"/>
              </a:rPr>
              <a:t>Closure review</a:t>
            </a:r>
            <a:endParaRPr lang="en-US" sz="1100" dirty="0"/>
          </a:p>
        </p:txBody>
      </p:sp>
      <p:sp>
        <p:nvSpPr>
          <p:cNvPr id="22" name="Text 19"/>
          <p:cNvSpPr/>
          <p:nvPr/>
        </p:nvSpPr>
        <p:spPr>
          <a:xfrm>
            <a:off x="8741664" y="4343400"/>
            <a:ext cx="2514600" cy="228600"/>
          </a:xfrm>
          <a:prstGeom prst="rect">
            <a:avLst/>
          </a:prstGeom>
          <a:noFill/>
          <a:ln/>
        </p:spPr>
        <p:txBody>
          <a:bodyPr wrap="square" lIns="0" tIns="0" rIns="0" bIns="0" rtlCol="0" anchor="ctr">
            <a:normAutofit/>
          </a:bodyPr>
          <a:lstStyle/>
          <a:p>
            <a:pPr indent="0" marL="0">
              <a:buNone/>
            </a:pPr>
            <a:r>
              <a:rPr lang="en-US" sz="920" dirty="0">
                <a:solidFill>
                  <a:srgbClr val="6C808B"/>
                </a:solidFill>
                <a:latin typeface="Aptos" pitchFamily="34" charset="0"/>
                <a:ea typeface="Aptos" pitchFamily="34" charset="-122"/>
                <a:cs typeface="Aptos" pitchFamily="34" charset="-120"/>
              </a:rPr>
              <a:t>Attach completion proof</a:t>
            </a:r>
            <a:endParaRPr lang="en-US" sz="920" dirty="0"/>
          </a:p>
        </p:txBody>
      </p:sp>
      <p:sp>
        <p:nvSpPr>
          <p:cNvPr id="23" name="Shape 20"/>
          <p:cNvSpPr/>
          <p:nvPr/>
        </p:nvSpPr>
        <p:spPr>
          <a:xfrm>
            <a:off x="8394192" y="4892040"/>
            <a:ext cx="164592" cy="164592"/>
          </a:xfrm>
          <a:prstGeom prst="ellipse">
            <a:avLst/>
          </a:prstGeom>
          <a:solidFill>
            <a:srgbClr val="368576"/>
          </a:solidFill>
          <a:ln w="12700">
            <a:solidFill>
              <a:srgbClr val="368576">
                <a:alpha val="0"/>
              </a:srgbClr>
            </a:solidFill>
            <a:prstDash val="solid"/>
          </a:ln>
        </p:spPr>
      </p:sp>
      <p:sp>
        <p:nvSpPr>
          <p:cNvPr id="24" name="Text 21"/>
          <p:cNvSpPr/>
          <p:nvPr/>
        </p:nvSpPr>
        <p:spPr>
          <a:xfrm>
            <a:off x="8741664" y="4828032"/>
            <a:ext cx="2240280" cy="228600"/>
          </a:xfrm>
          <a:prstGeom prst="rect">
            <a:avLst/>
          </a:prstGeom>
          <a:noFill/>
          <a:ln/>
        </p:spPr>
        <p:txBody>
          <a:bodyPr wrap="square" lIns="0" tIns="0" rIns="0" bIns="0" rtlCol="0" anchor="ctr">
            <a:normAutofit/>
          </a:bodyPr>
          <a:lstStyle/>
          <a:p>
            <a:pPr indent="0" marL="0">
              <a:buNone/>
            </a:pPr>
            <a:r>
              <a:rPr lang="en-US" sz="1100" b="1" dirty="0">
                <a:solidFill>
                  <a:srgbClr val="173747"/>
                </a:solidFill>
                <a:latin typeface="Aptos" pitchFamily="34" charset="0"/>
                <a:ea typeface="Aptos" pitchFamily="34" charset="-122"/>
                <a:cs typeface="Aptos" pitchFamily="34" charset="-120"/>
              </a:rPr>
              <a:t>Closed</a:t>
            </a:r>
            <a:endParaRPr lang="en-US" sz="1100" dirty="0"/>
          </a:p>
        </p:txBody>
      </p:sp>
      <p:sp>
        <p:nvSpPr>
          <p:cNvPr id="25" name="Text 22"/>
          <p:cNvSpPr/>
          <p:nvPr/>
        </p:nvSpPr>
        <p:spPr>
          <a:xfrm>
            <a:off x="8741664" y="5093208"/>
            <a:ext cx="2514600" cy="228600"/>
          </a:xfrm>
          <a:prstGeom prst="rect">
            <a:avLst/>
          </a:prstGeom>
          <a:noFill/>
          <a:ln/>
        </p:spPr>
        <p:txBody>
          <a:bodyPr wrap="square" lIns="0" tIns="0" rIns="0" bIns="0" rtlCol="0" anchor="ctr">
            <a:normAutofit/>
          </a:bodyPr>
          <a:lstStyle/>
          <a:p>
            <a:pPr indent="0" marL="0">
              <a:buNone/>
            </a:pPr>
            <a:r>
              <a:rPr lang="en-US" sz="920" dirty="0">
                <a:solidFill>
                  <a:srgbClr val="6C808B"/>
                </a:solidFill>
                <a:latin typeface="Aptos" pitchFamily="34" charset="0"/>
                <a:ea typeface="Aptos" pitchFamily="34" charset="-122"/>
                <a:cs typeface="Aptos" pitchFamily="34" charset="-120"/>
              </a:rPr>
              <a:t>Reviewer confirms</a:t>
            </a:r>
            <a:endParaRPr lang="en-US" sz="920" dirty="0"/>
          </a:p>
        </p:txBody>
      </p:sp>
      <p:sp>
        <p:nvSpPr>
          <p:cNvPr id="26" name="Shape 23"/>
          <p:cNvSpPr/>
          <p:nvPr/>
        </p:nvSpPr>
        <p:spPr>
          <a:xfrm>
            <a:off x="8247888" y="5650992"/>
            <a:ext cx="2880360" cy="493776"/>
          </a:xfrm>
          <a:prstGeom prst="roundRect">
            <a:avLst>
              <a:gd name="adj" fmla="val 22222"/>
            </a:avLst>
          </a:prstGeom>
          <a:solidFill>
            <a:srgbClr val="FFF4E2"/>
          </a:solidFill>
          <a:ln w="11430">
            <a:solidFill>
              <a:srgbClr val="EBD9B9"/>
            </a:solidFill>
            <a:prstDash val="solid"/>
          </a:ln>
        </p:spPr>
      </p:sp>
      <p:sp>
        <p:nvSpPr>
          <p:cNvPr id="27" name="Text 24"/>
          <p:cNvSpPr/>
          <p:nvPr/>
        </p:nvSpPr>
        <p:spPr>
          <a:xfrm>
            <a:off x="8412480" y="5769864"/>
            <a:ext cx="2560320" cy="201168"/>
          </a:xfrm>
          <a:prstGeom prst="rect">
            <a:avLst/>
          </a:prstGeom>
          <a:noFill/>
          <a:ln/>
        </p:spPr>
        <p:txBody>
          <a:bodyPr wrap="square" lIns="0" tIns="0" rIns="0" bIns="0" rtlCol="0" anchor="ctr">
            <a:normAutofit/>
          </a:bodyPr>
          <a:lstStyle/>
          <a:p>
            <a:pPr indent="0" marL="0">
              <a:buNone/>
            </a:pPr>
            <a:r>
              <a:rPr lang="en-US" sz="900" b="1" dirty="0">
                <a:solidFill>
                  <a:srgbClr val="946A2E"/>
                </a:solidFill>
                <a:latin typeface="Aptos" pitchFamily="34" charset="0"/>
                <a:ea typeface="Aptos" pitchFamily="34" charset="-122"/>
                <a:cs typeface="Aptos" pitchFamily="34" charset="-120"/>
              </a:rPr>
              <a:t>Missing owner stays unassigned.</a:t>
            </a:r>
            <a:endParaRPr lang="en-US" sz="900" dirty="0"/>
          </a:p>
        </p:txBody>
      </p:sp>
      <p:sp>
        <p:nvSpPr>
          <p:cNvPr id="25" name="Slide Number Placeholder 0"/>
          <p:cNvSpPr>
            <a:spLocks noGrp="1"/>
          </p:cNvSpPr>
          <p:nvPr>
            <p:ph type="sldNum" sz="quarter" idx="4294967295"/>
          </p:nvPr>
        </p:nvSpPr>
        <p:spPr>
          <a:xfrm>
            <a:off x="11768328" y="6556248"/>
            <a:ext cx="182880" cy="164592"/>
          </a:xfrm>
          <a:prstGeom prst="rect">
            <a:avLst/>
          </a:prstGeom>
          <a:extLst>
            <a:ext uri="{C572A759-6A51-4108-AA02-DFA0A04FC94B}">
              <ma14:wrappingTextBoxFlag xmlns:ma14="http://schemas.microsoft.com/office/mac/drawingml/2011/main" val="0"/>
            </a:ext>
          </a:extLst>
        </p:spPr>
        <p:txBody>
          <a:bodyPr/>
          <a:lstStyle>
            <a:lvl1pPr>
              <a:defRPr sz="700">
                <a:solidFill>
                  <a:srgbClr val="6C808B"/>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329184"/>
            <a:ext cx="10789920" cy="219456"/>
          </a:xfrm>
          <a:prstGeom prst="rect">
            <a:avLst/>
          </a:prstGeom>
          <a:noFill/>
          <a:ln/>
        </p:spPr>
        <p:txBody>
          <a:bodyPr wrap="square" lIns="0" tIns="0" rIns="0" bIns="0" rtlCol="0" anchor="ctr">
            <a:normAutofit/>
          </a:bodyPr>
          <a:lstStyle/>
          <a:p>
            <a:pPr indent="0" marL="0">
              <a:buNone/>
            </a:pPr>
            <a:r>
              <a:rPr lang="en-US" sz="900" b="1" spc="120" kern="0" dirty="0">
                <a:solidFill>
                  <a:srgbClr val="0D8F89"/>
                </a:solidFill>
                <a:latin typeface="Aptos" pitchFamily="34" charset="0"/>
                <a:ea typeface="Aptos" pitchFamily="34" charset="-122"/>
                <a:cs typeface="Aptos" pitchFamily="34" charset="-120"/>
              </a:rPr>
              <a:t>MARKET CONTEXT</a:t>
            </a:r>
            <a:endParaRPr lang="en-US" sz="900" dirty="0"/>
          </a:p>
        </p:txBody>
      </p:sp>
      <p:sp>
        <p:nvSpPr>
          <p:cNvPr id="3" name="Text 1"/>
          <p:cNvSpPr/>
          <p:nvPr/>
        </p:nvSpPr>
        <p:spPr>
          <a:xfrm>
            <a:off x="594360" y="640080"/>
            <a:ext cx="10972800" cy="475488"/>
          </a:xfrm>
          <a:prstGeom prst="rect">
            <a:avLst/>
          </a:prstGeom>
          <a:noFill/>
          <a:ln/>
        </p:spPr>
        <p:txBody>
          <a:bodyPr wrap="square" lIns="0" tIns="0" rIns="0" bIns="0" rtlCol="0" anchor="ctr">
            <a:normAutofit/>
          </a:bodyPr>
          <a:lstStyle/>
          <a:p>
            <a:pPr indent="0" marL="0">
              <a:buNone/>
            </a:pPr>
            <a:r>
              <a:rPr lang="en-US" sz="2600" b="1" dirty="0">
                <a:solidFill>
                  <a:srgbClr val="173747"/>
                </a:solidFill>
                <a:latin typeface="Aptos Display" pitchFamily="34" charset="0"/>
                <a:ea typeface="Aptos Display" pitchFamily="34" charset="-122"/>
                <a:cs typeface="Aptos Display" pitchFamily="34" charset="-120"/>
              </a:rPr>
              <a:t>The category already has AAR and action-tracking tools</a:t>
            </a:r>
            <a:endParaRPr lang="en-US" sz="2600" dirty="0"/>
          </a:p>
        </p:txBody>
      </p:sp>
      <p:sp>
        <p:nvSpPr>
          <p:cNvPr id="4" name="Text 2"/>
          <p:cNvSpPr/>
          <p:nvPr/>
        </p:nvSpPr>
        <p:spPr>
          <a:xfrm>
            <a:off x="612648" y="1133856"/>
            <a:ext cx="10881360" cy="310896"/>
          </a:xfrm>
          <a:prstGeom prst="rect">
            <a:avLst/>
          </a:prstGeom>
          <a:noFill/>
          <a:ln/>
        </p:spPr>
        <p:txBody>
          <a:bodyPr wrap="square" lIns="0" tIns="0" rIns="0" bIns="0" rtlCol="0" anchor="ctr">
            <a:normAutofit/>
          </a:bodyPr>
          <a:lstStyle/>
          <a:p>
            <a:pPr indent="0" marL="0">
              <a:buNone/>
            </a:pPr>
            <a:r>
              <a:rPr lang="en-US" sz="1130" dirty="0">
                <a:solidFill>
                  <a:srgbClr val="6C808B"/>
                </a:solidFill>
                <a:latin typeface="Aptos" pitchFamily="34" charset="0"/>
                <a:ea typeface="Aptos" pitchFamily="34" charset="-122"/>
                <a:cs typeface="Aptos" pitchFamily="34" charset="-120"/>
              </a:rPr>
              <a:t>DrillLoop should validate a focused workflow advantage instead of claiming report generation is unique.</a:t>
            </a:r>
            <a:endParaRPr lang="en-US" sz="1130" dirty="0"/>
          </a:p>
        </p:txBody>
      </p:sp>
      <p:sp>
        <p:nvSpPr>
          <p:cNvPr id="5" name="Text 3"/>
          <p:cNvSpPr/>
          <p:nvPr/>
        </p:nvSpPr>
        <p:spPr>
          <a:xfrm>
            <a:off x="713232" y="1773936"/>
            <a:ext cx="1920240" cy="228600"/>
          </a:xfrm>
          <a:prstGeom prst="rect">
            <a:avLst/>
          </a:prstGeom>
          <a:noFill/>
          <a:ln/>
        </p:spPr>
        <p:txBody>
          <a:bodyPr wrap="square" lIns="0" tIns="0" rIns="0" bIns="0" rtlCol="0" anchor="ctr">
            <a:normAutofit/>
          </a:bodyPr>
          <a:lstStyle/>
          <a:p>
            <a:pPr indent="0" marL="0">
              <a:buNone/>
            </a:pPr>
            <a:r>
              <a:rPr lang="en-US" sz="800" b="1" spc="70" kern="0" dirty="0">
                <a:solidFill>
                  <a:srgbClr val="0D8F89"/>
                </a:solidFill>
                <a:latin typeface="Aptos" pitchFamily="34" charset="0"/>
                <a:ea typeface="Aptos" pitchFamily="34" charset="-122"/>
                <a:cs typeface="Aptos" pitchFamily="34" charset="-120"/>
              </a:rPr>
              <a:t>OPTION / CONTEXT</a:t>
            </a:r>
            <a:endParaRPr lang="en-US" sz="800" dirty="0"/>
          </a:p>
        </p:txBody>
      </p:sp>
      <p:sp>
        <p:nvSpPr>
          <p:cNvPr id="6" name="Text 4"/>
          <p:cNvSpPr/>
          <p:nvPr/>
        </p:nvSpPr>
        <p:spPr>
          <a:xfrm>
            <a:off x="2743200" y="1773936"/>
            <a:ext cx="4069080" cy="228600"/>
          </a:xfrm>
          <a:prstGeom prst="rect">
            <a:avLst/>
          </a:prstGeom>
          <a:noFill/>
          <a:ln/>
        </p:spPr>
        <p:txBody>
          <a:bodyPr wrap="square" lIns="0" tIns="0" rIns="0" bIns="0" rtlCol="0" anchor="ctr">
            <a:normAutofit/>
          </a:bodyPr>
          <a:lstStyle/>
          <a:p>
            <a:pPr indent="0" marL="0">
              <a:buNone/>
            </a:pPr>
            <a:r>
              <a:rPr lang="en-US" sz="800" b="1" spc="70" kern="0" dirty="0">
                <a:solidFill>
                  <a:srgbClr val="0D8F89"/>
                </a:solidFill>
                <a:latin typeface="Aptos" pitchFamily="34" charset="0"/>
                <a:ea typeface="Aptos" pitchFamily="34" charset="-122"/>
                <a:cs typeface="Aptos" pitchFamily="34" charset="-120"/>
              </a:rPr>
              <a:t>PUBLICLY VISIBLE SCOPE</a:t>
            </a:r>
            <a:endParaRPr lang="en-US" sz="800" dirty="0"/>
          </a:p>
        </p:txBody>
      </p:sp>
      <p:sp>
        <p:nvSpPr>
          <p:cNvPr id="7" name="Text 5"/>
          <p:cNvSpPr/>
          <p:nvPr/>
        </p:nvSpPr>
        <p:spPr>
          <a:xfrm>
            <a:off x="7040880" y="1773936"/>
            <a:ext cx="4160520" cy="228600"/>
          </a:xfrm>
          <a:prstGeom prst="rect">
            <a:avLst/>
          </a:prstGeom>
          <a:noFill/>
          <a:ln/>
        </p:spPr>
        <p:txBody>
          <a:bodyPr wrap="square" lIns="0" tIns="0" rIns="0" bIns="0" rtlCol="0" anchor="ctr">
            <a:normAutofit/>
          </a:bodyPr>
          <a:lstStyle/>
          <a:p>
            <a:pPr indent="0" marL="0">
              <a:buNone/>
            </a:pPr>
            <a:r>
              <a:rPr lang="en-US" sz="800" b="1" spc="70" kern="0" dirty="0">
                <a:solidFill>
                  <a:srgbClr val="0D8F89"/>
                </a:solidFill>
                <a:latin typeface="Aptos" pitchFamily="34" charset="0"/>
                <a:ea typeface="Aptos" pitchFamily="34" charset="-122"/>
                <a:cs typeface="Aptos" pitchFamily="34" charset="-120"/>
              </a:rPr>
              <a:t>IMPLICATION TO TEST</a:t>
            </a:r>
            <a:endParaRPr lang="en-US" sz="800" dirty="0"/>
          </a:p>
        </p:txBody>
      </p:sp>
      <p:sp>
        <p:nvSpPr>
          <p:cNvPr id="8" name="Shape 6"/>
          <p:cNvSpPr/>
          <p:nvPr/>
        </p:nvSpPr>
        <p:spPr>
          <a:xfrm>
            <a:off x="658368" y="2148840"/>
            <a:ext cx="10835640" cy="722376"/>
          </a:xfrm>
          <a:prstGeom prst="roundRect">
            <a:avLst>
              <a:gd name="adj" fmla="val 15190"/>
            </a:avLst>
          </a:prstGeom>
          <a:solidFill>
            <a:srgbClr val="FFFFFF"/>
          </a:solidFill>
          <a:ln w="11430">
            <a:solidFill>
              <a:srgbClr val="DCE7E8"/>
            </a:solidFill>
            <a:prstDash val="solid"/>
          </a:ln>
        </p:spPr>
      </p:sp>
      <p:sp>
        <p:nvSpPr>
          <p:cNvPr id="9" name="Text 7"/>
          <p:cNvSpPr/>
          <p:nvPr/>
        </p:nvSpPr>
        <p:spPr>
          <a:xfrm>
            <a:off x="841248" y="2267712"/>
            <a:ext cx="1737360" cy="457200"/>
          </a:xfrm>
          <a:prstGeom prst="rect">
            <a:avLst/>
          </a:prstGeom>
          <a:noFill/>
          <a:ln/>
        </p:spPr>
        <p:txBody>
          <a:bodyPr wrap="square" lIns="0" tIns="0" rIns="0" bIns="0" rtlCol="0" anchor="t">
            <a:normAutofit/>
          </a:bodyPr>
          <a:lstStyle/>
          <a:p>
            <a:pPr indent="0" marL="0">
              <a:buNone/>
            </a:pPr>
            <a:r>
              <a:rPr lang="en-US" sz="1040" b="1" dirty="0">
                <a:solidFill>
                  <a:srgbClr val="173747"/>
                </a:solidFill>
                <a:latin typeface="Aptos" pitchFamily="34" charset="0"/>
                <a:ea typeface="Aptos" pitchFamily="34" charset="-122"/>
                <a:cs typeface="Aptos" pitchFamily="34" charset="-120"/>
              </a:rPr>
              <a:t>FEMA exercise guidance</a:t>
            </a:r>
            <a:endParaRPr lang="en-US" sz="1040" dirty="0"/>
          </a:p>
        </p:txBody>
      </p:sp>
      <p:sp>
        <p:nvSpPr>
          <p:cNvPr id="10" name="Text 8"/>
          <p:cNvSpPr/>
          <p:nvPr/>
        </p:nvSpPr>
        <p:spPr>
          <a:xfrm>
            <a:off x="2788920" y="2249424"/>
            <a:ext cx="3840480" cy="512064"/>
          </a:xfrm>
          <a:prstGeom prst="rect">
            <a:avLst/>
          </a:prstGeom>
          <a:noFill/>
          <a:ln/>
        </p:spPr>
        <p:txBody>
          <a:bodyPr wrap="square" lIns="0" tIns="0" rIns="0" bIns="0" rtlCol="0" anchor="t">
            <a:normAutofit/>
          </a:bodyPr>
          <a:lstStyle/>
          <a:p>
            <a:pPr indent="0" marL="0">
              <a:buNone/>
            </a:pPr>
            <a:r>
              <a:rPr lang="en-US" sz="940" dirty="0">
                <a:solidFill>
                  <a:srgbClr val="253E4D"/>
                </a:solidFill>
                <a:latin typeface="Aptos" pitchFamily="34" charset="0"/>
                <a:ea typeface="Aptos" pitchFamily="34" charset="-122"/>
                <a:cs typeface="Aptos" pitchFamily="34" charset="-120"/>
              </a:rPr>
              <a:t>Exercise planning and evaluation steps</a:t>
            </a:r>
            <a:endParaRPr lang="en-US" sz="940" dirty="0"/>
          </a:p>
        </p:txBody>
      </p:sp>
      <p:sp>
        <p:nvSpPr>
          <p:cNvPr id="11" name="Text 9"/>
          <p:cNvSpPr/>
          <p:nvPr/>
        </p:nvSpPr>
        <p:spPr>
          <a:xfrm>
            <a:off x="7068312" y="2249424"/>
            <a:ext cx="4133088" cy="512064"/>
          </a:xfrm>
          <a:prstGeom prst="rect">
            <a:avLst/>
          </a:prstGeom>
          <a:noFill/>
          <a:ln/>
        </p:spPr>
        <p:txBody>
          <a:bodyPr wrap="square" lIns="0" tIns="0" rIns="0" bIns="0" rtlCol="0" anchor="t">
            <a:normAutofit/>
          </a:bodyPr>
          <a:lstStyle/>
          <a:p>
            <a:pPr indent="0" marL="0">
              <a:buNone/>
            </a:pPr>
            <a:r>
              <a:rPr lang="en-US" sz="930" dirty="0">
                <a:solidFill>
                  <a:srgbClr val="6C808B"/>
                </a:solidFill>
                <a:latin typeface="Aptos" pitchFamily="34" charset="0"/>
                <a:ea typeface="Aptos" pitchFamily="34" charset="-122"/>
                <a:cs typeface="Aptos" pitchFamily="34" charset="-120"/>
              </a:rPr>
              <a:t>Use familiar structure; no claim of certification.</a:t>
            </a:r>
            <a:endParaRPr lang="en-US" sz="930" dirty="0"/>
          </a:p>
        </p:txBody>
      </p:sp>
      <p:sp>
        <p:nvSpPr>
          <p:cNvPr id="12" name="Shape 10"/>
          <p:cNvSpPr/>
          <p:nvPr/>
        </p:nvSpPr>
        <p:spPr>
          <a:xfrm>
            <a:off x="658368" y="2990088"/>
            <a:ext cx="10835640" cy="722376"/>
          </a:xfrm>
          <a:prstGeom prst="roundRect">
            <a:avLst>
              <a:gd name="adj" fmla="val 15190"/>
            </a:avLst>
          </a:prstGeom>
          <a:solidFill>
            <a:srgbClr val="FFFFFF"/>
          </a:solidFill>
          <a:ln w="11430">
            <a:solidFill>
              <a:srgbClr val="DCE7E8"/>
            </a:solidFill>
            <a:prstDash val="solid"/>
          </a:ln>
        </p:spPr>
      </p:sp>
      <p:sp>
        <p:nvSpPr>
          <p:cNvPr id="13" name="Text 11"/>
          <p:cNvSpPr/>
          <p:nvPr/>
        </p:nvSpPr>
        <p:spPr>
          <a:xfrm>
            <a:off x="841248" y="3108960"/>
            <a:ext cx="1737360" cy="457200"/>
          </a:xfrm>
          <a:prstGeom prst="rect">
            <a:avLst/>
          </a:prstGeom>
          <a:noFill/>
          <a:ln/>
        </p:spPr>
        <p:txBody>
          <a:bodyPr wrap="square" lIns="0" tIns="0" rIns="0" bIns="0" rtlCol="0" anchor="t">
            <a:normAutofit/>
          </a:bodyPr>
          <a:lstStyle/>
          <a:p>
            <a:pPr indent="0" marL="0">
              <a:buNone/>
            </a:pPr>
            <a:r>
              <a:rPr lang="en-US" sz="1040" b="1" dirty="0">
                <a:solidFill>
                  <a:srgbClr val="173747"/>
                </a:solidFill>
                <a:latin typeface="Aptos" pitchFamily="34" charset="0"/>
                <a:ea typeface="Aptos" pitchFamily="34" charset="-122"/>
                <a:cs typeface="Aptos" pitchFamily="34" charset="-120"/>
              </a:rPr>
              <a:t>Veoci</a:t>
            </a:r>
            <a:endParaRPr lang="en-US" sz="1040" dirty="0"/>
          </a:p>
        </p:txBody>
      </p:sp>
      <p:sp>
        <p:nvSpPr>
          <p:cNvPr id="14" name="Text 12"/>
          <p:cNvSpPr/>
          <p:nvPr/>
        </p:nvSpPr>
        <p:spPr>
          <a:xfrm>
            <a:off x="2788920" y="3090672"/>
            <a:ext cx="3840480" cy="512064"/>
          </a:xfrm>
          <a:prstGeom prst="rect">
            <a:avLst/>
          </a:prstGeom>
          <a:noFill/>
          <a:ln/>
        </p:spPr>
        <p:txBody>
          <a:bodyPr wrap="square" lIns="0" tIns="0" rIns="0" bIns="0" rtlCol="0" anchor="t">
            <a:normAutofit/>
          </a:bodyPr>
          <a:lstStyle/>
          <a:p>
            <a:pPr indent="0" marL="0">
              <a:buNone/>
            </a:pPr>
            <a:r>
              <a:rPr lang="en-US" sz="940" dirty="0">
                <a:solidFill>
                  <a:srgbClr val="253E4D"/>
                </a:solidFill>
                <a:latin typeface="Aptos" pitchFamily="34" charset="0"/>
                <a:ea typeface="Aptos" pitchFamily="34" charset="-122"/>
                <a:cs typeface="Aptos" pitchFamily="34" charset="-120"/>
              </a:rPr>
              <a:t>Publicly describes AAR reports, timestamps, transcripts, and corrective actions</a:t>
            </a:r>
            <a:endParaRPr lang="en-US" sz="940" dirty="0"/>
          </a:p>
        </p:txBody>
      </p:sp>
      <p:sp>
        <p:nvSpPr>
          <p:cNvPr id="15" name="Text 13"/>
          <p:cNvSpPr/>
          <p:nvPr/>
        </p:nvSpPr>
        <p:spPr>
          <a:xfrm>
            <a:off x="7068312" y="3090672"/>
            <a:ext cx="4133088" cy="512064"/>
          </a:xfrm>
          <a:prstGeom prst="rect">
            <a:avLst/>
          </a:prstGeom>
          <a:noFill/>
          <a:ln/>
        </p:spPr>
        <p:txBody>
          <a:bodyPr wrap="square" lIns="0" tIns="0" rIns="0" bIns="0" rtlCol="0" anchor="t">
            <a:normAutofit/>
          </a:bodyPr>
          <a:lstStyle/>
          <a:p>
            <a:pPr indent="0" marL="0">
              <a:buNone/>
            </a:pPr>
            <a:r>
              <a:rPr lang="en-US" sz="930" dirty="0">
                <a:solidFill>
                  <a:srgbClr val="6C808B"/>
                </a:solidFill>
                <a:latin typeface="Aptos" pitchFamily="34" charset="0"/>
                <a:ea typeface="Aptos" pitchFamily="34" charset="-122"/>
                <a:cs typeface="Aptos" pitchFamily="34" charset="-120"/>
              </a:rPr>
              <a:t>Direct competitor; compare source-level review and closure in customer demos.</a:t>
            </a:r>
            <a:endParaRPr lang="en-US" sz="930" dirty="0"/>
          </a:p>
        </p:txBody>
      </p:sp>
      <p:sp>
        <p:nvSpPr>
          <p:cNvPr id="16" name="Shape 14"/>
          <p:cNvSpPr/>
          <p:nvPr/>
        </p:nvSpPr>
        <p:spPr>
          <a:xfrm>
            <a:off x="658368" y="3831336"/>
            <a:ext cx="10835640" cy="722376"/>
          </a:xfrm>
          <a:prstGeom prst="roundRect">
            <a:avLst>
              <a:gd name="adj" fmla="val 15190"/>
            </a:avLst>
          </a:prstGeom>
          <a:solidFill>
            <a:srgbClr val="FFFFFF"/>
          </a:solidFill>
          <a:ln w="11430">
            <a:solidFill>
              <a:srgbClr val="DCE7E8"/>
            </a:solidFill>
            <a:prstDash val="solid"/>
          </a:ln>
        </p:spPr>
      </p:sp>
      <p:sp>
        <p:nvSpPr>
          <p:cNvPr id="17" name="Text 15"/>
          <p:cNvSpPr/>
          <p:nvPr/>
        </p:nvSpPr>
        <p:spPr>
          <a:xfrm>
            <a:off x="841248" y="3950208"/>
            <a:ext cx="1737360" cy="457200"/>
          </a:xfrm>
          <a:prstGeom prst="rect">
            <a:avLst/>
          </a:prstGeom>
          <a:noFill/>
          <a:ln/>
        </p:spPr>
        <p:txBody>
          <a:bodyPr wrap="square" lIns="0" tIns="0" rIns="0" bIns="0" rtlCol="0" anchor="t">
            <a:normAutofit/>
          </a:bodyPr>
          <a:lstStyle/>
          <a:p>
            <a:pPr indent="0" marL="0">
              <a:buNone/>
            </a:pPr>
            <a:r>
              <a:rPr lang="en-US" sz="1040" b="1" dirty="0">
                <a:solidFill>
                  <a:srgbClr val="173747"/>
                </a:solidFill>
                <a:latin typeface="Aptos" pitchFamily="34" charset="0"/>
                <a:ea typeface="Aptos" pitchFamily="34" charset="-122"/>
                <a:cs typeface="Aptos" pitchFamily="34" charset="-120"/>
              </a:rPr>
              <a:t>D4H</a:t>
            </a:r>
            <a:endParaRPr lang="en-US" sz="1040" dirty="0"/>
          </a:p>
        </p:txBody>
      </p:sp>
      <p:sp>
        <p:nvSpPr>
          <p:cNvPr id="18" name="Text 16"/>
          <p:cNvSpPr/>
          <p:nvPr/>
        </p:nvSpPr>
        <p:spPr>
          <a:xfrm>
            <a:off x="2788920" y="3931920"/>
            <a:ext cx="3840480" cy="512064"/>
          </a:xfrm>
          <a:prstGeom prst="rect">
            <a:avLst/>
          </a:prstGeom>
          <a:noFill/>
          <a:ln/>
        </p:spPr>
        <p:txBody>
          <a:bodyPr wrap="square" lIns="0" tIns="0" rIns="0" bIns="0" rtlCol="0" anchor="t">
            <a:normAutofit/>
          </a:bodyPr>
          <a:lstStyle/>
          <a:p>
            <a:pPr indent="0" marL="0">
              <a:buNone/>
            </a:pPr>
            <a:r>
              <a:rPr lang="en-US" sz="940" dirty="0">
                <a:solidFill>
                  <a:srgbClr val="253E4D"/>
                </a:solidFill>
                <a:latin typeface="Aptos" pitchFamily="34" charset="0"/>
                <a:ea typeface="Aptos" pitchFamily="34" charset="-122"/>
                <a:cs typeface="Aptos" pitchFamily="34" charset="-120"/>
              </a:rPr>
              <a:t>Emergency-team readiness, incident, personnel, and equipment workflows</a:t>
            </a:r>
            <a:endParaRPr lang="en-US" sz="940" dirty="0"/>
          </a:p>
        </p:txBody>
      </p:sp>
      <p:sp>
        <p:nvSpPr>
          <p:cNvPr id="19" name="Text 17"/>
          <p:cNvSpPr/>
          <p:nvPr/>
        </p:nvSpPr>
        <p:spPr>
          <a:xfrm>
            <a:off x="7068312" y="3931920"/>
            <a:ext cx="4133088" cy="512064"/>
          </a:xfrm>
          <a:prstGeom prst="rect">
            <a:avLst/>
          </a:prstGeom>
          <a:noFill/>
          <a:ln/>
        </p:spPr>
        <p:txBody>
          <a:bodyPr wrap="square" lIns="0" tIns="0" rIns="0" bIns="0" rtlCol="0" anchor="t">
            <a:normAutofit/>
          </a:bodyPr>
          <a:lstStyle/>
          <a:p>
            <a:pPr indent="0" marL="0">
              <a:buNone/>
            </a:pPr>
            <a:r>
              <a:rPr lang="en-US" sz="930" dirty="0">
                <a:solidFill>
                  <a:srgbClr val="6C808B"/>
                </a:solidFill>
                <a:latin typeface="Aptos" pitchFamily="34" charset="0"/>
                <a:ea typeface="Aptos" pitchFamily="34" charset="-122"/>
                <a:cs typeface="Aptos" pitchFamily="34" charset="-120"/>
              </a:rPr>
              <a:t>Adjacent incumbent; confirm evaluation evidence workflow depth.</a:t>
            </a:r>
            <a:endParaRPr lang="en-US" sz="930" dirty="0"/>
          </a:p>
        </p:txBody>
      </p:sp>
      <p:sp>
        <p:nvSpPr>
          <p:cNvPr id="20" name="Shape 18"/>
          <p:cNvSpPr/>
          <p:nvPr/>
        </p:nvSpPr>
        <p:spPr>
          <a:xfrm>
            <a:off x="658368" y="4672584"/>
            <a:ext cx="10835640" cy="722376"/>
          </a:xfrm>
          <a:prstGeom prst="roundRect">
            <a:avLst>
              <a:gd name="adj" fmla="val 15190"/>
            </a:avLst>
          </a:prstGeom>
          <a:solidFill>
            <a:srgbClr val="E5F4F2"/>
          </a:solidFill>
          <a:ln w="11430">
            <a:solidFill>
              <a:srgbClr val="C9E4E0"/>
            </a:solidFill>
            <a:prstDash val="solid"/>
          </a:ln>
        </p:spPr>
      </p:sp>
      <p:sp>
        <p:nvSpPr>
          <p:cNvPr id="21" name="Text 19"/>
          <p:cNvSpPr/>
          <p:nvPr/>
        </p:nvSpPr>
        <p:spPr>
          <a:xfrm>
            <a:off x="841248" y="4791456"/>
            <a:ext cx="1737360" cy="457200"/>
          </a:xfrm>
          <a:prstGeom prst="rect">
            <a:avLst/>
          </a:prstGeom>
          <a:noFill/>
          <a:ln/>
        </p:spPr>
        <p:txBody>
          <a:bodyPr wrap="square" lIns="0" tIns="0" rIns="0" bIns="0" rtlCol="0" anchor="t">
            <a:normAutofit/>
          </a:bodyPr>
          <a:lstStyle/>
          <a:p>
            <a:pPr indent="0" marL="0">
              <a:buNone/>
            </a:pPr>
            <a:r>
              <a:rPr lang="en-US" sz="1040" b="1" dirty="0">
                <a:solidFill>
                  <a:srgbClr val="173747"/>
                </a:solidFill>
                <a:latin typeface="Aptos" pitchFamily="34" charset="0"/>
                <a:ea typeface="Aptos" pitchFamily="34" charset="-122"/>
                <a:cs typeface="Aptos" pitchFamily="34" charset="-120"/>
              </a:rPr>
              <a:t>DrillLoop hypothesis</a:t>
            </a:r>
            <a:endParaRPr lang="en-US" sz="1040" dirty="0"/>
          </a:p>
        </p:txBody>
      </p:sp>
      <p:sp>
        <p:nvSpPr>
          <p:cNvPr id="22" name="Text 20"/>
          <p:cNvSpPr/>
          <p:nvPr/>
        </p:nvSpPr>
        <p:spPr>
          <a:xfrm>
            <a:off x="2788920" y="4773168"/>
            <a:ext cx="3840480" cy="512064"/>
          </a:xfrm>
          <a:prstGeom prst="rect">
            <a:avLst/>
          </a:prstGeom>
          <a:noFill/>
          <a:ln/>
        </p:spPr>
        <p:txBody>
          <a:bodyPr wrap="square" lIns="0" tIns="0" rIns="0" bIns="0" rtlCol="0" anchor="t">
            <a:normAutofit/>
          </a:bodyPr>
          <a:lstStyle/>
          <a:p>
            <a:pPr indent="0" marL="0">
              <a:buNone/>
            </a:pPr>
            <a:r>
              <a:rPr lang="en-US" sz="940" dirty="0">
                <a:solidFill>
                  <a:srgbClr val="253E4D"/>
                </a:solidFill>
                <a:latin typeface="Aptos" pitchFamily="34" charset="0"/>
                <a:ea typeface="Aptos" pitchFamily="34" charset="-122"/>
                <a:cs typeface="Aptos" pitchFamily="34" charset="-120"/>
              </a:rPr>
              <a:t>Exact source observation → human decision → closure evidence</a:t>
            </a:r>
            <a:endParaRPr lang="en-US" sz="940" dirty="0"/>
          </a:p>
        </p:txBody>
      </p:sp>
      <p:sp>
        <p:nvSpPr>
          <p:cNvPr id="23" name="Text 21"/>
          <p:cNvSpPr/>
          <p:nvPr/>
        </p:nvSpPr>
        <p:spPr>
          <a:xfrm>
            <a:off x="7068312" y="4773168"/>
            <a:ext cx="4133088" cy="512064"/>
          </a:xfrm>
          <a:prstGeom prst="rect">
            <a:avLst/>
          </a:prstGeom>
          <a:noFill/>
          <a:ln/>
        </p:spPr>
        <p:txBody>
          <a:bodyPr wrap="square" lIns="0" tIns="0" rIns="0" bIns="0" rtlCol="0" anchor="t">
            <a:normAutofit/>
          </a:bodyPr>
          <a:lstStyle/>
          <a:p>
            <a:pPr indent="0" marL="0">
              <a:buNone/>
            </a:pPr>
            <a:r>
              <a:rPr lang="en-US" sz="930" dirty="0">
                <a:solidFill>
                  <a:srgbClr val="6C808B"/>
                </a:solidFill>
                <a:latin typeface="Aptos" pitchFamily="34" charset="0"/>
                <a:ea typeface="Aptos" pitchFamily="34" charset="-122"/>
                <a:cs typeface="Aptos" pitchFamily="34" charset="-120"/>
              </a:rPr>
              <a:t>Potential niche; uniqueness and willingness to pay remain unvalidated.</a:t>
            </a:r>
            <a:endParaRPr lang="en-US" sz="930" dirty="0"/>
          </a:p>
        </p:txBody>
      </p:sp>
      <p:sp>
        <p:nvSpPr>
          <p:cNvPr id="24" name="Text 22"/>
          <p:cNvSpPr/>
          <p:nvPr/>
        </p:nvSpPr>
        <p:spPr>
          <a:xfrm>
            <a:off x="749808" y="5760720"/>
            <a:ext cx="10515600" cy="256032"/>
          </a:xfrm>
          <a:prstGeom prst="rect">
            <a:avLst/>
          </a:prstGeom>
          <a:noFill/>
          <a:ln/>
        </p:spPr>
        <p:txBody>
          <a:bodyPr wrap="square" lIns="0" tIns="0" rIns="0" bIns="0" rtlCol="0" anchor="ctr">
            <a:normAutofit/>
          </a:bodyPr>
          <a:lstStyle/>
          <a:p>
            <a:pPr indent="0" marL="0">
              <a:buNone/>
            </a:pPr>
            <a:r>
              <a:rPr lang="en-US" sz="850" i="1" dirty="0">
                <a:solidFill>
                  <a:srgbClr val="6C808B"/>
                </a:solidFill>
                <a:latin typeface="Aptos" pitchFamily="34" charset="0"/>
                <a:ea typeface="Aptos" pitchFamily="34" charset="-122"/>
                <a:cs typeface="Aptos" pitchFamily="34" charset="-120"/>
              </a:rPr>
              <a:t>Sources: FEMA exercise guidance · Veoci after-action reporting · D4H team readiness. Public pages, not a scored teardown.</a:t>
            </a:r>
            <a:endParaRPr lang="en-US" sz="850" dirty="0"/>
          </a:p>
        </p:txBody>
      </p:sp>
      <p:sp>
        <p:nvSpPr>
          <p:cNvPr id="25" name="Slide Number Placeholder 0"/>
          <p:cNvSpPr>
            <a:spLocks noGrp="1"/>
          </p:cNvSpPr>
          <p:nvPr>
            <p:ph type="sldNum" sz="quarter" idx="4294967295"/>
          </p:nvPr>
        </p:nvSpPr>
        <p:spPr>
          <a:xfrm>
            <a:off x="11768328" y="6556248"/>
            <a:ext cx="182880" cy="164592"/>
          </a:xfrm>
          <a:prstGeom prst="rect">
            <a:avLst/>
          </a:prstGeom>
          <a:extLst>
            <a:ext uri="{C572A759-6A51-4108-AA02-DFA0A04FC94B}">
              <ma14:wrappingTextBoxFlag xmlns:ma14="http://schemas.microsoft.com/office/mac/drawingml/2011/main" val="0"/>
            </a:ext>
          </a:extLst>
        </p:spPr>
        <p:txBody>
          <a:bodyPr/>
          <a:lstStyle>
            <a:lvl1pPr>
              <a:defRPr sz="700">
                <a:solidFill>
                  <a:srgbClr val="6C808B"/>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4360" y="329184"/>
            <a:ext cx="10789920" cy="219456"/>
          </a:xfrm>
          <a:prstGeom prst="rect">
            <a:avLst/>
          </a:prstGeom>
          <a:noFill/>
          <a:ln/>
        </p:spPr>
        <p:txBody>
          <a:bodyPr wrap="square" lIns="0" tIns="0" rIns="0" bIns="0" rtlCol="0" anchor="ctr">
            <a:normAutofit/>
          </a:bodyPr>
          <a:lstStyle/>
          <a:p>
            <a:pPr indent="0" marL="0">
              <a:buNone/>
            </a:pPr>
            <a:r>
              <a:rPr lang="en-US" sz="900" b="1" spc="120" kern="0" dirty="0">
                <a:solidFill>
                  <a:srgbClr val="0D8F89"/>
                </a:solidFill>
                <a:latin typeface="Aptos" pitchFamily="34" charset="0"/>
                <a:ea typeface="Aptos" pitchFamily="34" charset="-122"/>
                <a:cs typeface="Aptos" pitchFamily="34" charset="-120"/>
              </a:rPr>
              <a:t>CUSTOMER WEDGE</a:t>
            </a:r>
            <a:endParaRPr lang="en-US" sz="900" dirty="0"/>
          </a:p>
        </p:txBody>
      </p:sp>
      <p:sp>
        <p:nvSpPr>
          <p:cNvPr id="3" name="Text 1"/>
          <p:cNvSpPr/>
          <p:nvPr/>
        </p:nvSpPr>
        <p:spPr>
          <a:xfrm>
            <a:off x="594360" y="640080"/>
            <a:ext cx="10972800" cy="475488"/>
          </a:xfrm>
          <a:prstGeom prst="rect">
            <a:avLst/>
          </a:prstGeom>
          <a:noFill/>
          <a:ln/>
        </p:spPr>
        <p:txBody>
          <a:bodyPr wrap="square" lIns="0" tIns="0" rIns="0" bIns="0" rtlCol="0" anchor="ctr">
            <a:normAutofit/>
          </a:bodyPr>
          <a:lstStyle/>
          <a:p>
            <a:pPr indent="0" marL="0">
              <a:buNone/>
            </a:pPr>
            <a:r>
              <a:rPr lang="en-US" sz="2600" b="1" dirty="0">
                <a:solidFill>
                  <a:srgbClr val="173747"/>
                </a:solidFill>
                <a:latin typeface="Aptos Display" pitchFamily="34" charset="0"/>
                <a:ea typeface="Aptos Display" pitchFamily="34" charset="-122"/>
                <a:cs typeface="Aptos Display" pitchFamily="34" charset="-120"/>
              </a:rPr>
              <a:t>Start with a hospital exercise review</a:t>
            </a:r>
            <a:endParaRPr lang="en-US" sz="2600" dirty="0"/>
          </a:p>
        </p:txBody>
      </p:sp>
      <p:sp>
        <p:nvSpPr>
          <p:cNvPr id="4" name="Text 2"/>
          <p:cNvSpPr/>
          <p:nvPr/>
        </p:nvSpPr>
        <p:spPr>
          <a:xfrm>
            <a:off x="612648" y="1133856"/>
            <a:ext cx="10881360" cy="310896"/>
          </a:xfrm>
          <a:prstGeom prst="rect">
            <a:avLst/>
          </a:prstGeom>
          <a:noFill/>
          <a:ln/>
        </p:spPr>
        <p:txBody>
          <a:bodyPr wrap="square" lIns="0" tIns="0" rIns="0" bIns="0" rtlCol="0" anchor="ctr">
            <a:normAutofit/>
          </a:bodyPr>
          <a:lstStyle/>
          <a:p>
            <a:pPr indent="0" marL="0">
              <a:buNone/>
            </a:pPr>
            <a:r>
              <a:rPr lang="en-US" sz="1130" dirty="0">
                <a:solidFill>
                  <a:srgbClr val="6C808B"/>
                </a:solidFill>
                <a:latin typeface="Aptos" pitchFamily="34" charset="0"/>
                <a:ea typeface="Aptos" pitchFamily="34" charset="-122"/>
                <a:cs typeface="Aptos" pitchFamily="34" charset="-120"/>
              </a:rPr>
              <a:t>This is a proposed first use case; no pilot partner or buyer has been confirmed.</a:t>
            </a:r>
            <a:endParaRPr lang="en-US" sz="1130" dirty="0"/>
          </a:p>
        </p:txBody>
      </p:sp>
      <p:sp>
        <p:nvSpPr>
          <p:cNvPr id="5" name="Shape 3"/>
          <p:cNvSpPr/>
          <p:nvPr/>
        </p:nvSpPr>
        <p:spPr>
          <a:xfrm>
            <a:off x="713232" y="1828800"/>
            <a:ext cx="3200400" cy="3154680"/>
          </a:xfrm>
          <a:prstGeom prst="roundRect">
            <a:avLst>
              <a:gd name="adj" fmla="val 3478"/>
            </a:avLst>
          </a:prstGeom>
          <a:solidFill>
            <a:srgbClr val="173747"/>
          </a:solidFill>
          <a:ln w="11430">
            <a:solidFill>
              <a:srgbClr val="173747"/>
            </a:solidFill>
            <a:prstDash val="solid"/>
          </a:ln>
        </p:spPr>
      </p:sp>
      <p:sp>
        <p:nvSpPr>
          <p:cNvPr id="6" name="Shape 4"/>
          <p:cNvSpPr/>
          <p:nvPr/>
        </p:nvSpPr>
        <p:spPr>
          <a:xfrm>
            <a:off x="987552" y="2103120"/>
            <a:ext cx="1783080" cy="265176"/>
          </a:xfrm>
          <a:prstGeom prst="roundRect">
            <a:avLst>
              <a:gd name="adj" fmla="val 41379"/>
            </a:avLst>
          </a:prstGeom>
          <a:solidFill>
            <a:srgbClr val="21505C"/>
          </a:solidFill>
          <a:ln w="12700">
            <a:solidFill>
              <a:srgbClr val="21505C">
                <a:alpha val="0"/>
              </a:srgbClr>
            </a:solidFill>
            <a:prstDash val="solid"/>
          </a:ln>
        </p:spPr>
      </p:sp>
      <p:sp>
        <p:nvSpPr>
          <p:cNvPr id="7" name="Text 5"/>
          <p:cNvSpPr/>
          <p:nvPr/>
        </p:nvSpPr>
        <p:spPr>
          <a:xfrm>
            <a:off x="1060704" y="2116836"/>
            <a:ext cx="1636776" cy="219456"/>
          </a:xfrm>
          <a:prstGeom prst="rect">
            <a:avLst/>
          </a:prstGeom>
          <a:noFill/>
          <a:ln/>
        </p:spPr>
        <p:txBody>
          <a:bodyPr wrap="square" lIns="0" tIns="0" rIns="0" bIns="0" rtlCol="0" anchor="ctr">
            <a:normAutofit/>
          </a:bodyPr>
          <a:lstStyle/>
          <a:p>
            <a:pPr algn="ctr" indent="0" marL="0">
              <a:buNone/>
            </a:pPr>
            <a:r>
              <a:rPr lang="en-US" sz="850" b="1" dirty="0">
                <a:solidFill>
                  <a:srgbClr val="A6E0D8"/>
                </a:solidFill>
                <a:latin typeface="Aptos" pitchFamily="34" charset="0"/>
                <a:ea typeface="Aptos" pitchFamily="34" charset="-122"/>
                <a:cs typeface="Aptos" pitchFamily="34" charset="-120"/>
              </a:rPr>
              <a:t>FIRST PILOT HYPOTHESIS</a:t>
            </a:r>
            <a:endParaRPr lang="en-US" sz="850" dirty="0"/>
          </a:p>
        </p:txBody>
      </p:sp>
      <p:sp>
        <p:nvSpPr>
          <p:cNvPr id="8" name="Text 6"/>
          <p:cNvSpPr/>
          <p:nvPr/>
        </p:nvSpPr>
        <p:spPr>
          <a:xfrm>
            <a:off x="987552" y="2670048"/>
            <a:ext cx="2560320" cy="850392"/>
          </a:xfrm>
          <a:prstGeom prst="rect">
            <a:avLst/>
          </a:prstGeom>
          <a:noFill/>
          <a:ln/>
        </p:spPr>
        <p:txBody>
          <a:bodyPr wrap="square" lIns="0" tIns="0" rIns="0" bIns="0" rtlCol="0" anchor="t">
            <a:normAutofit/>
          </a:bodyP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Hospital</a:t>
            </a:r>
            <a:endParaRPr lang="en-US" sz="2200" dirty="0"/>
          </a:p>
          <a:p>
            <a:pPr indent="0" marL="0">
              <a:buNone/>
            </a:pPr>
            <a:r>
              <a:rPr lang="en-US" sz="2200" b="1" dirty="0">
                <a:solidFill>
                  <a:srgbClr val="FFFFFF"/>
                </a:solidFill>
                <a:latin typeface="Aptos Display" pitchFamily="34" charset="0"/>
                <a:ea typeface="Aptos Display" pitchFamily="34" charset="-122"/>
                <a:cs typeface="Aptos Display" pitchFamily="34" charset="-120"/>
              </a:rPr>
              <a:t>tabletop review</a:t>
            </a:r>
            <a:endParaRPr lang="en-US" sz="2200" dirty="0"/>
          </a:p>
        </p:txBody>
      </p:sp>
      <p:sp>
        <p:nvSpPr>
          <p:cNvPr id="9" name="Text 7"/>
          <p:cNvSpPr/>
          <p:nvPr/>
        </p:nvSpPr>
        <p:spPr>
          <a:xfrm>
            <a:off x="987552" y="3813048"/>
            <a:ext cx="2514600" cy="749808"/>
          </a:xfrm>
          <a:prstGeom prst="rect">
            <a:avLst/>
          </a:prstGeom>
          <a:noFill/>
          <a:ln/>
        </p:spPr>
        <p:txBody>
          <a:bodyPr wrap="square" lIns="0" tIns="0" rIns="0" bIns="0" rtlCol="0" anchor="t">
            <a:normAutofit/>
          </a:bodyPr>
          <a:lstStyle/>
          <a:p>
            <a:pPr indent="0" marL="0">
              <a:buNone/>
            </a:pPr>
            <a:r>
              <a:rPr lang="en-US" sz="1050" dirty="0">
                <a:solidFill>
                  <a:srgbClr val="C2D4D6"/>
                </a:solidFill>
                <a:latin typeface="Aptos" pitchFamily="34" charset="0"/>
                <a:ea typeface="Aptos" pitchFamily="34" charset="-122"/>
                <a:cs typeface="Aptos" pitchFamily="34" charset="-120"/>
              </a:rPr>
              <a:t>Initial segment hypothesis. The included outage exercise is synthetic; no hospital partner is confirmed.</a:t>
            </a:r>
            <a:endParaRPr lang="en-US" sz="1050" dirty="0"/>
          </a:p>
        </p:txBody>
      </p:sp>
      <p:sp>
        <p:nvSpPr>
          <p:cNvPr id="10" name="Shape 8"/>
          <p:cNvSpPr/>
          <p:nvPr/>
        </p:nvSpPr>
        <p:spPr>
          <a:xfrm>
            <a:off x="4370832" y="1847088"/>
            <a:ext cx="3255264" cy="822960"/>
          </a:xfrm>
          <a:prstGeom prst="roundRect">
            <a:avLst>
              <a:gd name="adj" fmla="val 13333"/>
            </a:avLst>
          </a:prstGeom>
          <a:solidFill>
            <a:srgbClr val="FFFFFF"/>
          </a:solidFill>
          <a:ln w="11430">
            <a:solidFill>
              <a:srgbClr val="DCE7E8"/>
            </a:solidFill>
            <a:prstDash val="solid"/>
          </a:ln>
        </p:spPr>
      </p:sp>
      <p:sp>
        <p:nvSpPr>
          <p:cNvPr id="11" name="Text 9"/>
          <p:cNvSpPr/>
          <p:nvPr/>
        </p:nvSpPr>
        <p:spPr>
          <a:xfrm>
            <a:off x="4590288" y="1984248"/>
            <a:ext cx="2651760" cy="210312"/>
          </a:xfrm>
          <a:prstGeom prst="rect">
            <a:avLst/>
          </a:prstGeom>
          <a:noFill/>
          <a:ln/>
        </p:spPr>
        <p:txBody>
          <a:bodyPr wrap="square" lIns="0" tIns="0" rIns="0" bIns="0" rtlCol="0" anchor="ctr">
            <a:normAutofit/>
          </a:bodyPr>
          <a:lstStyle/>
          <a:p>
            <a:pPr indent="0" marL="0">
              <a:buNone/>
            </a:pPr>
            <a:r>
              <a:rPr lang="en-US" sz="1200" b="1" dirty="0">
                <a:solidFill>
                  <a:srgbClr val="173747"/>
                </a:solidFill>
                <a:latin typeface="Aptos" pitchFamily="34" charset="0"/>
                <a:ea typeface="Aptos" pitchFamily="34" charset="-122"/>
                <a:cs typeface="Aptos" pitchFamily="34" charset="-120"/>
              </a:rPr>
              <a:t>Report preparer</a:t>
            </a:r>
            <a:endParaRPr lang="en-US" sz="1200" dirty="0"/>
          </a:p>
        </p:txBody>
      </p:sp>
      <p:sp>
        <p:nvSpPr>
          <p:cNvPr id="12" name="Text 10"/>
          <p:cNvSpPr/>
          <p:nvPr/>
        </p:nvSpPr>
        <p:spPr>
          <a:xfrm>
            <a:off x="4590288" y="2267712"/>
            <a:ext cx="2761488" cy="228600"/>
          </a:xfrm>
          <a:prstGeom prst="rect">
            <a:avLst/>
          </a:prstGeom>
          <a:noFill/>
          <a:ln/>
        </p:spPr>
        <p:txBody>
          <a:bodyPr wrap="square" lIns="0" tIns="0" rIns="0" bIns="0" rtlCol="0" anchor="ctr">
            <a:normAutofit/>
          </a:bodyPr>
          <a:lstStyle/>
          <a:p>
            <a:pPr indent="0" marL="0">
              <a:buNone/>
            </a:pPr>
            <a:r>
              <a:rPr lang="en-US" sz="900" dirty="0">
                <a:solidFill>
                  <a:srgbClr val="6C808B"/>
                </a:solidFill>
                <a:latin typeface="Aptos" pitchFamily="34" charset="0"/>
                <a:ea typeface="Aptos" pitchFamily="34" charset="-122"/>
                <a:cs typeface="Aptos" pitchFamily="34" charset="-120"/>
              </a:rPr>
              <a:t>Exercise evaluator / preparedness staff (candidate user).</a:t>
            </a:r>
            <a:endParaRPr lang="en-US" sz="900" dirty="0"/>
          </a:p>
        </p:txBody>
      </p:sp>
      <p:sp>
        <p:nvSpPr>
          <p:cNvPr id="13" name="Shape 11"/>
          <p:cNvSpPr/>
          <p:nvPr/>
        </p:nvSpPr>
        <p:spPr>
          <a:xfrm>
            <a:off x="4370832" y="2852928"/>
            <a:ext cx="3255264" cy="822960"/>
          </a:xfrm>
          <a:prstGeom prst="roundRect">
            <a:avLst>
              <a:gd name="adj" fmla="val 13333"/>
            </a:avLst>
          </a:prstGeom>
          <a:solidFill>
            <a:srgbClr val="FFFFFF"/>
          </a:solidFill>
          <a:ln w="11430">
            <a:solidFill>
              <a:srgbClr val="DCE7E8"/>
            </a:solidFill>
            <a:prstDash val="solid"/>
          </a:ln>
        </p:spPr>
      </p:sp>
      <p:sp>
        <p:nvSpPr>
          <p:cNvPr id="14" name="Text 12"/>
          <p:cNvSpPr/>
          <p:nvPr/>
        </p:nvSpPr>
        <p:spPr>
          <a:xfrm>
            <a:off x="4590288" y="2990088"/>
            <a:ext cx="2651760" cy="210312"/>
          </a:xfrm>
          <a:prstGeom prst="rect">
            <a:avLst/>
          </a:prstGeom>
          <a:noFill/>
          <a:ln/>
        </p:spPr>
        <p:txBody>
          <a:bodyPr wrap="square" lIns="0" tIns="0" rIns="0" bIns="0" rtlCol="0" anchor="ctr">
            <a:normAutofit/>
          </a:bodyPr>
          <a:lstStyle/>
          <a:p>
            <a:pPr indent="0" marL="0">
              <a:buNone/>
            </a:pPr>
            <a:r>
              <a:rPr lang="en-US" sz="1200" b="1" dirty="0">
                <a:solidFill>
                  <a:srgbClr val="173747"/>
                </a:solidFill>
                <a:latin typeface="Aptos" pitchFamily="34" charset="0"/>
                <a:ea typeface="Aptos" pitchFamily="34" charset="-122"/>
                <a:cs typeface="Aptos" pitchFamily="34" charset="-120"/>
              </a:rPr>
              <a:t>Report approver</a:t>
            </a:r>
            <a:endParaRPr lang="en-US" sz="1200" dirty="0"/>
          </a:p>
        </p:txBody>
      </p:sp>
      <p:sp>
        <p:nvSpPr>
          <p:cNvPr id="15" name="Text 13"/>
          <p:cNvSpPr/>
          <p:nvPr/>
        </p:nvSpPr>
        <p:spPr>
          <a:xfrm>
            <a:off x="4590288" y="3273552"/>
            <a:ext cx="2761488" cy="228600"/>
          </a:xfrm>
          <a:prstGeom prst="rect">
            <a:avLst/>
          </a:prstGeom>
          <a:noFill/>
          <a:ln/>
        </p:spPr>
        <p:txBody>
          <a:bodyPr wrap="square" lIns="0" tIns="0" rIns="0" bIns="0" rtlCol="0" anchor="ctr">
            <a:normAutofit/>
          </a:bodyPr>
          <a:lstStyle/>
          <a:p>
            <a:pPr indent="0" marL="0">
              <a:buNone/>
            </a:pPr>
            <a:r>
              <a:rPr lang="en-US" sz="900" dirty="0">
                <a:solidFill>
                  <a:srgbClr val="6C808B"/>
                </a:solidFill>
                <a:latin typeface="Aptos" pitchFamily="34" charset="0"/>
                <a:ea typeface="Aptos" pitchFamily="34" charset="-122"/>
                <a:cs typeface="Aptos" pitchFamily="34" charset="-120"/>
              </a:rPr>
              <a:t>Preparedness lead or exercise sponsor (candidate).</a:t>
            </a:r>
            <a:endParaRPr lang="en-US" sz="900" dirty="0"/>
          </a:p>
        </p:txBody>
      </p:sp>
      <p:sp>
        <p:nvSpPr>
          <p:cNvPr id="16" name="Shape 14"/>
          <p:cNvSpPr/>
          <p:nvPr/>
        </p:nvSpPr>
        <p:spPr>
          <a:xfrm>
            <a:off x="4370832" y="3858768"/>
            <a:ext cx="3255264" cy="822960"/>
          </a:xfrm>
          <a:prstGeom prst="roundRect">
            <a:avLst>
              <a:gd name="adj" fmla="val 13333"/>
            </a:avLst>
          </a:prstGeom>
          <a:solidFill>
            <a:srgbClr val="FFFFFF"/>
          </a:solidFill>
          <a:ln w="11430">
            <a:solidFill>
              <a:srgbClr val="DCE7E8"/>
            </a:solidFill>
            <a:prstDash val="solid"/>
          </a:ln>
        </p:spPr>
      </p:sp>
      <p:sp>
        <p:nvSpPr>
          <p:cNvPr id="17" name="Text 15"/>
          <p:cNvSpPr/>
          <p:nvPr/>
        </p:nvSpPr>
        <p:spPr>
          <a:xfrm>
            <a:off x="4590288" y="3995928"/>
            <a:ext cx="2651760" cy="210312"/>
          </a:xfrm>
          <a:prstGeom prst="rect">
            <a:avLst/>
          </a:prstGeom>
          <a:noFill/>
          <a:ln/>
        </p:spPr>
        <p:txBody>
          <a:bodyPr wrap="square" lIns="0" tIns="0" rIns="0" bIns="0" rtlCol="0" anchor="ctr">
            <a:normAutofit/>
          </a:bodyPr>
          <a:lstStyle/>
          <a:p>
            <a:pPr indent="0" marL="0">
              <a:buNone/>
            </a:pPr>
            <a:r>
              <a:rPr lang="en-US" sz="1200" b="1" dirty="0">
                <a:solidFill>
                  <a:srgbClr val="173747"/>
                </a:solidFill>
                <a:latin typeface="Aptos" pitchFamily="34" charset="0"/>
                <a:ea typeface="Aptos" pitchFamily="34" charset="-122"/>
                <a:cs typeface="Aptos" pitchFamily="34" charset="-120"/>
              </a:rPr>
              <a:t>Budget owner</a:t>
            </a:r>
            <a:endParaRPr lang="en-US" sz="1200" dirty="0"/>
          </a:p>
        </p:txBody>
      </p:sp>
      <p:sp>
        <p:nvSpPr>
          <p:cNvPr id="18" name="Text 16"/>
          <p:cNvSpPr/>
          <p:nvPr/>
        </p:nvSpPr>
        <p:spPr>
          <a:xfrm>
            <a:off x="4590288" y="4279392"/>
            <a:ext cx="2761488" cy="228600"/>
          </a:xfrm>
          <a:prstGeom prst="rect">
            <a:avLst/>
          </a:prstGeom>
          <a:noFill/>
          <a:ln/>
        </p:spPr>
        <p:txBody>
          <a:bodyPr wrap="square" lIns="0" tIns="0" rIns="0" bIns="0" rtlCol="0" anchor="ctr">
            <a:normAutofit/>
          </a:bodyPr>
          <a:lstStyle/>
          <a:p>
            <a:pPr indent="0" marL="0">
              <a:buNone/>
            </a:pPr>
            <a:r>
              <a:rPr lang="en-US" sz="900" dirty="0">
                <a:solidFill>
                  <a:srgbClr val="6C808B"/>
                </a:solidFill>
                <a:latin typeface="Aptos" pitchFamily="34" charset="0"/>
                <a:ea typeface="Aptos" pitchFamily="34" charset="-122"/>
                <a:cs typeface="Aptos" pitchFamily="34" charset="-120"/>
              </a:rPr>
              <a:t>Not identified; role to validate in discovery.</a:t>
            </a:r>
            <a:endParaRPr lang="en-US" sz="900" dirty="0"/>
          </a:p>
        </p:txBody>
      </p:sp>
      <p:sp>
        <p:nvSpPr>
          <p:cNvPr id="19" name="Text 17"/>
          <p:cNvSpPr/>
          <p:nvPr/>
        </p:nvSpPr>
        <p:spPr>
          <a:xfrm>
            <a:off x="8156448" y="1856232"/>
            <a:ext cx="3108960" cy="265176"/>
          </a:xfrm>
          <a:prstGeom prst="rect">
            <a:avLst/>
          </a:prstGeom>
          <a:noFill/>
          <a:ln/>
        </p:spPr>
        <p:txBody>
          <a:bodyPr wrap="square" lIns="0" tIns="0" rIns="0" bIns="0" rtlCol="0" anchor="ctr">
            <a:normAutofit/>
          </a:bodyPr>
          <a:lstStyle/>
          <a:p>
            <a:pPr indent="0" marL="0">
              <a:buNone/>
            </a:pPr>
            <a:r>
              <a:rPr lang="en-US" sz="1300" b="1" dirty="0">
                <a:solidFill>
                  <a:srgbClr val="173747"/>
                </a:solidFill>
                <a:latin typeface="Aptos" pitchFamily="34" charset="0"/>
                <a:ea typeface="Aptos" pitchFamily="34" charset="-122"/>
                <a:cs typeface="Aptos" pitchFamily="34" charset="-120"/>
              </a:rPr>
              <a:t>Roles to validate</a:t>
            </a:r>
            <a:endParaRPr lang="en-US" sz="1300" dirty="0"/>
          </a:p>
        </p:txBody>
      </p:sp>
      <p:sp>
        <p:nvSpPr>
          <p:cNvPr id="20" name="Shape 18"/>
          <p:cNvSpPr/>
          <p:nvPr/>
        </p:nvSpPr>
        <p:spPr>
          <a:xfrm>
            <a:off x="8138160" y="2331720"/>
            <a:ext cx="3246120" cy="694944"/>
          </a:xfrm>
          <a:prstGeom prst="roundRect">
            <a:avLst>
              <a:gd name="adj" fmla="val 15789"/>
            </a:avLst>
          </a:prstGeom>
          <a:solidFill>
            <a:srgbClr val="EFF5F5"/>
          </a:solidFill>
          <a:ln w="11430">
            <a:solidFill>
              <a:srgbClr val="DCE7E8"/>
            </a:solidFill>
            <a:prstDash val="solid"/>
          </a:ln>
        </p:spPr>
      </p:sp>
      <p:sp>
        <p:nvSpPr>
          <p:cNvPr id="21" name="Shape 19"/>
          <p:cNvSpPr/>
          <p:nvPr/>
        </p:nvSpPr>
        <p:spPr>
          <a:xfrm>
            <a:off x="8302752" y="2514600"/>
            <a:ext cx="320040" cy="265176"/>
          </a:xfrm>
          <a:prstGeom prst="roundRect">
            <a:avLst>
              <a:gd name="adj" fmla="val 41379"/>
            </a:avLst>
          </a:prstGeom>
          <a:solidFill>
            <a:srgbClr val="E5F4F2"/>
          </a:solidFill>
          <a:ln w="12700">
            <a:solidFill>
              <a:srgbClr val="E5F4F2">
                <a:alpha val="0"/>
              </a:srgbClr>
            </a:solidFill>
            <a:prstDash val="solid"/>
          </a:ln>
        </p:spPr>
      </p:sp>
      <p:sp>
        <p:nvSpPr>
          <p:cNvPr id="22" name="Text 20"/>
          <p:cNvSpPr/>
          <p:nvPr/>
        </p:nvSpPr>
        <p:spPr>
          <a:xfrm>
            <a:off x="8375904" y="2528316"/>
            <a:ext cx="173736" cy="219456"/>
          </a:xfrm>
          <a:prstGeom prst="rect">
            <a:avLst/>
          </a:prstGeom>
          <a:noFill/>
          <a:ln/>
        </p:spPr>
        <p:txBody>
          <a:bodyPr wrap="square" lIns="0" tIns="0" rIns="0" bIns="0" rtlCol="0" anchor="ctr">
            <a:normAutofit/>
          </a:bodyPr>
          <a:lstStyle/>
          <a:p>
            <a:pPr algn="ctr" indent="0" marL="0">
              <a:buNone/>
            </a:pPr>
            <a:r>
              <a:rPr lang="en-US" sz="850" b="1" dirty="0">
                <a:solidFill>
                  <a:srgbClr val="0D8F89"/>
                </a:solidFill>
                <a:latin typeface="Aptos" pitchFamily="34" charset="0"/>
                <a:ea typeface="Aptos" pitchFamily="34" charset="-122"/>
                <a:cs typeface="Aptos" pitchFamily="34" charset="-120"/>
              </a:rPr>
              <a:t>1</a:t>
            </a:r>
            <a:endParaRPr lang="en-US" sz="850" dirty="0"/>
          </a:p>
        </p:txBody>
      </p:sp>
      <p:sp>
        <p:nvSpPr>
          <p:cNvPr id="23" name="Text 21"/>
          <p:cNvSpPr/>
          <p:nvPr/>
        </p:nvSpPr>
        <p:spPr>
          <a:xfrm>
            <a:off x="8759952" y="2487168"/>
            <a:ext cx="2331720" cy="365760"/>
          </a:xfrm>
          <a:prstGeom prst="rect">
            <a:avLst/>
          </a:prstGeom>
          <a:noFill/>
          <a:ln/>
        </p:spPr>
        <p:txBody>
          <a:bodyPr wrap="square" lIns="0" tIns="0" rIns="0" bIns="0" rtlCol="0" anchor="ctr">
            <a:normAutofit/>
          </a:bodyPr>
          <a:lstStyle/>
          <a:p>
            <a:pPr indent="0" marL="0">
              <a:buNone/>
            </a:pPr>
            <a:r>
              <a:rPr lang="en-US" sz="1040" b="1" dirty="0">
                <a:solidFill>
                  <a:srgbClr val="253E4D"/>
                </a:solidFill>
                <a:latin typeface="Aptos" pitchFamily="34" charset="0"/>
                <a:ea typeface="Aptos" pitchFamily="34" charset="-122"/>
                <a:cs typeface="Aptos" pitchFamily="34" charset="-120"/>
              </a:rPr>
              <a:t>Who prepares the AAR/IP?</a:t>
            </a:r>
            <a:endParaRPr lang="en-US" sz="1040" dirty="0"/>
          </a:p>
        </p:txBody>
      </p:sp>
      <p:sp>
        <p:nvSpPr>
          <p:cNvPr id="24" name="Shape 22"/>
          <p:cNvSpPr/>
          <p:nvPr/>
        </p:nvSpPr>
        <p:spPr>
          <a:xfrm>
            <a:off x="8138160" y="3200400"/>
            <a:ext cx="3246120" cy="694944"/>
          </a:xfrm>
          <a:prstGeom prst="roundRect">
            <a:avLst>
              <a:gd name="adj" fmla="val 15789"/>
            </a:avLst>
          </a:prstGeom>
          <a:solidFill>
            <a:srgbClr val="EFF5F5"/>
          </a:solidFill>
          <a:ln w="11430">
            <a:solidFill>
              <a:srgbClr val="DCE7E8"/>
            </a:solidFill>
            <a:prstDash val="solid"/>
          </a:ln>
        </p:spPr>
      </p:sp>
      <p:sp>
        <p:nvSpPr>
          <p:cNvPr id="25" name="Shape 23"/>
          <p:cNvSpPr/>
          <p:nvPr/>
        </p:nvSpPr>
        <p:spPr>
          <a:xfrm>
            <a:off x="8302752" y="3383280"/>
            <a:ext cx="320040" cy="265176"/>
          </a:xfrm>
          <a:prstGeom prst="roundRect">
            <a:avLst>
              <a:gd name="adj" fmla="val 41379"/>
            </a:avLst>
          </a:prstGeom>
          <a:solidFill>
            <a:srgbClr val="E5F4F2"/>
          </a:solidFill>
          <a:ln w="12700">
            <a:solidFill>
              <a:srgbClr val="E5F4F2">
                <a:alpha val="0"/>
              </a:srgbClr>
            </a:solidFill>
            <a:prstDash val="solid"/>
          </a:ln>
        </p:spPr>
      </p:sp>
      <p:sp>
        <p:nvSpPr>
          <p:cNvPr id="26" name="Text 24"/>
          <p:cNvSpPr/>
          <p:nvPr/>
        </p:nvSpPr>
        <p:spPr>
          <a:xfrm>
            <a:off x="8375904" y="3396996"/>
            <a:ext cx="173736" cy="219456"/>
          </a:xfrm>
          <a:prstGeom prst="rect">
            <a:avLst/>
          </a:prstGeom>
          <a:noFill/>
          <a:ln/>
        </p:spPr>
        <p:txBody>
          <a:bodyPr wrap="square" lIns="0" tIns="0" rIns="0" bIns="0" rtlCol="0" anchor="ctr">
            <a:normAutofit/>
          </a:bodyPr>
          <a:lstStyle/>
          <a:p>
            <a:pPr algn="ctr" indent="0" marL="0">
              <a:buNone/>
            </a:pPr>
            <a:r>
              <a:rPr lang="en-US" sz="850" b="1" dirty="0">
                <a:solidFill>
                  <a:srgbClr val="0D8F89"/>
                </a:solidFill>
                <a:latin typeface="Aptos" pitchFamily="34" charset="0"/>
                <a:ea typeface="Aptos" pitchFamily="34" charset="-122"/>
                <a:cs typeface="Aptos" pitchFamily="34" charset="-120"/>
              </a:rPr>
              <a:t>2</a:t>
            </a:r>
            <a:endParaRPr lang="en-US" sz="850" dirty="0"/>
          </a:p>
        </p:txBody>
      </p:sp>
      <p:sp>
        <p:nvSpPr>
          <p:cNvPr id="27" name="Text 25"/>
          <p:cNvSpPr/>
          <p:nvPr/>
        </p:nvSpPr>
        <p:spPr>
          <a:xfrm>
            <a:off x="8759952" y="3355848"/>
            <a:ext cx="2331720" cy="365760"/>
          </a:xfrm>
          <a:prstGeom prst="rect">
            <a:avLst/>
          </a:prstGeom>
          <a:noFill/>
          <a:ln/>
        </p:spPr>
        <p:txBody>
          <a:bodyPr wrap="square" lIns="0" tIns="0" rIns="0" bIns="0" rtlCol="0" anchor="ctr">
            <a:normAutofit/>
          </a:bodyPr>
          <a:lstStyle/>
          <a:p>
            <a:pPr indent="0" marL="0">
              <a:buNone/>
            </a:pPr>
            <a:r>
              <a:rPr lang="en-US" sz="1040" b="1" dirty="0">
                <a:solidFill>
                  <a:srgbClr val="253E4D"/>
                </a:solidFill>
                <a:latin typeface="Aptos" pitchFamily="34" charset="0"/>
                <a:ea typeface="Aptos" pitchFamily="34" charset="-122"/>
                <a:cs typeface="Aptos" pitchFamily="34" charset="-120"/>
              </a:rPr>
              <a:t>Who approves findings?</a:t>
            </a:r>
            <a:endParaRPr lang="en-US" sz="1040" dirty="0"/>
          </a:p>
        </p:txBody>
      </p:sp>
      <p:sp>
        <p:nvSpPr>
          <p:cNvPr id="28" name="Shape 26"/>
          <p:cNvSpPr/>
          <p:nvPr/>
        </p:nvSpPr>
        <p:spPr>
          <a:xfrm>
            <a:off x="8138160" y="4069080"/>
            <a:ext cx="3246120" cy="694944"/>
          </a:xfrm>
          <a:prstGeom prst="roundRect">
            <a:avLst>
              <a:gd name="adj" fmla="val 15789"/>
            </a:avLst>
          </a:prstGeom>
          <a:solidFill>
            <a:srgbClr val="EFF5F5"/>
          </a:solidFill>
          <a:ln w="11430">
            <a:solidFill>
              <a:srgbClr val="DCE7E8"/>
            </a:solidFill>
            <a:prstDash val="solid"/>
          </a:ln>
        </p:spPr>
      </p:sp>
      <p:sp>
        <p:nvSpPr>
          <p:cNvPr id="29" name="Shape 27"/>
          <p:cNvSpPr/>
          <p:nvPr/>
        </p:nvSpPr>
        <p:spPr>
          <a:xfrm>
            <a:off x="8302752" y="4251960"/>
            <a:ext cx="320040" cy="265176"/>
          </a:xfrm>
          <a:prstGeom prst="roundRect">
            <a:avLst>
              <a:gd name="adj" fmla="val 41379"/>
            </a:avLst>
          </a:prstGeom>
          <a:solidFill>
            <a:srgbClr val="E5F4F2"/>
          </a:solidFill>
          <a:ln w="12700">
            <a:solidFill>
              <a:srgbClr val="E5F4F2">
                <a:alpha val="0"/>
              </a:srgbClr>
            </a:solidFill>
            <a:prstDash val="solid"/>
          </a:ln>
        </p:spPr>
      </p:sp>
      <p:sp>
        <p:nvSpPr>
          <p:cNvPr id="30" name="Text 28"/>
          <p:cNvSpPr/>
          <p:nvPr/>
        </p:nvSpPr>
        <p:spPr>
          <a:xfrm>
            <a:off x="8375904" y="4265676"/>
            <a:ext cx="173736" cy="219456"/>
          </a:xfrm>
          <a:prstGeom prst="rect">
            <a:avLst/>
          </a:prstGeom>
          <a:noFill/>
          <a:ln/>
        </p:spPr>
        <p:txBody>
          <a:bodyPr wrap="square" lIns="0" tIns="0" rIns="0" bIns="0" rtlCol="0" anchor="ctr">
            <a:normAutofit/>
          </a:bodyPr>
          <a:lstStyle/>
          <a:p>
            <a:pPr algn="ctr" indent="0" marL="0">
              <a:buNone/>
            </a:pPr>
            <a:r>
              <a:rPr lang="en-US" sz="850" b="1" dirty="0">
                <a:solidFill>
                  <a:srgbClr val="0D8F89"/>
                </a:solidFill>
                <a:latin typeface="Aptos" pitchFamily="34" charset="0"/>
                <a:ea typeface="Aptos" pitchFamily="34" charset="-122"/>
                <a:cs typeface="Aptos" pitchFamily="34" charset="-120"/>
              </a:rPr>
              <a:t>3</a:t>
            </a:r>
            <a:endParaRPr lang="en-US" sz="850" dirty="0"/>
          </a:p>
        </p:txBody>
      </p:sp>
      <p:sp>
        <p:nvSpPr>
          <p:cNvPr id="31" name="Text 29"/>
          <p:cNvSpPr/>
          <p:nvPr/>
        </p:nvSpPr>
        <p:spPr>
          <a:xfrm>
            <a:off x="8759952" y="4224528"/>
            <a:ext cx="2331720" cy="365760"/>
          </a:xfrm>
          <a:prstGeom prst="rect">
            <a:avLst/>
          </a:prstGeom>
          <a:noFill/>
          <a:ln/>
        </p:spPr>
        <p:txBody>
          <a:bodyPr wrap="square" lIns="0" tIns="0" rIns="0" bIns="0" rtlCol="0" anchor="ctr">
            <a:normAutofit/>
          </a:bodyPr>
          <a:lstStyle/>
          <a:p>
            <a:pPr indent="0" marL="0">
              <a:buNone/>
            </a:pPr>
            <a:r>
              <a:rPr lang="en-US" sz="1040" b="1" dirty="0">
                <a:solidFill>
                  <a:srgbClr val="253E4D"/>
                </a:solidFill>
                <a:latin typeface="Aptos" pitchFamily="34" charset="0"/>
                <a:ea typeface="Aptos" pitchFamily="34" charset="-122"/>
                <a:cs typeface="Aptos" pitchFamily="34" charset="-120"/>
              </a:rPr>
              <a:t>Who controls the budget?</a:t>
            </a:r>
            <a:endParaRPr lang="en-US" sz="1040" dirty="0"/>
          </a:p>
        </p:txBody>
      </p:sp>
      <p:sp>
        <p:nvSpPr>
          <p:cNvPr id="32" name="Shape 30"/>
          <p:cNvSpPr/>
          <p:nvPr/>
        </p:nvSpPr>
        <p:spPr>
          <a:xfrm>
            <a:off x="4370832" y="5074920"/>
            <a:ext cx="7013448" cy="649224"/>
          </a:xfrm>
          <a:prstGeom prst="roundRect">
            <a:avLst>
              <a:gd name="adj" fmla="val 16901"/>
            </a:avLst>
          </a:prstGeom>
          <a:solidFill>
            <a:srgbClr val="FFF4E2"/>
          </a:solidFill>
          <a:ln w="11430">
            <a:solidFill>
              <a:srgbClr val="EBD9B9"/>
            </a:solidFill>
            <a:prstDash val="solid"/>
          </a:ln>
        </p:spPr>
      </p:sp>
      <p:sp>
        <p:nvSpPr>
          <p:cNvPr id="33" name="Text 31"/>
          <p:cNvSpPr/>
          <p:nvPr/>
        </p:nvSpPr>
        <p:spPr>
          <a:xfrm>
            <a:off x="4590288" y="5285232"/>
            <a:ext cx="6510528" cy="228600"/>
          </a:xfrm>
          <a:prstGeom prst="rect">
            <a:avLst/>
          </a:prstGeom>
          <a:noFill/>
          <a:ln/>
        </p:spPr>
        <p:txBody>
          <a:bodyPr wrap="square" lIns="0" tIns="0" rIns="0" bIns="0" rtlCol="0" anchor="ctr">
            <a:normAutofit/>
          </a:bodyPr>
          <a:lstStyle/>
          <a:p>
            <a:pPr indent="0" marL="0">
              <a:buNone/>
            </a:pPr>
            <a:r>
              <a:rPr lang="en-US" sz="1100" b="1" dirty="0">
                <a:solidFill>
                  <a:srgbClr val="805E2B"/>
                </a:solidFill>
                <a:latin typeface="Aptos" pitchFamily="34" charset="0"/>
                <a:ea typeface="Aptos" pitchFamily="34" charset="-122"/>
                <a:cs typeface="Aptos" pitchFamily="34" charset="-120"/>
              </a:rPr>
              <a:t>No interviews or purchasing-path validation are recorded yet.</a:t>
            </a:r>
            <a:endParaRPr lang="en-US" sz="1100" dirty="0"/>
          </a:p>
        </p:txBody>
      </p:sp>
      <p:sp>
        <p:nvSpPr>
          <p:cNvPr id="25" name="Slide Number Placeholder 0"/>
          <p:cNvSpPr>
            <a:spLocks noGrp="1"/>
          </p:cNvSpPr>
          <p:nvPr>
            <p:ph type="sldNum" sz="quarter" idx="4294967295"/>
          </p:nvPr>
        </p:nvSpPr>
        <p:spPr>
          <a:xfrm>
            <a:off x="11768328" y="6556248"/>
            <a:ext cx="182880" cy="164592"/>
          </a:xfrm>
          <a:prstGeom prst="rect">
            <a:avLst/>
          </a:prstGeom>
          <a:extLst>
            <a:ext uri="{C572A759-6A51-4108-AA02-DFA0A04FC94B}">
              <ma14:wrappingTextBoxFlag xmlns:ma14="http://schemas.microsoft.com/office/mac/drawingml/2011/main" val="0"/>
            </a:ext>
          </a:extLst>
        </p:spPr>
        <p:txBody>
          <a:bodyPr/>
          <a:lstStyle>
            <a:lvl1pPr>
              <a:defRPr sz="700">
                <a:solidFill>
                  <a:srgbClr val="6C808B"/>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4360" y="329184"/>
            <a:ext cx="10789920" cy="219456"/>
          </a:xfrm>
          <a:prstGeom prst="rect">
            <a:avLst/>
          </a:prstGeom>
          <a:noFill/>
          <a:ln/>
        </p:spPr>
        <p:txBody>
          <a:bodyPr wrap="square" lIns="0" tIns="0" rIns="0" bIns="0" rtlCol="0" anchor="ctr">
            <a:normAutofit/>
          </a:bodyPr>
          <a:lstStyle/>
          <a:p>
            <a:pPr indent="0" marL="0">
              <a:buNone/>
            </a:pPr>
            <a:r>
              <a:rPr lang="en-US" sz="900" b="1" spc="120" kern="0" dirty="0">
                <a:solidFill>
                  <a:srgbClr val="0D8F89"/>
                </a:solidFill>
                <a:latin typeface="Aptos" pitchFamily="34" charset="0"/>
                <a:ea typeface="Aptos" pitchFamily="34" charset="-122"/>
                <a:cs typeface="Aptos" pitchFamily="34" charset="-120"/>
              </a:rPr>
              <a:t>COMMERCIAL HYPOTHESIS</a:t>
            </a:r>
            <a:endParaRPr lang="en-US" sz="900" dirty="0"/>
          </a:p>
        </p:txBody>
      </p:sp>
      <p:sp>
        <p:nvSpPr>
          <p:cNvPr id="3" name="Text 1"/>
          <p:cNvSpPr/>
          <p:nvPr/>
        </p:nvSpPr>
        <p:spPr>
          <a:xfrm>
            <a:off x="594360" y="640080"/>
            <a:ext cx="10972800" cy="475488"/>
          </a:xfrm>
          <a:prstGeom prst="rect">
            <a:avLst/>
          </a:prstGeom>
          <a:noFill/>
          <a:ln/>
        </p:spPr>
        <p:txBody>
          <a:bodyPr wrap="square" lIns="0" tIns="0" rIns="0" bIns="0" rtlCol="0" anchor="ctr">
            <a:normAutofit/>
          </a:bodyPr>
          <a:lstStyle/>
          <a:p>
            <a:pPr indent="0" marL="0">
              <a:buNone/>
            </a:pPr>
            <a:r>
              <a:rPr lang="en-US" sz="2600" b="1" dirty="0">
                <a:solidFill>
                  <a:srgbClr val="173747"/>
                </a:solidFill>
                <a:latin typeface="Aptos Display" pitchFamily="34" charset="0"/>
                <a:ea typeface="Aptos Display" pitchFamily="34" charset="-122"/>
                <a:cs typeface="Aptos Display" pitchFamily="34" charset="-120"/>
              </a:rPr>
              <a:t>Start with a per-exercise pilot fee</a:t>
            </a:r>
            <a:endParaRPr lang="en-US" sz="2600" dirty="0"/>
          </a:p>
        </p:txBody>
      </p:sp>
      <p:sp>
        <p:nvSpPr>
          <p:cNvPr id="4" name="Text 2"/>
          <p:cNvSpPr/>
          <p:nvPr/>
        </p:nvSpPr>
        <p:spPr>
          <a:xfrm>
            <a:off x="612648" y="1133856"/>
            <a:ext cx="10881360" cy="310896"/>
          </a:xfrm>
          <a:prstGeom prst="rect">
            <a:avLst/>
          </a:prstGeom>
          <a:noFill/>
          <a:ln/>
        </p:spPr>
        <p:txBody>
          <a:bodyPr wrap="square" lIns="0" tIns="0" rIns="0" bIns="0" rtlCol="0" anchor="ctr">
            <a:normAutofit/>
          </a:bodyPr>
          <a:lstStyle/>
          <a:p>
            <a:pPr indent="0" marL="0">
              <a:buNone/>
            </a:pPr>
            <a:r>
              <a:rPr lang="en-US" sz="1130" dirty="0">
                <a:solidFill>
                  <a:srgbClr val="6C808B"/>
                </a:solidFill>
                <a:latin typeface="Aptos" pitchFamily="34" charset="0"/>
                <a:ea typeface="Aptos" pitchFamily="34" charset="-122"/>
                <a:cs typeface="Aptos" pitchFamily="34" charset="-120"/>
              </a:rPr>
              <a:t>This is the first model to validate; no price, buyer demand, or revenue has been established.</a:t>
            </a:r>
            <a:endParaRPr lang="en-US" sz="1130" dirty="0"/>
          </a:p>
        </p:txBody>
      </p:sp>
      <p:sp>
        <p:nvSpPr>
          <p:cNvPr id="5" name="Shape 3"/>
          <p:cNvSpPr/>
          <p:nvPr/>
        </p:nvSpPr>
        <p:spPr>
          <a:xfrm>
            <a:off x="749808" y="1828800"/>
            <a:ext cx="3337560" cy="3520440"/>
          </a:xfrm>
          <a:prstGeom prst="roundRect">
            <a:avLst>
              <a:gd name="adj" fmla="val 3288"/>
            </a:avLst>
          </a:prstGeom>
          <a:solidFill>
            <a:srgbClr val="173747"/>
          </a:solidFill>
          <a:ln w="11430">
            <a:solidFill>
              <a:srgbClr val="173747"/>
            </a:solidFill>
            <a:prstDash val="solid"/>
          </a:ln>
        </p:spPr>
      </p:sp>
      <p:sp>
        <p:nvSpPr>
          <p:cNvPr id="6" name="Shape 4"/>
          <p:cNvSpPr/>
          <p:nvPr/>
        </p:nvSpPr>
        <p:spPr>
          <a:xfrm>
            <a:off x="1024128" y="2139696"/>
            <a:ext cx="1737360" cy="265176"/>
          </a:xfrm>
          <a:prstGeom prst="roundRect">
            <a:avLst>
              <a:gd name="adj" fmla="val 41379"/>
            </a:avLst>
          </a:prstGeom>
          <a:solidFill>
            <a:srgbClr val="21505C"/>
          </a:solidFill>
          <a:ln w="12700">
            <a:solidFill>
              <a:srgbClr val="21505C">
                <a:alpha val="0"/>
              </a:srgbClr>
            </a:solidFill>
            <a:prstDash val="solid"/>
          </a:ln>
        </p:spPr>
      </p:sp>
      <p:sp>
        <p:nvSpPr>
          <p:cNvPr id="7" name="Text 5"/>
          <p:cNvSpPr/>
          <p:nvPr/>
        </p:nvSpPr>
        <p:spPr>
          <a:xfrm>
            <a:off x="1097280" y="2153412"/>
            <a:ext cx="1591056" cy="219456"/>
          </a:xfrm>
          <a:prstGeom prst="rect">
            <a:avLst/>
          </a:prstGeom>
          <a:noFill/>
          <a:ln/>
        </p:spPr>
        <p:txBody>
          <a:bodyPr wrap="square" lIns="0" tIns="0" rIns="0" bIns="0" rtlCol="0" anchor="ctr">
            <a:normAutofit/>
          </a:bodyPr>
          <a:lstStyle/>
          <a:p>
            <a:pPr algn="ctr" indent="0" marL="0">
              <a:buNone/>
            </a:pPr>
            <a:r>
              <a:rPr lang="en-US" sz="850" b="1" dirty="0">
                <a:solidFill>
                  <a:srgbClr val="A6E0D8"/>
                </a:solidFill>
                <a:latin typeface="Aptos" pitchFamily="34" charset="0"/>
                <a:ea typeface="Aptos" pitchFamily="34" charset="-122"/>
                <a:cs typeface="Aptos" pitchFamily="34" charset="-120"/>
              </a:rPr>
              <a:t>FIRST MODEL TO TEST</a:t>
            </a:r>
            <a:endParaRPr lang="en-US" sz="850" dirty="0"/>
          </a:p>
        </p:txBody>
      </p:sp>
      <p:sp>
        <p:nvSpPr>
          <p:cNvPr id="8" name="Text 6"/>
          <p:cNvSpPr/>
          <p:nvPr/>
        </p:nvSpPr>
        <p:spPr>
          <a:xfrm>
            <a:off x="1024128" y="2706624"/>
            <a:ext cx="2697480" cy="822960"/>
          </a:xfrm>
          <a:prstGeom prst="rect">
            <a:avLst/>
          </a:prstGeom>
          <a:noFill/>
          <a:ln/>
        </p:spPr>
        <p:txBody>
          <a:bodyPr wrap="square" lIns="0" tIns="0" rIns="0" bIns="0" rtlCol="0" anchor="t">
            <a:normAutofit/>
          </a:bodyPr>
          <a:lstStyle/>
          <a:p>
            <a:pPr indent="0" marL="0">
              <a:buNone/>
            </a:pPr>
            <a:r>
              <a:rPr lang="en-US" sz="2700" b="1" dirty="0">
                <a:solidFill>
                  <a:srgbClr val="FFFFFF"/>
                </a:solidFill>
                <a:latin typeface="Aptos Display" pitchFamily="34" charset="0"/>
                <a:ea typeface="Aptos Display" pitchFamily="34" charset="-122"/>
                <a:cs typeface="Aptos Display" pitchFamily="34" charset="-120"/>
              </a:rPr>
              <a:t>Per-exercise</a:t>
            </a:r>
            <a:endParaRPr lang="en-US" sz="2700" dirty="0"/>
          </a:p>
          <a:p>
            <a:pPr indent="0" marL="0">
              <a:buNone/>
            </a:pPr>
            <a:r>
              <a:rPr lang="en-US" sz="2700" b="1" dirty="0">
                <a:solidFill>
                  <a:srgbClr val="FFFFFF"/>
                </a:solidFill>
                <a:latin typeface="Aptos Display" pitchFamily="34" charset="0"/>
                <a:ea typeface="Aptos Display" pitchFamily="34" charset="-122"/>
                <a:cs typeface="Aptos Display" pitchFamily="34" charset="-120"/>
              </a:rPr>
              <a:t>pilot fee</a:t>
            </a:r>
            <a:endParaRPr lang="en-US" sz="2700" dirty="0"/>
          </a:p>
        </p:txBody>
      </p:sp>
      <p:sp>
        <p:nvSpPr>
          <p:cNvPr id="9" name="Text 7"/>
          <p:cNvSpPr/>
          <p:nvPr/>
        </p:nvSpPr>
        <p:spPr>
          <a:xfrm>
            <a:off x="1024128" y="3904488"/>
            <a:ext cx="2724912" cy="786384"/>
          </a:xfrm>
          <a:prstGeom prst="rect">
            <a:avLst/>
          </a:prstGeom>
          <a:noFill/>
          <a:ln/>
        </p:spPr>
        <p:txBody>
          <a:bodyPr wrap="square" lIns="0" tIns="0" rIns="0" bIns="0" rtlCol="0" anchor="t">
            <a:normAutofit/>
          </a:bodyPr>
          <a:lstStyle/>
          <a:p>
            <a:pPr indent="0" marL="0">
              <a:buNone/>
            </a:pPr>
            <a:r>
              <a:rPr lang="en-US" sz="1100" dirty="0">
                <a:solidFill>
                  <a:srgbClr val="C2D4D6"/>
                </a:solidFill>
                <a:latin typeface="Aptos" pitchFamily="34" charset="0"/>
                <a:ea typeface="Aptos" pitchFamily="34" charset="-122"/>
                <a:cs typeface="Aptos" pitchFamily="34" charset="-120"/>
              </a:rPr>
              <a:t>Price to be set with the prospective buyer after delivery effort and procurement path are understood.</a:t>
            </a:r>
            <a:endParaRPr lang="en-US" sz="1100" dirty="0"/>
          </a:p>
        </p:txBody>
      </p:sp>
      <p:sp>
        <p:nvSpPr>
          <p:cNvPr id="10" name="Shape 8"/>
          <p:cNvSpPr/>
          <p:nvPr/>
        </p:nvSpPr>
        <p:spPr>
          <a:xfrm>
            <a:off x="4498848" y="1847088"/>
            <a:ext cx="6784848" cy="914400"/>
          </a:xfrm>
          <a:prstGeom prst="roundRect">
            <a:avLst>
              <a:gd name="adj" fmla="val 12000"/>
            </a:avLst>
          </a:prstGeom>
          <a:solidFill>
            <a:srgbClr val="FFFFFF"/>
          </a:solidFill>
          <a:ln w="11430">
            <a:solidFill>
              <a:srgbClr val="DCE7E8"/>
            </a:solidFill>
            <a:prstDash val="solid"/>
          </a:ln>
        </p:spPr>
      </p:sp>
      <p:sp>
        <p:nvSpPr>
          <p:cNvPr id="11" name="Text 9"/>
          <p:cNvSpPr/>
          <p:nvPr/>
        </p:nvSpPr>
        <p:spPr>
          <a:xfrm>
            <a:off x="4736592" y="2002536"/>
            <a:ext cx="1005840" cy="182880"/>
          </a:xfrm>
          <a:prstGeom prst="rect">
            <a:avLst/>
          </a:prstGeom>
          <a:noFill/>
          <a:ln/>
        </p:spPr>
        <p:txBody>
          <a:bodyPr wrap="square" lIns="0" tIns="0" rIns="0" bIns="0" rtlCol="0" anchor="ctr">
            <a:normAutofit/>
          </a:bodyPr>
          <a:lstStyle/>
          <a:p>
            <a:pPr indent="0" marL="0">
              <a:buNone/>
            </a:pPr>
            <a:r>
              <a:rPr lang="en-US" sz="850" b="1" spc="80" kern="0" dirty="0">
                <a:solidFill>
                  <a:srgbClr val="0D8F89"/>
                </a:solidFill>
                <a:latin typeface="Aptos" pitchFamily="34" charset="0"/>
                <a:ea typeface="Aptos" pitchFamily="34" charset="-122"/>
                <a:cs typeface="Aptos" pitchFamily="34" charset="-120"/>
              </a:rPr>
              <a:t>BUYER</a:t>
            </a:r>
            <a:endParaRPr lang="en-US" sz="850" dirty="0"/>
          </a:p>
        </p:txBody>
      </p:sp>
      <p:sp>
        <p:nvSpPr>
          <p:cNvPr id="12" name="Text 10"/>
          <p:cNvSpPr/>
          <p:nvPr/>
        </p:nvSpPr>
        <p:spPr>
          <a:xfrm>
            <a:off x="5779008" y="1975104"/>
            <a:ext cx="5138928" cy="621792"/>
          </a:xfrm>
          <a:prstGeom prst="rect">
            <a:avLst/>
          </a:prstGeom>
          <a:noFill/>
          <a:ln/>
        </p:spPr>
        <p:txBody>
          <a:bodyPr wrap="square" lIns="0" tIns="0" rIns="0" bIns="0" rtlCol="0" anchor="t">
            <a:normAutofit/>
          </a:bodyPr>
          <a:lstStyle/>
          <a:p>
            <a:pPr indent="0" marL="0">
              <a:buNone/>
            </a:pPr>
            <a:r>
              <a:rPr lang="en-US" sz="1200" b="1" dirty="0">
                <a:solidFill>
                  <a:srgbClr val="173747"/>
                </a:solidFill>
                <a:latin typeface="Aptos" pitchFamily="34" charset="0"/>
                <a:ea typeface="Aptos" pitchFamily="34" charset="-122"/>
                <a:cs typeface="Aptos" pitchFamily="34" charset="-120"/>
              </a:rPr>
              <a:t>Who owns the budget and approves an exercise-level purchase?</a:t>
            </a:r>
            <a:endParaRPr lang="en-US" sz="1200" dirty="0"/>
          </a:p>
        </p:txBody>
      </p:sp>
      <p:sp>
        <p:nvSpPr>
          <p:cNvPr id="13" name="Shape 11"/>
          <p:cNvSpPr/>
          <p:nvPr/>
        </p:nvSpPr>
        <p:spPr>
          <a:xfrm>
            <a:off x="4498848" y="2962656"/>
            <a:ext cx="6784848" cy="914400"/>
          </a:xfrm>
          <a:prstGeom prst="roundRect">
            <a:avLst>
              <a:gd name="adj" fmla="val 12000"/>
            </a:avLst>
          </a:prstGeom>
          <a:solidFill>
            <a:srgbClr val="FFFFFF"/>
          </a:solidFill>
          <a:ln w="11430">
            <a:solidFill>
              <a:srgbClr val="DCE7E8"/>
            </a:solidFill>
            <a:prstDash val="solid"/>
          </a:ln>
        </p:spPr>
      </p:sp>
      <p:sp>
        <p:nvSpPr>
          <p:cNvPr id="14" name="Text 12"/>
          <p:cNvSpPr/>
          <p:nvPr/>
        </p:nvSpPr>
        <p:spPr>
          <a:xfrm>
            <a:off x="4736592" y="3118104"/>
            <a:ext cx="1005840" cy="182880"/>
          </a:xfrm>
          <a:prstGeom prst="rect">
            <a:avLst/>
          </a:prstGeom>
          <a:noFill/>
          <a:ln/>
        </p:spPr>
        <p:txBody>
          <a:bodyPr wrap="square" lIns="0" tIns="0" rIns="0" bIns="0" rtlCol="0" anchor="ctr">
            <a:normAutofit/>
          </a:bodyPr>
          <a:lstStyle/>
          <a:p>
            <a:pPr indent="0" marL="0">
              <a:buNone/>
            </a:pPr>
            <a:r>
              <a:rPr lang="en-US" sz="850" b="1" spc="80" kern="0" dirty="0">
                <a:solidFill>
                  <a:srgbClr val="0D8F89"/>
                </a:solidFill>
                <a:latin typeface="Aptos" pitchFamily="34" charset="0"/>
                <a:ea typeface="Aptos" pitchFamily="34" charset="-122"/>
                <a:cs typeface="Aptos" pitchFamily="34" charset="-120"/>
              </a:rPr>
              <a:t>VALUE</a:t>
            </a:r>
            <a:endParaRPr lang="en-US" sz="850" dirty="0"/>
          </a:p>
        </p:txBody>
      </p:sp>
      <p:sp>
        <p:nvSpPr>
          <p:cNvPr id="15" name="Text 13"/>
          <p:cNvSpPr/>
          <p:nvPr/>
        </p:nvSpPr>
        <p:spPr>
          <a:xfrm>
            <a:off x="5779008" y="3090672"/>
            <a:ext cx="5138928" cy="621792"/>
          </a:xfrm>
          <a:prstGeom prst="rect">
            <a:avLst/>
          </a:prstGeom>
          <a:noFill/>
          <a:ln/>
        </p:spPr>
        <p:txBody>
          <a:bodyPr wrap="square" lIns="0" tIns="0" rIns="0" bIns="0" rtlCol="0" anchor="t">
            <a:normAutofit/>
          </a:bodyPr>
          <a:lstStyle/>
          <a:p>
            <a:pPr indent="0" marL="0">
              <a:buNone/>
            </a:pPr>
            <a:r>
              <a:rPr lang="en-US" sz="1200" b="1" dirty="0">
                <a:solidFill>
                  <a:srgbClr val="173747"/>
                </a:solidFill>
                <a:latin typeface="Aptos" pitchFamily="34" charset="0"/>
                <a:ea typeface="Aptos" pitchFamily="34" charset="-122"/>
                <a:cs typeface="Aptos" pitchFamily="34" charset="-120"/>
              </a:rPr>
              <a:t>Does evidence lookup, review, or action follow-up improve on the current process?</a:t>
            </a:r>
            <a:endParaRPr lang="en-US" sz="1200" dirty="0"/>
          </a:p>
        </p:txBody>
      </p:sp>
      <p:sp>
        <p:nvSpPr>
          <p:cNvPr id="16" name="Shape 14"/>
          <p:cNvSpPr/>
          <p:nvPr/>
        </p:nvSpPr>
        <p:spPr>
          <a:xfrm>
            <a:off x="4498848" y="4078224"/>
            <a:ext cx="6784848" cy="914400"/>
          </a:xfrm>
          <a:prstGeom prst="roundRect">
            <a:avLst>
              <a:gd name="adj" fmla="val 12000"/>
            </a:avLst>
          </a:prstGeom>
          <a:solidFill>
            <a:srgbClr val="FFFFFF"/>
          </a:solidFill>
          <a:ln w="11430">
            <a:solidFill>
              <a:srgbClr val="DCE7E8"/>
            </a:solidFill>
            <a:prstDash val="solid"/>
          </a:ln>
        </p:spPr>
      </p:sp>
      <p:sp>
        <p:nvSpPr>
          <p:cNvPr id="17" name="Text 15"/>
          <p:cNvSpPr/>
          <p:nvPr/>
        </p:nvSpPr>
        <p:spPr>
          <a:xfrm>
            <a:off x="4736592" y="4233672"/>
            <a:ext cx="1005840" cy="182880"/>
          </a:xfrm>
          <a:prstGeom prst="rect">
            <a:avLst/>
          </a:prstGeom>
          <a:noFill/>
          <a:ln/>
        </p:spPr>
        <p:txBody>
          <a:bodyPr wrap="square" lIns="0" tIns="0" rIns="0" bIns="0" rtlCol="0" anchor="ctr">
            <a:normAutofit/>
          </a:bodyPr>
          <a:lstStyle/>
          <a:p>
            <a:pPr indent="0" marL="0">
              <a:buNone/>
            </a:pPr>
            <a:r>
              <a:rPr lang="en-US" sz="850" b="1" spc="80" kern="0" dirty="0">
                <a:solidFill>
                  <a:srgbClr val="0D8F89"/>
                </a:solidFill>
                <a:latin typeface="Aptos" pitchFamily="34" charset="0"/>
                <a:ea typeface="Aptos" pitchFamily="34" charset="-122"/>
                <a:cs typeface="Aptos" pitchFamily="34" charset="-120"/>
              </a:rPr>
              <a:t>DELIVERY</a:t>
            </a:r>
            <a:endParaRPr lang="en-US" sz="850" dirty="0"/>
          </a:p>
        </p:txBody>
      </p:sp>
      <p:sp>
        <p:nvSpPr>
          <p:cNvPr id="18" name="Text 16"/>
          <p:cNvSpPr/>
          <p:nvPr/>
        </p:nvSpPr>
        <p:spPr>
          <a:xfrm>
            <a:off x="5779008" y="4206240"/>
            <a:ext cx="5138928" cy="621792"/>
          </a:xfrm>
          <a:prstGeom prst="rect">
            <a:avLst/>
          </a:prstGeom>
          <a:noFill/>
          <a:ln/>
        </p:spPr>
        <p:txBody>
          <a:bodyPr wrap="square" lIns="0" tIns="0" rIns="0" bIns="0" rtlCol="0" anchor="t">
            <a:normAutofit/>
          </a:bodyPr>
          <a:lstStyle/>
          <a:p>
            <a:pPr indent="0" marL="0">
              <a:buNone/>
            </a:pPr>
            <a:r>
              <a:rPr lang="en-US" sz="1200" b="1" dirty="0">
                <a:solidFill>
                  <a:srgbClr val="173747"/>
                </a:solidFill>
                <a:latin typeface="Aptos" pitchFamily="34" charset="0"/>
                <a:ea typeface="Aptos" pitchFamily="34" charset="-122"/>
                <a:cs typeface="Aptos" pitchFamily="34" charset="-120"/>
              </a:rPr>
              <a:t>What setup, security, support, and evidence-handling work does each exercise require?</a:t>
            </a:r>
            <a:endParaRPr lang="en-US" sz="1200" dirty="0"/>
          </a:p>
        </p:txBody>
      </p:sp>
      <p:sp>
        <p:nvSpPr>
          <p:cNvPr id="19" name="Shape 17"/>
          <p:cNvSpPr/>
          <p:nvPr/>
        </p:nvSpPr>
        <p:spPr>
          <a:xfrm>
            <a:off x="4498848" y="5321808"/>
            <a:ext cx="6784848" cy="603504"/>
          </a:xfrm>
          <a:prstGeom prst="roundRect">
            <a:avLst>
              <a:gd name="adj" fmla="val 18182"/>
            </a:avLst>
          </a:prstGeom>
          <a:solidFill>
            <a:srgbClr val="FFF4E2"/>
          </a:solidFill>
          <a:ln w="11430">
            <a:solidFill>
              <a:srgbClr val="EBD9B9"/>
            </a:solidFill>
            <a:prstDash val="solid"/>
          </a:ln>
        </p:spPr>
      </p:sp>
      <p:sp>
        <p:nvSpPr>
          <p:cNvPr id="20" name="Text 18"/>
          <p:cNvSpPr/>
          <p:nvPr/>
        </p:nvSpPr>
        <p:spPr>
          <a:xfrm>
            <a:off x="4736592" y="5504688"/>
            <a:ext cx="6263640" cy="219456"/>
          </a:xfrm>
          <a:prstGeom prst="rect">
            <a:avLst/>
          </a:prstGeom>
          <a:noFill/>
          <a:ln/>
        </p:spPr>
        <p:txBody>
          <a:bodyPr wrap="square" lIns="0" tIns="0" rIns="0" bIns="0" rtlCol="0" anchor="ctr">
            <a:normAutofit/>
          </a:bodyPr>
          <a:lstStyle/>
          <a:p>
            <a:pPr indent="0" marL="0">
              <a:buNone/>
            </a:pPr>
            <a:r>
              <a:rPr lang="en-US" sz="1050" b="1" dirty="0">
                <a:solidFill>
                  <a:srgbClr val="805E2B"/>
                </a:solidFill>
                <a:latin typeface="Aptos" pitchFamily="34" charset="0"/>
                <a:ea typeface="Aptos" pitchFamily="34" charset="-122"/>
                <a:cs typeface="Aptos" pitchFamily="34" charset="-120"/>
              </a:rPr>
              <a:t>Annual plans and private deployment remain later hypotheses.</a:t>
            </a:r>
            <a:endParaRPr lang="en-US" sz="1050" dirty="0"/>
          </a:p>
        </p:txBody>
      </p:sp>
      <p:sp>
        <p:nvSpPr>
          <p:cNvPr id="25" name="Slide Number Placeholder 0"/>
          <p:cNvSpPr>
            <a:spLocks noGrp="1"/>
          </p:cNvSpPr>
          <p:nvPr>
            <p:ph type="sldNum" sz="quarter" idx="4294967295"/>
          </p:nvPr>
        </p:nvSpPr>
        <p:spPr>
          <a:xfrm>
            <a:off x="11768328" y="6556248"/>
            <a:ext cx="182880" cy="164592"/>
          </a:xfrm>
          <a:prstGeom prst="rect">
            <a:avLst/>
          </a:prstGeom>
          <a:extLst>
            <a:ext uri="{C572A759-6A51-4108-AA02-DFA0A04FC94B}">
              <ma14:wrappingTextBoxFlag xmlns:ma14="http://schemas.microsoft.com/office/mac/drawingml/2011/main" val="0"/>
            </a:ext>
          </a:extLst>
        </p:spPr>
        <p:txBody>
          <a:bodyPr/>
          <a:lstStyle>
            <a:lvl1pPr>
              <a:defRPr sz="700">
                <a:solidFill>
                  <a:srgbClr val="6C808B"/>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94360" y="329184"/>
            <a:ext cx="10789920" cy="219456"/>
          </a:xfrm>
          <a:prstGeom prst="rect">
            <a:avLst/>
          </a:prstGeom>
          <a:noFill/>
          <a:ln/>
        </p:spPr>
        <p:txBody>
          <a:bodyPr wrap="square" lIns="0" tIns="0" rIns="0" bIns="0" rtlCol="0" anchor="ctr">
            <a:normAutofit/>
          </a:bodyPr>
          <a:lstStyle/>
          <a:p>
            <a:pPr indent="0" marL="0">
              <a:buNone/>
            </a:pPr>
            <a:r>
              <a:rPr lang="en-US" sz="900" b="1" spc="120" kern="0" dirty="0">
                <a:solidFill>
                  <a:srgbClr val="0D8F89"/>
                </a:solidFill>
                <a:latin typeface="Aptos" pitchFamily="34" charset="0"/>
                <a:ea typeface="Aptos" pitchFamily="34" charset="-122"/>
                <a:cs typeface="Aptos" pitchFamily="34" charset="-120"/>
              </a:rPr>
              <a:t>TECHNICAL FOUNDATION</a:t>
            </a:r>
            <a:endParaRPr lang="en-US" sz="900" dirty="0"/>
          </a:p>
        </p:txBody>
      </p:sp>
      <p:sp>
        <p:nvSpPr>
          <p:cNvPr id="3" name="Text 1"/>
          <p:cNvSpPr/>
          <p:nvPr/>
        </p:nvSpPr>
        <p:spPr>
          <a:xfrm>
            <a:off x="594360" y="640080"/>
            <a:ext cx="10972800" cy="475488"/>
          </a:xfrm>
          <a:prstGeom prst="rect">
            <a:avLst/>
          </a:prstGeom>
          <a:noFill/>
          <a:ln/>
        </p:spPr>
        <p:txBody>
          <a:bodyPr wrap="square" lIns="0" tIns="0" rIns="0" bIns="0" rtlCol="0" anchor="ctr">
            <a:normAutofit/>
          </a:bodyPr>
          <a:lstStyle/>
          <a:p>
            <a:pPr indent="0" marL="0">
              <a:buNone/>
            </a:pPr>
            <a:r>
              <a:rPr lang="en-US" sz="2600" b="1" dirty="0">
                <a:solidFill>
                  <a:srgbClr val="173747"/>
                </a:solidFill>
                <a:latin typeface="Aptos Display" pitchFamily="34" charset="0"/>
                <a:ea typeface="Aptos Display" pitchFamily="34" charset="-122"/>
                <a:cs typeface="Aptos Display" pitchFamily="34" charset="-120"/>
              </a:rPr>
              <a:t>Simple local app, with a person at the review gate</a:t>
            </a:r>
            <a:endParaRPr lang="en-US" sz="2600" dirty="0"/>
          </a:p>
        </p:txBody>
      </p:sp>
      <p:sp>
        <p:nvSpPr>
          <p:cNvPr id="4" name="Text 2"/>
          <p:cNvSpPr/>
          <p:nvPr/>
        </p:nvSpPr>
        <p:spPr>
          <a:xfrm>
            <a:off x="612648" y="1133856"/>
            <a:ext cx="10881360" cy="310896"/>
          </a:xfrm>
          <a:prstGeom prst="rect">
            <a:avLst/>
          </a:prstGeom>
          <a:noFill/>
          <a:ln/>
        </p:spPr>
        <p:txBody>
          <a:bodyPr wrap="square" lIns="0" tIns="0" rIns="0" bIns="0" rtlCol="0" anchor="ctr">
            <a:normAutofit/>
          </a:bodyPr>
          <a:lstStyle/>
          <a:p>
            <a:pPr indent="0" marL="0">
              <a:buNone/>
            </a:pPr>
            <a:r>
              <a:rPr lang="en-US" sz="1130" dirty="0">
                <a:solidFill>
                  <a:srgbClr val="6C808B"/>
                </a:solidFill>
                <a:latin typeface="Aptos" pitchFamily="34" charset="0"/>
                <a:ea typeface="Aptos" pitchFamily="34" charset="-122"/>
                <a:cs typeface="Aptos" pitchFamily="34" charset="-120"/>
              </a:rPr>
              <a:t>The demo can run without a cloud AI service; optional models stay on the computer.</a:t>
            </a:r>
            <a:endParaRPr lang="en-US" sz="1130" dirty="0"/>
          </a:p>
        </p:txBody>
      </p:sp>
      <p:sp>
        <p:nvSpPr>
          <p:cNvPr id="5" name="Shape 3"/>
          <p:cNvSpPr/>
          <p:nvPr/>
        </p:nvSpPr>
        <p:spPr>
          <a:xfrm>
            <a:off x="713232" y="1883664"/>
            <a:ext cx="2066544" cy="1435608"/>
          </a:xfrm>
          <a:prstGeom prst="roundRect">
            <a:avLst>
              <a:gd name="adj" fmla="val 7643"/>
            </a:avLst>
          </a:prstGeom>
          <a:solidFill>
            <a:srgbClr val="FFFFFF"/>
          </a:solidFill>
          <a:ln w="11430">
            <a:solidFill>
              <a:srgbClr val="DCE7E8"/>
            </a:solidFill>
            <a:prstDash val="solid"/>
          </a:ln>
        </p:spPr>
      </p:sp>
      <p:sp>
        <p:nvSpPr>
          <p:cNvPr id="6" name="Text 4"/>
          <p:cNvSpPr/>
          <p:nvPr/>
        </p:nvSpPr>
        <p:spPr>
          <a:xfrm>
            <a:off x="868680" y="2112264"/>
            <a:ext cx="1755648" cy="274320"/>
          </a:xfrm>
          <a:prstGeom prst="rect">
            <a:avLst/>
          </a:prstGeom>
          <a:noFill/>
          <a:ln/>
        </p:spPr>
        <p:txBody>
          <a:bodyPr wrap="square" lIns="0" tIns="0" rIns="0" bIns="0" rtlCol="0" anchor="ctr">
            <a:normAutofit/>
          </a:bodyPr>
          <a:lstStyle/>
          <a:p>
            <a:pPr algn="ctr" indent="0" marL="0">
              <a:buNone/>
            </a:pPr>
            <a:r>
              <a:rPr lang="en-US" sz="1200" b="1" dirty="0">
                <a:solidFill>
                  <a:srgbClr val="173747"/>
                </a:solidFill>
                <a:latin typeface="Aptos" pitchFamily="34" charset="0"/>
                <a:ea typeface="Aptos" pitchFamily="34" charset="-122"/>
                <a:cs typeface="Aptos" pitchFamily="34" charset="-120"/>
              </a:rPr>
              <a:t>Website screen</a:t>
            </a:r>
            <a:endParaRPr lang="en-US" sz="1200" dirty="0"/>
          </a:p>
        </p:txBody>
      </p:sp>
      <p:sp>
        <p:nvSpPr>
          <p:cNvPr id="7" name="Text 5"/>
          <p:cNvSpPr/>
          <p:nvPr/>
        </p:nvSpPr>
        <p:spPr>
          <a:xfrm>
            <a:off x="868680" y="2542032"/>
            <a:ext cx="1755648" cy="566928"/>
          </a:xfrm>
          <a:prstGeom prst="rect">
            <a:avLst/>
          </a:prstGeom>
          <a:noFill/>
          <a:ln/>
        </p:spPr>
        <p:txBody>
          <a:bodyPr wrap="square" lIns="0" tIns="0" rIns="0" bIns="0" rtlCol="0" anchor="t">
            <a:normAutofit/>
          </a:bodyPr>
          <a:lstStyle/>
          <a:p>
            <a:pPr algn="ctr" indent="0" marL="0">
              <a:buNone/>
            </a:pPr>
            <a:r>
              <a:rPr lang="en-US" sz="900" dirty="0">
                <a:solidFill>
                  <a:srgbClr val="6C808B"/>
                </a:solidFill>
                <a:latin typeface="Aptos" pitchFamily="34" charset="0"/>
                <a:ea typeface="Aptos" pitchFamily="34" charset="-122"/>
                <a:cs typeface="Aptos" pitchFamily="34" charset="-120"/>
              </a:rPr>
              <a:t>Exercise setup</a:t>
            </a:r>
            <a:endParaRPr lang="en-US" sz="900" dirty="0"/>
          </a:p>
          <a:p>
            <a:pPr algn="ctr" indent="0" marL="0">
              <a:buNone/>
            </a:pPr>
            <a:r>
              <a:rPr lang="en-US" sz="900" dirty="0">
                <a:solidFill>
                  <a:srgbClr val="6C808B"/>
                </a:solidFill>
                <a:latin typeface="Aptos" pitchFamily="34" charset="0"/>
                <a:ea typeface="Aptos" pitchFamily="34" charset="-122"/>
                <a:cs typeface="Aptos" pitchFamily="34" charset="-120"/>
              </a:rPr>
              <a:t>Evidence review</a:t>
            </a:r>
            <a:endParaRPr lang="en-US" sz="900" dirty="0"/>
          </a:p>
          <a:p>
            <a:pPr algn="ctr" indent="0" marL="0">
              <a:buNone/>
            </a:pPr>
            <a:r>
              <a:rPr lang="en-US" sz="900" dirty="0">
                <a:solidFill>
                  <a:srgbClr val="6C808B"/>
                </a:solidFill>
                <a:latin typeface="Aptos" pitchFamily="34" charset="0"/>
                <a:ea typeface="Aptos" pitchFamily="34" charset="-122"/>
                <a:cs typeface="Aptos" pitchFamily="34" charset="-120"/>
              </a:rPr>
              <a:t>Action tracking</a:t>
            </a:r>
            <a:endParaRPr lang="en-US" sz="900" dirty="0"/>
          </a:p>
          <a:p>
            <a:pPr algn="ctr" indent="0" marL="0">
              <a:buNone/>
            </a:pPr>
            <a:r>
              <a:rPr lang="en-US" sz="900" dirty="0">
                <a:solidFill>
                  <a:srgbClr val="6C808B"/>
                </a:solidFill>
                <a:latin typeface="Aptos" pitchFamily="34" charset="0"/>
                <a:ea typeface="Aptos" pitchFamily="34" charset="-122"/>
                <a:cs typeface="Aptos" pitchFamily="34" charset="-120"/>
              </a:rPr>
              <a:t>React + TypeScript</a:t>
            </a:r>
            <a:endParaRPr lang="en-US" sz="900" dirty="0"/>
          </a:p>
        </p:txBody>
      </p:sp>
      <p:sp>
        <p:nvSpPr>
          <p:cNvPr id="8" name="Shape 6"/>
          <p:cNvSpPr/>
          <p:nvPr/>
        </p:nvSpPr>
        <p:spPr>
          <a:xfrm>
            <a:off x="2816352" y="2606040"/>
            <a:ext cx="246888" cy="0"/>
          </a:xfrm>
          <a:prstGeom prst="line">
            <a:avLst/>
          </a:prstGeom>
          <a:noFill/>
          <a:ln w="19050">
            <a:solidFill>
              <a:srgbClr val="0D8F89"/>
            </a:solidFill>
            <a:prstDash val="solid"/>
          </a:ln>
        </p:spPr>
      </p:sp>
      <p:sp>
        <p:nvSpPr>
          <p:cNvPr id="9" name="Shape 7"/>
          <p:cNvSpPr/>
          <p:nvPr/>
        </p:nvSpPr>
        <p:spPr>
          <a:xfrm>
            <a:off x="3127248" y="1883664"/>
            <a:ext cx="2286000" cy="1435608"/>
          </a:xfrm>
          <a:prstGeom prst="roundRect">
            <a:avLst>
              <a:gd name="adj" fmla="val 7643"/>
            </a:avLst>
          </a:prstGeom>
          <a:solidFill>
            <a:srgbClr val="FFFFFF"/>
          </a:solidFill>
          <a:ln w="11430">
            <a:solidFill>
              <a:srgbClr val="DCE7E8"/>
            </a:solidFill>
            <a:prstDash val="solid"/>
          </a:ln>
        </p:spPr>
      </p:sp>
      <p:sp>
        <p:nvSpPr>
          <p:cNvPr id="10" name="Text 8"/>
          <p:cNvSpPr/>
          <p:nvPr/>
        </p:nvSpPr>
        <p:spPr>
          <a:xfrm>
            <a:off x="3282696" y="2112264"/>
            <a:ext cx="1975104" cy="274320"/>
          </a:xfrm>
          <a:prstGeom prst="rect">
            <a:avLst/>
          </a:prstGeom>
          <a:noFill/>
          <a:ln/>
        </p:spPr>
        <p:txBody>
          <a:bodyPr wrap="square" lIns="0" tIns="0" rIns="0" bIns="0" rtlCol="0" anchor="ctr">
            <a:normAutofit/>
          </a:bodyPr>
          <a:lstStyle/>
          <a:p>
            <a:pPr algn="ctr" indent="0" marL="0">
              <a:buNone/>
            </a:pPr>
            <a:r>
              <a:rPr lang="en-US" sz="1200" b="1" dirty="0">
                <a:solidFill>
                  <a:srgbClr val="173747"/>
                </a:solidFill>
                <a:latin typeface="Aptos" pitchFamily="34" charset="0"/>
                <a:ea typeface="Aptos" pitchFamily="34" charset="-122"/>
                <a:cs typeface="Aptos" pitchFamily="34" charset="-120"/>
              </a:rPr>
              <a:t>Application service</a:t>
            </a:r>
            <a:endParaRPr lang="en-US" sz="1200" dirty="0"/>
          </a:p>
        </p:txBody>
      </p:sp>
      <p:sp>
        <p:nvSpPr>
          <p:cNvPr id="11" name="Text 9"/>
          <p:cNvSpPr/>
          <p:nvPr/>
        </p:nvSpPr>
        <p:spPr>
          <a:xfrm>
            <a:off x="3282696" y="2542032"/>
            <a:ext cx="1975104" cy="566928"/>
          </a:xfrm>
          <a:prstGeom prst="rect">
            <a:avLst/>
          </a:prstGeom>
          <a:noFill/>
          <a:ln/>
        </p:spPr>
        <p:txBody>
          <a:bodyPr wrap="square" lIns="0" tIns="0" rIns="0" bIns="0" rtlCol="0" anchor="t">
            <a:normAutofit/>
          </a:bodyPr>
          <a:lstStyle/>
          <a:p>
            <a:pPr algn="ctr" indent="0" marL="0">
              <a:buNone/>
            </a:pPr>
            <a:r>
              <a:rPr lang="en-US" sz="900" dirty="0">
                <a:solidFill>
                  <a:srgbClr val="6C808B"/>
                </a:solidFill>
                <a:latin typeface="Aptos" pitchFamily="34" charset="0"/>
                <a:ea typeface="Aptos" pitchFamily="34" charset="-122"/>
                <a:cs typeface="Aptos" pitchFamily="34" charset="-120"/>
              </a:rPr>
              <a:t>Checks uploaded files</a:t>
            </a:r>
            <a:endParaRPr lang="en-US" sz="900" dirty="0"/>
          </a:p>
          <a:p>
            <a:pPr algn="ctr" indent="0" marL="0">
              <a:buNone/>
            </a:pPr>
            <a:r>
              <a:rPr lang="en-US" sz="900" dirty="0">
                <a:solidFill>
                  <a:srgbClr val="6C808B"/>
                </a:solidFill>
                <a:latin typeface="Aptos" pitchFamily="34" charset="0"/>
                <a:ea typeface="Aptos" pitchFamily="34" charset="-122"/>
                <a:cs typeface="Aptos" pitchFamily="34" charset="-120"/>
              </a:rPr>
              <a:t>Applies review rules</a:t>
            </a:r>
            <a:endParaRPr lang="en-US" sz="900" dirty="0"/>
          </a:p>
          <a:p>
            <a:pPr algn="ctr" indent="0" marL="0">
              <a:buNone/>
            </a:pPr>
            <a:r>
              <a:rPr lang="en-US" sz="900" dirty="0">
                <a:solidFill>
                  <a:srgbClr val="6C808B"/>
                </a:solidFill>
                <a:latin typeface="Aptos" pitchFamily="34" charset="0"/>
                <a:ea typeface="Aptos" pitchFamily="34" charset="-122"/>
                <a:cs typeface="Aptos" pitchFamily="34" charset="-120"/>
              </a:rPr>
              <a:t>FastAPI + Pydantic</a:t>
            </a:r>
            <a:endParaRPr lang="en-US" sz="900" dirty="0"/>
          </a:p>
        </p:txBody>
      </p:sp>
      <p:sp>
        <p:nvSpPr>
          <p:cNvPr id="12" name="Shape 10"/>
          <p:cNvSpPr/>
          <p:nvPr/>
        </p:nvSpPr>
        <p:spPr>
          <a:xfrm>
            <a:off x="5449824" y="2606040"/>
            <a:ext cx="256032" cy="0"/>
          </a:xfrm>
          <a:prstGeom prst="line">
            <a:avLst/>
          </a:prstGeom>
          <a:noFill/>
          <a:ln w="19050">
            <a:solidFill>
              <a:srgbClr val="0D8F89"/>
            </a:solidFill>
            <a:prstDash val="solid"/>
          </a:ln>
        </p:spPr>
      </p:sp>
      <p:sp>
        <p:nvSpPr>
          <p:cNvPr id="13" name="Shape 11"/>
          <p:cNvSpPr/>
          <p:nvPr/>
        </p:nvSpPr>
        <p:spPr>
          <a:xfrm>
            <a:off x="5769864" y="1883664"/>
            <a:ext cx="2139696" cy="1435608"/>
          </a:xfrm>
          <a:prstGeom prst="roundRect">
            <a:avLst>
              <a:gd name="adj" fmla="val 7643"/>
            </a:avLst>
          </a:prstGeom>
          <a:solidFill>
            <a:srgbClr val="FFFFFF"/>
          </a:solidFill>
          <a:ln w="11430">
            <a:solidFill>
              <a:srgbClr val="DCE7E8"/>
            </a:solidFill>
            <a:prstDash val="solid"/>
          </a:ln>
        </p:spPr>
      </p:sp>
      <p:sp>
        <p:nvSpPr>
          <p:cNvPr id="14" name="Text 12"/>
          <p:cNvSpPr/>
          <p:nvPr/>
        </p:nvSpPr>
        <p:spPr>
          <a:xfrm>
            <a:off x="5925312" y="2112264"/>
            <a:ext cx="1828800" cy="274320"/>
          </a:xfrm>
          <a:prstGeom prst="rect">
            <a:avLst/>
          </a:prstGeom>
          <a:noFill/>
          <a:ln/>
        </p:spPr>
        <p:txBody>
          <a:bodyPr wrap="square" lIns="0" tIns="0" rIns="0" bIns="0" rtlCol="0" anchor="ctr">
            <a:normAutofit/>
          </a:bodyPr>
          <a:lstStyle/>
          <a:p>
            <a:pPr algn="ctr" indent="0" marL="0">
              <a:buNone/>
            </a:pPr>
            <a:r>
              <a:rPr lang="en-US" sz="1200" b="1" dirty="0">
                <a:solidFill>
                  <a:srgbClr val="173747"/>
                </a:solidFill>
                <a:latin typeface="Aptos" pitchFamily="34" charset="0"/>
                <a:ea typeface="Aptos" pitchFamily="34" charset="-122"/>
                <a:cs typeface="Aptos" pitchFamily="34" charset="-120"/>
              </a:rPr>
              <a:t>Saved records</a:t>
            </a:r>
            <a:endParaRPr lang="en-US" sz="1200" dirty="0"/>
          </a:p>
        </p:txBody>
      </p:sp>
      <p:sp>
        <p:nvSpPr>
          <p:cNvPr id="15" name="Text 13"/>
          <p:cNvSpPr/>
          <p:nvPr/>
        </p:nvSpPr>
        <p:spPr>
          <a:xfrm>
            <a:off x="5925312" y="2542032"/>
            <a:ext cx="1828800" cy="566928"/>
          </a:xfrm>
          <a:prstGeom prst="rect">
            <a:avLst/>
          </a:prstGeom>
          <a:noFill/>
          <a:ln/>
        </p:spPr>
        <p:txBody>
          <a:bodyPr wrap="square" lIns="0" tIns="0" rIns="0" bIns="0" rtlCol="0" anchor="t">
            <a:normAutofit/>
          </a:bodyPr>
          <a:lstStyle/>
          <a:p>
            <a:pPr algn="ctr" indent="0" marL="0">
              <a:buNone/>
            </a:pPr>
            <a:r>
              <a:rPr lang="en-US" sz="900" dirty="0">
                <a:solidFill>
                  <a:srgbClr val="6C808B"/>
                </a:solidFill>
                <a:latin typeface="Aptos" pitchFamily="34" charset="0"/>
                <a:ea typeface="Aptos" pitchFamily="34" charset="-122"/>
                <a:cs typeface="Aptos" pitchFamily="34" charset="-120"/>
              </a:rPr>
              <a:t>SQLite for the demo</a:t>
            </a:r>
            <a:endParaRPr lang="en-US" sz="900" dirty="0"/>
          </a:p>
          <a:p>
            <a:pPr algn="ctr" indent="0" marL="0">
              <a:buNone/>
            </a:pPr>
            <a:r>
              <a:rPr lang="en-US" sz="900" dirty="0">
                <a:solidFill>
                  <a:srgbClr val="6C808B"/>
                </a:solidFill>
                <a:latin typeface="Aptos" pitchFamily="34" charset="0"/>
                <a:ea typeface="Aptos" pitchFamily="34" charset="-122"/>
                <a:cs typeface="Aptos" pitchFamily="34" charset="-120"/>
              </a:rPr>
              <a:t>PostgreSQL for deployment</a:t>
            </a:r>
            <a:endParaRPr lang="en-US" sz="900" dirty="0"/>
          </a:p>
          <a:p>
            <a:pPr algn="ctr" indent="0" marL="0">
              <a:buNone/>
            </a:pPr>
            <a:r>
              <a:rPr lang="en-US" sz="900" dirty="0">
                <a:solidFill>
                  <a:srgbClr val="6C808B"/>
                </a:solidFill>
                <a:latin typeface="Aptos" pitchFamily="34" charset="0"/>
                <a:ea typeface="Aptos" pitchFamily="34" charset="-122"/>
                <a:cs typeface="Aptos" pitchFamily="34" charset="-120"/>
              </a:rPr>
              <a:t>SQLAlchemy database tools</a:t>
            </a:r>
            <a:endParaRPr lang="en-US" sz="900" dirty="0"/>
          </a:p>
        </p:txBody>
      </p:sp>
      <p:sp>
        <p:nvSpPr>
          <p:cNvPr id="16" name="Shape 14"/>
          <p:cNvSpPr/>
          <p:nvPr/>
        </p:nvSpPr>
        <p:spPr>
          <a:xfrm>
            <a:off x="7946136" y="2606040"/>
            <a:ext cx="256032" cy="0"/>
          </a:xfrm>
          <a:prstGeom prst="line">
            <a:avLst/>
          </a:prstGeom>
          <a:noFill/>
          <a:ln w="19050">
            <a:solidFill>
              <a:srgbClr val="0D8F89"/>
            </a:solidFill>
            <a:prstDash val="solid"/>
          </a:ln>
        </p:spPr>
      </p:sp>
      <p:sp>
        <p:nvSpPr>
          <p:cNvPr id="17" name="Shape 15"/>
          <p:cNvSpPr/>
          <p:nvPr/>
        </p:nvSpPr>
        <p:spPr>
          <a:xfrm>
            <a:off x="8266176" y="1883664"/>
            <a:ext cx="2944368" cy="1435608"/>
          </a:xfrm>
          <a:prstGeom prst="roundRect">
            <a:avLst>
              <a:gd name="adj" fmla="val 7643"/>
            </a:avLst>
          </a:prstGeom>
          <a:solidFill>
            <a:srgbClr val="E5F4F2"/>
          </a:solidFill>
          <a:ln w="11430">
            <a:solidFill>
              <a:srgbClr val="DCE7E8"/>
            </a:solidFill>
            <a:prstDash val="solid"/>
          </a:ln>
        </p:spPr>
      </p:sp>
      <p:sp>
        <p:nvSpPr>
          <p:cNvPr id="18" name="Text 16"/>
          <p:cNvSpPr/>
          <p:nvPr/>
        </p:nvSpPr>
        <p:spPr>
          <a:xfrm>
            <a:off x="8421624" y="2112264"/>
            <a:ext cx="2633472" cy="274320"/>
          </a:xfrm>
          <a:prstGeom prst="rect">
            <a:avLst/>
          </a:prstGeom>
          <a:noFill/>
          <a:ln/>
        </p:spPr>
        <p:txBody>
          <a:bodyPr wrap="square" lIns="0" tIns="0" rIns="0" bIns="0" rtlCol="0" anchor="ctr">
            <a:normAutofit/>
          </a:bodyPr>
          <a:lstStyle/>
          <a:p>
            <a:pPr algn="ctr" indent="0" marL="0">
              <a:buNone/>
            </a:pPr>
            <a:r>
              <a:rPr lang="en-US" sz="1200" b="1" dirty="0">
                <a:solidFill>
                  <a:srgbClr val="173747"/>
                </a:solidFill>
                <a:latin typeface="Aptos" pitchFamily="34" charset="0"/>
                <a:ea typeface="Aptos" pitchFamily="34" charset="-122"/>
                <a:cs typeface="Aptos" pitchFamily="34" charset="-120"/>
              </a:rPr>
              <a:t>Reports + optional local AI</a:t>
            </a:r>
            <a:endParaRPr lang="en-US" sz="1200" dirty="0"/>
          </a:p>
        </p:txBody>
      </p:sp>
      <p:sp>
        <p:nvSpPr>
          <p:cNvPr id="19" name="Text 17"/>
          <p:cNvSpPr/>
          <p:nvPr/>
        </p:nvSpPr>
        <p:spPr>
          <a:xfrm>
            <a:off x="8421624" y="2542032"/>
            <a:ext cx="2633472" cy="566928"/>
          </a:xfrm>
          <a:prstGeom prst="rect">
            <a:avLst/>
          </a:prstGeom>
          <a:noFill/>
          <a:ln/>
        </p:spPr>
        <p:txBody>
          <a:bodyPr wrap="square" lIns="0" tIns="0" rIns="0" bIns="0" rtlCol="0" anchor="t">
            <a:normAutofit/>
          </a:bodyPr>
          <a:lstStyle/>
          <a:p>
            <a:pPr algn="ctr" indent="0" marL="0">
              <a:buNone/>
            </a:pPr>
            <a:r>
              <a:rPr lang="en-US" sz="900" dirty="0">
                <a:solidFill>
                  <a:srgbClr val="6C808B"/>
                </a:solidFill>
                <a:latin typeface="Aptos" pitchFamily="34" charset="0"/>
                <a:ea typeface="Aptos" pitchFamily="34" charset="-122"/>
                <a:cs typeface="Aptos" pitchFamily="34" charset="-120"/>
              </a:rPr>
              <a:t>PDF report: ReportLab</a:t>
            </a:r>
            <a:endParaRPr lang="en-US" sz="900" dirty="0"/>
          </a:p>
          <a:p>
            <a:pPr algn="ctr" indent="0" marL="0">
              <a:buNone/>
            </a:pPr>
            <a:r>
              <a:rPr lang="en-US" sz="900" dirty="0">
                <a:solidFill>
                  <a:srgbClr val="6C808B"/>
                </a:solidFill>
                <a:latin typeface="Aptos" pitchFamily="34" charset="0"/>
                <a:ea typeface="Aptos" pitchFamily="34" charset="-122"/>
                <a:cs typeface="Aptos" pitchFamily="34" charset="-120"/>
              </a:rPr>
              <a:t>Speech-to-text: faster-whisper</a:t>
            </a:r>
            <a:endParaRPr lang="en-US" sz="900" dirty="0"/>
          </a:p>
          <a:p>
            <a:pPr algn="ctr" indent="0" marL="0">
              <a:buNone/>
            </a:pPr>
            <a:r>
              <a:rPr lang="en-US" sz="900" dirty="0">
                <a:solidFill>
                  <a:srgbClr val="6C808B"/>
                </a:solidFill>
                <a:latin typeface="Aptos" pitchFamily="34" charset="0"/>
                <a:ea typeface="Aptos" pitchFamily="34" charset="-122"/>
                <a:cs typeface="Aptos" pitchFamily="34" charset="-120"/>
              </a:rPr>
              <a:t>Action wording: Ollama</a:t>
            </a:r>
            <a:endParaRPr lang="en-US" sz="900" dirty="0"/>
          </a:p>
        </p:txBody>
      </p:sp>
      <p:sp>
        <p:nvSpPr>
          <p:cNvPr id="20" name="Shape 18"/>
          <p:cNvSpPr/>
          <p:nvPr/>
        </p:nvSpPr>
        <p:spPr>
          <a:xfrm>
            <a:off x="749808" y="3822192"/>
            <a:ext cx="6812280" cy="1389888"/>
          </a:xfrm>
          <a:prstGeom prst="roundRect">
            <a:avLst>
              <a:gd name="adj" fmla="val 7895"/>
            </a:avLst>
          </a:prstGeom>
          <a:solidFill>
            <a:srgbClr val="173747"/>
          </a:solidFill>
          <a:ln w="11430">
            <a:solidFill>
              <a:srgbClr val="173747"/>
            </a:solidFill>
            <a:prstDash val="solid"/>
          </a:ln>
        </p:spPr>
      </p:sp>
      <p:sp>
        <p:nvSpPr>
          <p:cNvPr id="21" name="Text 19"/>
          <p:cNvSpPr/>
          <p:nvPr/>
        </p:nvSpPr>
        <p:spPr>
          <a:xfrm>
            <a:off x="1005840" y="4041648"/>
            <a:ext cx="2011680" cy="219456"/>
          </a:xfrm>
          <a:prstGeom prst="rect">
            <a:avLst/>
          </a:prstGeom>
          <a:noFill/>
          <a:ln/>
        </p:spPr>
        <p:txBody>
          <a:bodyPr wrap="square" lIns="0" tIns="0" rIns="0" bIns="0" rtlCol="0" anchor="ctr">
            <a:normAutofit/>
          </a:bodyPr>
          <a:lstStyle/>
          <a:p>
            <a:pPr indent="0" marL="0">
              <a:buNone/>
            </a:pPr>
            <a:r>
              <a:rPr lang="en-US" sz="900" b="1" spc="50" kern="0" dirty="0">
                <a:solidFill>
                  <a:srgbClr val="85D4CA"/>
                </a:solidFill>
                <a:latin typeface="Aptos" pitchFamily="34" charset="0"/>
                <a:ea typeface="Aptos" pitchFamily="34" charset="-122"/>
                <a:cs typeface="Aptos" pitchFamily="34" charset="-120"/>
              </a:rPr>
              <a:t>TRACEABLE RECORD</a:t>
            </a:r>
            <a:endParaRPr lang="en-US" sz="900" dirty="0"/>
          </a:p>
        </p:txBody>
      </p:sp>
      <p:sp>
        <p:nvSpPr>
          <p:cNvPr id="22" name="Text 20"/>
          <p:cNvSpPr/>
          <p:nvPr/>
        </p:nvSpPr>
        <p:spPr>
          <a:xfrm>
            <a:off x="1005840" y="4443984"/>
            <a:ext cx="6080760" cy="448056"/>
          </a:xfrm>
          <a:prstGeom prst="rect">
            <a:avLst/>
          </a:prstGeom>
          <a:noFill/>
          <a:ln/>
        </p:spPr>
        <p:txBody>
          <a:bodyPr wrap="square" lIns="0" tIns="0" rIns="0" bIns="0" rtlCol="0" anchor="t">
            <a:normAutofit/>
          </a:bodyPr>
          <a:lstStyle/>
          <a:p>
            <a:pPr indent="0" marL="0">
              <a:buNone/>
            </a:pPr>
            <a:r>
              <a:rPr lang="en-US" sz="1300" b="1" dirty="0">
                <a:solidFill>
                  <a:srgbClr val="FFFFFF"/>
                </a:solidFill>
                <a:latin typeface="Aptos" pitchFamily="34" charset="0"/>
                <a:ea typeface="Aptos" pitchFamily="34" charset="-122"/>
                <a:cs typeface="Aptos" pitchFamily="34" charset="-120"/>
              </a:rPr>
              <a:t>Original file + file-change checksum + extracted quote + location + reviewer decision + completion proof</a:t>
            </a:r>
            <a:endParaRPr lang="en-US" sz="1300" dirty="0"/>
          </a:p>
        </p:txBody>
      </p:sp>
      <p:sp>
        <p:nvSpPr>
          <p:cNvPr id="23" name="Shape 21"/>
          <p:cNvSpPr/>
          <p:nvPr/>
        </p:nvSpPr>
        <p:spPr>
          <a:xfrm>
            <a:off x="7973568" y="3822192"/>
            <a:ext cx="3255264" cy="1389888"/>
          </a:xfrm>
          <a:prstGeom prst="roundRect">
            <a:avLst>
              <a:gd name="adj" fmla="val 7895"/>
            </a:avLst>
          </a:prstGeom>
          <a:solidFill>
            <a:srgbClr val="FFF4E2"/>
          </a:solidFill>
          <a:ln w="11430">
            <a:solidFill>
              <a:srgbClr val="EBD9B9"/>
            </a:solidFill>
            <a:prstDash val="solid"/>
          </a:ln>
        </p:spPr>
      </p:sp>
      <p:sp>
        <p:nvSpPr>
          <p:cNvPr id="24" name="Text 22"/>
          <p:cNvSpPr/>
          <p:nvPr/>
        </p:nvSpPr>
        <p:spPr>
          <a:xfrm>
            <a:off x="8193024" y="4041648"/>
            <a:ext cx="2651760" cy="219456"/>
          </a:xfrm>
          <a:prstGeom prst="rect">
            <a:avLst/>
          </a:prstGeom>
          <a:noFill/>
          <a:ln/>
        </p:spPr>
        <p:txBody>
          <a:bodyPr wrap="square" lIns="0" tIns="0" rIns="0" bIns="0" rtlCol="0" anchor="ctr">
            <a:normAutofit/>
          </a:bodyPr>
          <a:lstStyle/>
          <a:p>
            <a:pPr indent="0" marL="0">
              <a:buNone/>
            </a:pPr>
            <a:r>
              <a:rPr lang="en-US" sz="850" b="1" dirty="0">
                <a:solidFill>
                  <a:srgbClr val="946A2E"/>
                </a:solidFill>
                <a:latin typeface="Aptos" pitchFamily="34" charset="0"/>
                <a:ea typeface="Aptos" pitchFamily="34" charset="-122"/>
                <a:cs typeface="Aptos" pitchFamily="34" charset="-120"/>
              </a:rPr>
              <a:t>DEMO SECURITY BOUNDARY</a:t>
            </a:r>
            <a:endParaRPr lang="en-US" sz="850" dirty="0"/>
          </a:p>
        </p:txBody>
      </p:sp>
      <p:sp>
        <p:nvSpPr>
          <p:cNvPr id="25" name="Text 23"/>
          <p:cNvSpPr/>
          <p:nvPr/>
        </p:nvSpPr>
        <p:spPr>
          <a:xfrm>
            <a:off x="8193024" y="4407408"/>
            <a:ext cx="2743200" cy="594360"/>
          </a:xfrm>
          <a:prstGeom prst="rect">
            <a:avLst/>
          </a:prstGeom>
          <a:noFill/>
          <a:ln/>
        </p:spPr>
        <p:txBody>
          <a:bodyPr wrap="square" lIns="0" tIns="0" rIns="0" bIns="0" rtlCol="0" anchor="t">
            <a:normAutofit/>
          </a:bodyPr>
          <a:lstStyle/>
          <a:p>
            <a:pPr indent="0" marL="0">
              <a:buNone/>
            </a:pPr>
            <a:r>
              <a:rPr lang="en-US" sz="920" dirty="0">
                <a:solidFill>
                  <a:srgbClr val="253E4D"/>
                </a:solidFill>
                <a:latin typeface="Aptos" pitchFamily="34" charset="0"/>
                <a:ea typeface="Aptos" pitchFamily="34" charset="-122"/>
                <a:cs typeface="Aptos" pitchFamily="34" charset="-120"/>
              </a:rPr>
              <a:t>Shared demo key; no named accounts, tenant separation, retention controls, or security assessment.</a:t>
            </a:r>
            <a:endParaRPr lang="en-US" sz="920" dirty="0"/>
          </a:p>
        </p:txBody>
      </p:sp>
      <p:sp>
        <p:nvSpPr>
          <p:cNvPr id="26" name="Text 24"/>
          <p:cNvSpPr/>
          <p:nvPr/>
        </p:nvSpPr>
        <p:spPr>
          <a:xfrm>
            <a:off x="786384" y="5715000"/>
            <a:ext cx="10515600" cy="274320"/>
          </a:xfrm>
          <a:prstGeom prst="rect">
            <a:avLst/>
          </a:prstGeom>
          <a:noFill/>
          <a:ln/>
        </p:spPr>
        <p:txBody>
          <a:bodyPr wrap="square" lIns="0" tIns="0" rIns="0" bIns="0" rtlCol="0" anchor="ctr">
            <a:normAutofit/>
          </a:bodyPr>
          <a:lstStyle/>
          <a:p>
            <a:pPr indent="0" marL="0">
              <a:buNone/>
            </a:pPr>
            <a:r>
              <a:rPr lang="en-US" sz="1000" b="1" dirty="0">
                <a:solidFill>
                  <a:srgbClr val="173747"/>
                </a:solidFill>
                <a:latin typeface="Aptos" pitchFamily="34" charset="0"/>
                <a:ea typeface="Aptos" pitchFamily="34" charset="-122"/>
                <a:cs typeface="Aptos" pitchFamily="34" charset="-120"/>
              </a:rPr>
              <a:t>Exact library versions and licenses are listed in the Technical Design.</a:t>
            </a:r>
            <a:endParaRPr lang="en-US" sz="1000" dirty="0"/>
          </a:p>
        </p:txBody>
      </p:sp>
      <p:sp>
        <p:nvSpPr>
          <p:cNvPr id="25" name="Slide Number Placeholder 0"/>
          <p:cNvSpPr>
            <a:spLocks noGrp="1"/>
          </p:cNvSpPr>
          <p:nvPr>
            <p:ph type="sldNum" sz="quarter" idx="4294967295"/>
          </p:nvPr>
        </p:nvSpPr>
        <p:spPr>
          <a:xfrm>
            <a:off x="11768328" y="6556248"/>
            <a:ext cx="182880" cy="164592"/>
          </a:xfrm>
          <a:prstGeom prst="rect">
            <a:avLst/>
          </a:prstGeom>
          <a:extLst>
            <a:ext uri="{C572A759-6A51-4108-AA02-DFA0A04FC94B}">
              <ma14:wrappingTextBoxFlag xmlns:ma14="http://schemas.microsoft.com/office/mac/drawingml/2011/main" val="0"/>
            </a:ext>
          </a:extLst>
        </p:spPr>
        <p:txBody>
          <a:bodyPr/>
          <a:lstStyle>
            <a:lvl1pPr>
              <a:defRPr sz="700">
                <a:solidFill>
                  <a:srgbClr val="6C808B"/>
                </a:solidFill>
                <a:latin typeface="Aptos"/>
                <a:ea typeface="Aptos"/>
                <a:cs typeface="Aptos"/>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94360" y="329184"/>
            <a:ext cx="10789920" cy="219456"/>
          </a:xfrm>
          <a:prstGeom prst="rect">
            <a:avLst/>
          </a:prstGeom>
          <a:noFill/>
          <a:ln/>
        </p:spPr>
        <p:txBody>
          <a:bodyPr wrap="square" lIns="0" tIns="0" rIns="0" bIns="0" rtlCol="0" anchor="ctr">
            <a:normAutofit/>
          </a:bodyPr>
          <a:lstStyle/>
          <a:p>
            <a:pPr indent="0" marL="0">
              <a:buNone/>
            </a:pPr>
            <a:r>
              <a:rPr lang="en-US" sz="900" b="1" spc="120" kern="0" dirty="0">
                <a:solidFill>
                  <a:srgbClr val="0D8F89"/>
                </a:solidFill>
                <a:latin typeface="Aptos" pitchFamily="34" charset="0"/>
                <a:ea typeface="Aptos" pitchFamily="34" charset="-122"/>
                <a:cs typeface="Aptos" pitchFamily="34" charset="-120"/>
              </a:rPr>
              <a:t>TECHNICAL EVALUATION</a:t>
            </a:r>
            <a:endParaRPr lang="en-US" sz="900" dirty="0"/>
          </a:p>
        </p:txBody>
      </p:sp>
      <p:sp>
        <p:nvSpPr>
          <p:cNvPr id="3" name="Text 1"/>
          <p:cNvSpPr/>
          <p:nvPr/>
        </p:nvSpPr>
        <p:spPr>
          <a:xfrm>
            <a:off x="594360" y="640080"/>
            <a:ext cx="10972800" cy="475488"/>
          </a:xfrm>
          <a:prstGeom prst="rect">
            <a:avLst/>
          </a:prstGeom>
          <a:noFill/>
          <a:ln/>
        </p:spPr>
        <p:txBody>
          <a:bodyPr wrap="square" lIns="0" tIns="0" rIns="0" bIns="0" rtlCol="0" anchor="ctr">
            <a:normAutofit/>
          </a:bodyPr>
          <a:lstStyle/>
          <a:p>
            <a:pPr indent="0" marL="0">
              <a:buNone/>
            </a:pPr>
            <a:r>
              <a:rPr lang="en-US" sz="2600" b="1" dirty="0">
                <a:solidFill>
                  <a:srgbClr val="173747"/>
                </a:solidFill>
                <a:latin typeface="Aptos Display" pitchFamily="34" charset="0"/>
                <a:ea typeface="Aptos Display" pitchFamily="34" charset="-122"/>
                <a:cs typeface="Aptos Display" pitchFamily="34" charset="-120"/>
              </a:rPr>
              <a:t>The sample passed its checks; new exercises still need testing</a:t>
            </a:r>
            <a:endParaRPr lang="en-US" sz="2600" dirty="0"/>
          </a:p>
        </p:txBody>
      </p:sp>
      <p:sp>
        <p:nvSpPr>
          <p:cNvPr id="4" name="Text 2"/>
          <p:cNvSpPr/>
          <p:nvPr/>
        </p:nvSpPr>
        <p:spPr>
          <a:xfrm>
            <a:off x="612648" y="1133856"/>
            <a:ext cx="10881360" cy="310896"/>
          </a:xfrm>
          <a:prstGeom prst="rect">
            <a:avLst/>
          </a:prstGeom>
          <a:noFill/>
          <a:ln/>
        </p:spPr>
        <p:txBody>
          <a:bodyPr wrap="square" lIns="0" tIns="0" rIns="0" bIns="0" rtlCol="0" anchor="ctr">
            <a:normAutofit/>
          </a:bodyPr>
          <a:lstStyle/>
          <a:p>
            <a:pPr indent="0" marL="0">
              <a:buNone/>
            </a:pPr>
            <a:r>
              <a:rPr lang="en-US" sz="1130" dirty="0">
                <a:solidFill>
                  <a:srgbClr val="6C808B"/>
                </a:solidFill>
                <a:latin typeface="Aptos" pitchFamily="34" charset="0"/>
                <a:ea typeface="Aptos" pitchFamily="34" charset="-122"/>
                <a:cs typeface="Aptos" pitchFamily="34" charset="-120"/>
              </a:rPr>
              <a:t>Scores use one fictional exercise built for this demo. They do not measure evaluator agreement or general accuracy.</a:t>
            </a:r>
            <a:endParaRPr lang="en-US" sz="1130" dirty="0"/>
          </a:p>
        </p:txBody>
      </p:sp>
      <p:sp>
        <p:nvSpPr>
          <p:cNvPr id="5" name="Shape 3"/>
          <p:cNvSpPr/>
          <p:nvPr/>
        </p:nvSpPr>
        <p:spPr>
          <a:xfrm>
            <a:off x="731520" y="1828800"/>
            <a:ext cx="2487168" cy="1280160"/>
          </a:xfrm>
          <a:prstGeom prst="roundRect">
            <a:avLst>
              <a:gd name="adj" fmla="val 8571"/>
            </a:avLst>
          </a:prstGeom>
          <a:solidFill>
            <a:srgbClr val="FFFFFF"/>
          </a:solidFill>
          <a:ln w="11430">
            <a:solidFill>
              <a:srgbClr val="DCE7E8"/>
            </a:solidFill>
            <a:prstDash val="solid"/>
          </a:ln>
        </p:spPr>
      </p:sp>
      <p:sp>
        <p:nvSpPr>
          <p:cNvPr id="6" name="Text 4"/>
          <p:cNvSpPr/>
          <p:nvPr/>
        </p:nvSpPr>
        <p:spPr>
          <a:xfrm>
            <a:off x="914400" y="2029968"/>
            <a:ext cx="2103120" cy="182880"/>
          </a:xfrm>
          <a:prstGeom prst="rect">
            <a:avLst/>
          </a:prstGeom>
          <a:noFill/>
          <a:ln/>
        </p:spPr>
        <p:txBody>
          <a:bodyPr wrap="square" lIns="0" tIns="0" rIns="0" bIns="0" rtlCol="0" anchor="ctr">
            <a:normAutofit/>
          </a:bodyPr>
          <a:lstStyle/>
          <a:p>
            <a:pPr indent="0" marL="0">
              <a:buNone/>
            </a:pPr>
            <a:r>
              <a:rPr lang="en-US" sz="800" b="1" spc="70" kern="0" dirty="0">
                <a:solidFill>
                  <a:srgbClr val="0D8F89"/>
                </a:solidFill>
                <a:latin typeface="Aptos" pitchFamily="34" charset="0"/>
                <a:ea typeface="Aptos" pitchFamily="34" charset="-122"/>
                <a:cs typeface="Aptos" pitchFamily="34" charset="-120"/>
              </a:rPr>
              <a:t>EVENT RECORDS</a:t>
            </a:r>
            <a:endParaRPr lang="en-US" sz="800" dirty="0"/>
          </a:p>
        </p:txBody>
      </p:sp>
      <p:sp>
        <p:nvSpPr>
          <p:cNvPr id="7" name="Text 5"/>
          <p:cNvSpPr/>
          <p:nvPr/>
        </p:nvSpPr>
        <p:spPr>
          <a:xfrm>
            <a:off x="914400" y="2322576"/>
            <a:ext cx="2103120" cy="393192"/>
          </a:xfrm>
          <a:prstGeom prst="rect">
            <a:avLst/>
          </a:prstGeom>
          <a:noFill/>
          <a:ln/>
        </p:spPr>
        <p:txBody>
          <a:bodyPr wrap="square" lIns="0" tIns="0" rIns="0" bIns="0" rtlCol="0" anchor="ctr">
            <a:normAutofit/>
          </a:bodyPr>
          <a:lstStyle/>
          <a:p>
            <a:pPr indent="0" marL="0">
              <a:buNone/>
            </a:pPr>
            <a:r>
              <a:rPr lang="en-US" sz="2400" b="1" dirty="0">
                <a:solidFill>
                  <a:srgbClr val="173747"/>
                </a:solidFill>
                <a:latin typeface="Aptos Display" pitchFamily="34" charset="0"/>
                <a:ea typeface="Aptos Display" pitchFamily="34" charset="-122"/>
                <a:cs typeface="Aptos Display" pitchFamily="34" charset="-120"/>
              </a:rPr>
              <a:t>8 / 8</a:t>
            </a:r>
            <a:endParaRPr lang="en-US" sz="2400" dirty="0"/>
          </a:p>
        </p:txBody>
      </p:sp>
      <p:sp>
        <p:nvSpPr>
          <p:cNvPr id="8" name="Text 6"/>
          <p:cNvSpPr/>
          <p:nvPr/>
        </p:nvSpPr>
        <p:spPr>
          <a:xfrm>
            <a:off x="914400" y="2788920"/>
            <a:ext cx="2103120" cy="201168"/>
          </a:xfrm>
          <a:prstGeom prst="rect">
            <a:avLst/>
          </a:prstGeom>
          <a:noFill/>
          <a:ln/>
        </p:spPr>
        <p:txBody>
          <a:bodyPr wrap="square" lIns="0" tIns="0" rIns="0" bIns="0" rtlCol="0" anchor="ctr">
            <a:normAutofit/>
          </a:bodyPr>
          <a:lstStyle/>
          <a:p>
            <a:pPr indent="0" marL="0">
              <a:buNone/>
            </a:pPr>
            <a:r>
              <a:rPr lang="en-US" sz="900" dirty="0">
                <a:solidFill>
                  <a:srgbClr val="6C808B"/>
                </a:solidFill>
                <a:latin typeface="Aptos" pitchFamily="34" charset="0"/>
                <a:ea typeface="Aptos" pitchFamily="34" charset="-122"/>
                <a:cs typeface="Aptos" pitchFamily="34" charset="-120"/>
              </a:rPr>
              <a:t>All labeled rows found</a:t>
            </a:r>
            <a:endParaRPr lang="en-US" sz="900" dirty="0"/>
          </a:p>
        </p:txBody>
      </p:sp>
      <p:sp>
        <p:nvSpPr>
          <p:cNvPr id="9" name="Shape 7"/>
          <p:cNvSpPr/>
          <p:nvPr/>
        </p:nvSpPr>
        <p:spPr>
          <a:xfrm>
            <a:off x="3520440" y="1828800"/>
            <a:ext cx="2487168" cy="1280160"/>
          </a:xfrm>
          <a:prstGeom prst="roundRect">
            <a:avLst>
              <a:gd name="adj" fmla="val 8571"/>
            </a:avLst>
          </a:prstGeom>
          <a:solidFill>
            <a:srgbClr val="FFFFFF"/>
          </a:solidFill>
          <a:ln w="11430">
            <a:solidFill>
              <a:srgbClr val="DCE7E8"/>
            </a:solidFill>
            <a:prstDash val="solid"/>
          </a:ln>
        </p:spPr>
      </p:sp>
      <p:sp>
        <p:nvSpPr>
          <p:cNvPr id="10" name="Text 8"/>
          <p:cNvSpPr/>
          <p:nvPr/>
        </p:nvSpPr>
        <p:spPr>
          <a:xfrm>
            <a:off x="3703320" y="2029968"/>
            <a:ext cx="2103120" cy="182880"/>
          </a:xfrm>
          <a:prstGeom prst="rect">
            <a:avLst/>
          </a:prstGeom>
          <a:noFill/>
          <a:ln/>
        </p:spPr>
        <p:txBody>
          <a:bodyPr wrap="square" lIns="0" tIns="0" rIns="0" bIns="0" rtlCol="0" anchor="ctr">
            <a:normAutofit/>
          </a:bodyPr>
          <a:lstStyle/>
          <a:p>
            <a:pPr indent="0" marL="0">
              <a:buNone/>
            </a:pPr>
            <a:r>
              <a:rPr lang="en-US" sz="800" b="1" spc="70" kern="0" dirty="0">
                <a:solidFill>
                  <a:srgbClr val="0D8F89"/>
                </a:solidFill>
                <a:latin typeface="Aptos" pitchFamily="34" charset="0"/>
                <a:ea typeface="Aptos" pitchFamily="34" charset="-122"/>
                <a:cs typeface="Aptos" pitchFamily="34" charset="-120"/>
              </a:rPr>
              <a:t>FINDING LABELS</a:t>
            </a:r>
            <a:endParaRPr lang="en-US" sz="800" dirty="0"/>
          </a:p>
        </p:txBody>
      </p:sp>
      <p:sp>
        <p:nvSpPr>
          <p:cNvPr id="11" name="Text 9"/>
          <p:cNvSpPr/>
          <p:nvPr/>
        </p:nvSpPr>
        <p:spPr>
          <a:xfrm>
            <a:off x="3703320" y="2322576"/>
            <a:ext cx="2103120" cy="393192"/>
          </a:xfrm>
          <a:prstGeom prst="rect">
            <a:avLst/>
          </a:prstGeom>
          <a:noFill/>
          <a:ln/>
        </p:spPr>
        <p:txBody>
          <a:bodyPr wrap="square" lIns="0" tIns="0" rIns="0" bIns="0" rtlCol="0" anchor="ctr">
            <a:normAutofit/>
          </a:bodyPr>
          <a:lstStyle/>
          <a:p>
            <a:pPr indent="0" marL="0">
              <a:buNone/>
            </a:pPr>
            <a:r>
              <a:rPr lang="en-US" sz="2400" b="1" dirty="0">
                <a:solidFill>
                  <a:srgbClr val="173747"/>
                </a:solidFill>
                <a:latin typeface="Aptos Display" pitchFamily="34" charset="0"/>
                <a:ea typeface="Aptos Display" pitchFamily="34" charset="-122"/>
                <a:cs typeface="Aptos Display" pitchFamily="34" charset="-120"/>
              </a:rPr>
              <a:t>5 / 5</a:t>
            </a:r>
            <a:endParaRPr lang="en-US" sz="2400" dirty="0"/>
          </a:p>
        </p:txBody>
      </p:sp>
      <p:sp>
        <p:nvSpPr>
          <p:cNvPr id="12" name="Text 10"/>
          <p:cNvSpPr/>
          <p:nvPr/>
        </p:nvSpPr>
        <p:spPr>
          <a:xfrm>
            <a:off x="3703320" y="2788920"/>
            <a:ext cx="2103120" cy="201168"/>
          </a:xfrm>
          <a:prstGeom prst="rect">
            <a:avLst/>
          </a:prstGeom>
          <a:noFill/>
          <a:ln/>
        </p:spPr>
        <p:txBody>
          <a:bodyPr wrap="square" lIns="0" tIns="0" rIns="0" bIns="0" rtlCol="0" anchor="ctr">
            <a:normAutofit/>
          </a:bodyPr>
          <a:lstStyle/>
          <a:p>
            <a:pPr indent="0" marL="0">
              <a:buNone/>
            </a:pPr>
            <a:r>
              <a:rPr lang="en-US" sz="900" dirty="0">
                <a:solidFill>
                  <a:srgbClr val="6C808B"/>
                </a:solidFill>
                <a:latin typeface="Aptos" pitchFamily="34" charset="0"/>
                <a:ea typeface="Aptos" pitchFamily="34" charset="-122"/>
                <a:cs typeface="Aptos" pitchFamily="34" charset="-120"/>
              </a:rPr>
              <a:t>All expected labels found</a:t>
            </a:r>
            <a:endParaRPr lang="en-US" sz="900" dirty="0"/>
          </a:p>
        </p:txBody>
      </p:sp>
      <p:sp>
        <p:nvSpPr>
          <p:cNvPr id="13" name="Shape 11"/>
          <p:cNvSpPr/>
          <p:nvPr/>
        </p:nvSpPr>
        <p:spPr>
          <a:xfrm>
            <a:off x="6309360" y="1828800"/>
            <a:ext cx="2487168" cy="1280160"/>
          </a:xfrm>
          <a:prstGeom prst="roundRect">
            <a:avLst>
              <a:gd name="adj" fmla="val 8571"/>
            </a:avLst>
          </a:prstGeom>
          <a:solidFill>
            <a:srgbClr val="FFFFFF"/>
          </a:solidFill>
          <a:ln w="11430">
            <a:solidFill>
              <a:srgbClr val="DCE7E8"/>
            </a:solidFill>
            <a:prstDash val="solid"/>
          </a:ln>
        </p:spPr>
      </p:sp>
      <p:sp>
        <p:nvSpPr>
          <p:cNvPr id="14" name="Text 12"/>
          <p:cNvSpPr/>
          <p:nvPr/>
        </p:nvSpPr>
        <p:spPr>
          <a:xfrm>
            <a:off x="6492240" y="2029968"/>
            <a:ext cx="2103120" cy="182880"/>
          </a:xfrm>
          <a:prstGeom prst="rect">
            <a:avLst/>
          </a:prstGeom>
          <a:noFill/>
          <a:ln/>
        </p:spPr>
        <p:txBody>
          <a:bodyPr wrap="square" lIns="0" tIns="0" rIns="0" bIns="0" rtlCol="0" anchor="ctr">
            <a:normAutofit/>
          </a:bodyPr>
          <a:lstStyle/>
          <a:p>
            <a:pPr indent="0" marL="0">
              <a:buNone/>
            </a:pPr>
            <a:r>
              <a:rPr lang="en-US" sz="800" b="1" spc="70" kern="0" dirty="0">
                <a:solidFill>
                  <a:srgbClr val="0D8F89"/>
                </a:solidFill>
                <a:latin typeface="Aptos" pitchFamily="34" charset="0"/>
                <a:ea typeface="Aptos" pitchFamily="34" charset="-122"/>
                <a:cs typeface="Aptos" pitchFamily="34" charset="-120"/>
              </a:rPr>
              <a:t>SOURCE LINKS</a:t>
            </a:r>
            <a:endParaRPr lang="en-US" sz="800" dirty="0"/>
          </a:p>
        </p:txBody>
      </p:sp>
      <p:sp>
        <p:nvSpPr>
          <p:cNvPr id="15" name="Text 13"/>
          <p:cNvSpPr/>
          <p:nvPr/>
        </p:nvSpPr>
        <p:spPr>
          <a:xfrm>
            <a:off x="6492240" y="2322576"/>
            <a:ext cx="2103120" cy="393192"/>
          </a:xfrm>
          <a:prstGeom prst="rect">
            <a:avLst/>
          </a:prstGeom>
          <a:noFill/>
          <a:ln/>
        </p:spPr>
        <p:txBody>
          <a:bodyPr wrap="square" lIns="0" tIns="0" rIns="0" bIns="0" rtlCol="0" anchor="ctr">
            <a:normAutofit/>
          </a:bodyPr>
          <a:lstStyle/>
          <a:p>
            <a:pPr indent="0" marL="0">
              <a:buNone/>
            </a:pPr>
            <a:r>
              <a:rPr lang="en-US" sz="2400" b="1" dirty="0">
                <a:solidFill>
                  <a:srgbClr val="173747"/>
                </a:solidFill>
                <a:latin typeface="Aptos Display" pitchFamily="34" charset="0"/>
                <a:ea typeface="Aptos Display" pitchFamily="34" charset="-122"/>
                <a:cs typeface="Aptos Display" pitchFamily="34" charset="-120"/>
              </a:rPr>
              <a:t>9 / 9</a:t>
            </a:r>
            <a:endParaRPr lang="en-US" sz="2400" dirty="0"/>
          </a:p>
        </p:txBody>
      </p:sp>
      <p:sp>
        <p:nvSpPr>
          <p:cNvPr id="16" name="Text 14"/>
          <p:cNvSpPr/>
          <p:nvPr/>
        </p:nvSpPr>
        <p:spPr>
          <a:xfrm>
            <a:off x="6492240" y="2788920"/>
            <a:ext cx="2103120" cy="201168"/>
          </a:xfrm>
          <a:prstGeom prst="rect">
            <a:avLst/>
          </a:prstGeom>
          <a:noFill/>
          <a:ln/>
        </p:spPr>
        <p:txBody>
          <a:bodyPr wrap="square" lIns="0" tIns="0" rIns="0" bIns="0" rtlCol="0" anchor="ctr">
            <a:normAutofit/>
          </a:bodyPr>
          <a:lstStyle/>
          <a:p>
            <a:pPr indent="0" marL="0">
              <a:buNone/>
            </a:pPr>
            <a:r>
              <a:rPr lang="en-US" sz="900" dirty="0">
                <a:solidFill>
                  <a:srgbClr val="6C808B"/>
                </a:solidFill>
                <a:latin typeface="Aptos" pitchFamily="34" charset="0"/>
                <a:ea typeface="Aptos" pitchFamily="34" charset="-122"/>
                <a:cs typeface="Aptos" pitchFamily="34" charset="-120"/>
              </a:rPr>
              <a:t>Expected record IDs linked</a:t>
            </a:r>
            <a:endParaRPr lang="en-US" sz="900" dirty="0"/>
          </a:p>
        </p:txBody>
      </p:sp>
      <p:sp>
        <p:nvSpPr>
          <p:cNvPr id="17" name="Shape 15"/>
          <p:cNvSpPr/>
          <p:nvPr/>
        </p:nvSpPr>
        <p:spPr>
          <a:xfrm>
            <a:off x="9098280" y="1828800"/>
            <a:ext cx="2487168" cy="1280160"/>
          </a:xfrm>
          <a:prstGeom prst="roundRect">
            <a:avLst>
              <a:gd name="adj" fmla="val 8571"/>
            </a:avLst>
          </a:prstGeom>
          <a:solidFill>
            <a:srgbClr val="FFFFFF"/>
          </a:solidFill>
          <a:ln w="11430">
            <a:solidFill>
              <a:srgbClr val="DCE7E8"/>
            </a:solidFill>
            <a:prstDash val="solid"/>
          </a:ln>
        </p:spPr>
      </p:sp>
      <p:sp>
        <p:nvSpPr>
          <p:cNvPr id="18" name="Text 16"/>
          <p:cNvSpPr/>
          <p:nvPr/>
        </p:nvSpPr>
        <p:spPr>
          <a:xfrm>
            <a:off x="9281160" y="2029968"/>
            <a:ext cx="2103120" cy="182880"/>
          </a:xfrm>
          <a:prstGeom prst="rect">
            <a:avLst/>
          </a:prstGeom>
          <a:noFill/>
          <a:ln/>
        </p:spPr>
        <p:txBody>
          <a:bodyPr wrap="square" lIns="0" tIns="0" rIns="0" bIns="0" rtlCol="0" anchor="ctr">
            <a:normAutofit/>
          </a:bodyPr>
          <a:lstStyle/>
          <a:p>
            <a:pPr indent="0" marL="0">
              <a:buNone/>
            </a:pPr>
            <a:r>
              <a:rPr lang="en-US" sz="800" b="1" spc="70" kern="0" dirty="0">
                <a:solidFill>
                  <a:srgbClr val="0D8F89"/>
                </a:solidFill>
                <a:latin typeface="Aptos" pitchFamily="34" charset="0"/>
                <a:ea typeface="Aptos" pitchFamily="34" charset="-122"/>
                <a:cs typeface="Aptos" pitchFamily="34" charset="-120"/>
              </a:rPr>
              <a:t>RECORDED TIMES</a:t>
            </a:r>
            <a:endParaRPr lang="en-US" sz="800" dirty="0"/>
          </a:p>
        </p:txBody>
      </p:sp>
      <p:sp>
        <p:nvSpPr>
          <p:cNvPr id="19" name="Text 17"/>
          <p:cNvSpPr/>
          <p:nvPr/>
        </p:nvSpPr>
        <p:spPr>
          <a:xfrm>
            <a:off x="9281160" y="2322576"/>
            <a:ext cx="2103120" cy="393192"/>
          </a:xfrm>
          <a:prstGeom prst="rect">
            <a:avLst/>
          </a:prstGeom>
          <a:noFill/>
          <a:ln/>
        </p:spPr>
        <p:txBody>
          <a:bodyPr wrap="square" lIns="0" tIns="0" rIns="0" bIns="0" rtlCol="0" anchor="ctr">
            <a:normAutofit/>
          </a:bodyPr>
          <a:lstStyle/>
          <a:p>
            <a:pPr indent="0" marL="0">
              <a:buNone/>
            </a:pPr>
            <a:r>
              <a:rPr lang="en-US" sz="2400" b="1" dirty="0">
                <a:solidFill>
                  <a:srgbClr val="173747"/>
                </a:solidFill>
                <a:latin typeface="Aptos Display" pitchFamily="34" charset="0"/>
                <a:ea typeface="Aptos Display" pitchFamily="34" charset="-122"/>
                <a:cs typeface="Aptos Display" pitchFamily="34" charset="-120"/>
              </a:rPr>
              <a:t>8 / 8</a:t>
            </a:r>
            <a:endParaRPr lang="en-US" sz="2400" dirty="0"/>
          </a:p>
        </p:txBody>
      </p:sp>
      <p:sp>
        <p:nvSpPr>
          <p:cNvPr id="20" name="Text 18"/>
          <p:cNvSpPr/>
          <p:nvPr/>
        </p:nvSpPr>
        <p:spPr>
          <a:xfrm>
            <a:off x="9281160" y="2788920"/>
            <a:ext cx="2103120" cy="201168"/>
          </a:xfrm>
          <a:prstGeom prst="rect">
            <a:avLst/>
          </a:prstGeom>
          <a:noFill/>
          <a:ln/>
        </p:spPr>
        <p:txBody>
          <a:bodyPr wrap="square" lIns="0" tIns="0" rIns="0" bIns="0" rtlCol="0" anchor="ctr">
            <a:normAutofit/>
          </a:bodyPr>
          <a:lstStyle/>
          <a:p>
            <a:pPr indent="0" marL="0">
              <a:buNone/>
            </a:pPr>
            <a:r>
              <a:rPr lang="en-US" sz="900" dirty="0">
                <a:solidFill>
                  <a:srgbClr val="6C808B"/>
                </a:solidFill>
                <a:latin typeface="Aptos" pitchFamily="34" charset="0"/>
                <a:ea typeface="Aptos" pitchFamily="34" charset="-122"/>
                <a:cs typeface="Aptos" pitchFamily="34" charset="-120"/>
              </a:rPr>
              <a:t>One disagreement shown</a:t>
            </a:r>
            <a:endParaRPr lang="en-US" sz="900" dirty="0"/>
          </a:p>
        </p:txBody>
      </p:sp>
      <p:sp>
        <p:nvSpPr>
          <p:cNvPr id="21" name="Shape 19"/>
          <p:cNvSpPr/>
          <p:nvPr/>
        </p:nvSpPr>
        <p:spPr>
          <a:xfrm>
            <a:off x="749808" y="3529584"/>
            <a:ext cx="5285232" cy="1417320"/>
          </a:xfrm>
          <a:prstGeom prst="roundRect">
            <a:avLst>
              <a:gd name="adj" fmla="val 7742"/>
            </a:avLst>
          </a:prstGeom>
          <a:solidFill>
            <a:srgbClr val="E5F4F2"/>
          </a:solidFill>
          <a:ln w="11430">
            <a:solidFill>
              <a:srgbClr val="C9E4E0"/>
            </a:solidFill>
            <a:prstDash val="solid"/>
          </a:ln>
        </p:spPr>
      </p:sp>
      <p:sp>
        <p:nvSpPr>
          <p:cNvPr id="22" name="Text 20"/>
          <p:cNvSpPr/>
          <p:nvPr/>
        </p:nvSpPr>
        <p:spPr>
          <a:xfrm>
            <a:off x="987552" y="3749040"/>
            <a:ext cx="1234440" cy="219456"/>
          </a:xfrm>
          <a:prstGeom prst="rect">
            <a:avLst/>
          </a:prstGeom>
          <a:noFill/>
          <a:ln/>
        </p:spPr>
        <p:txBody>
          <a:bodyPr wrap="square" lIns="0" tIns="0" rIns="0" bIns="0" rtlCol="0" anchor="ctr">
            <a:normAutofit/>
          </a:bodyPr>
          <a:lstStyle/>
          <a:p>
            <a:pPr indent="0" marL="0">
              <a:buNone/>
            </a:pPr>
            <a:r>
              <a:rPr lang="en-US" sz="1200" b="1" dirty="0">
                <a:solidFill>
                  <a:srgbClr val="0D8F89"/>
                </a:solidFill>
                <a:latin typeface="Aptos" pitchFamily="34" charset="0"/>
                <a:ea typeface="Aptos" pitchFamily="34" charset="-122"/>
                <a:cs typeface="Aptos" pitchFamily="34" charset="-120"/>
              </a:rPr>
              <a:t>Measured</a:t>
            </a:r>
            <a:endParaRPr lang="en-US" sz="1200" dirty="0"/>
          </a:p>
        </p:txBody>
      </p:sp>
      <p:sp>
        <p:nvSpPr>
          <p:cNvPr id="23" name="Text 21"/>
          <p:cNvSpPr/>
          <p:nvPr/>
        </p:nvSpPr>
        <p:spPr>
          <a:xfrm>
            <a:off x="987552" y="4123944"/>
            <a:ext cx="4709160" cy="530352"/>
          </a:xfrm>
          <a:prstGeom prst="rect">
            <a:avLst/>
          </a:prstGeom>
          <a:noFill/>
          <a:ln/>
        </p:spPr>
        <p:txBody>
          <a:bodyPr wrap="square" lIns="0" tIns="0" rIns="0" bIns="0" rtlCol="0" anchor="t">
            <a:normAutofit/>
          </a:bodyPr>
          <a:lstStyle/>
          <a:p>
            <a:pPr indent="0" marL="0">
              <a:buNone/>
            </a:pPr>
            <a:r>
              <a:rPr lang="en-US" sz="1020" dirty="0">
                <a:solidFill>
                  <a:srgbClr val="253E4D"/>
                </a:solidFill>
                <a:latin typeface="Aptos" pitchFamily="34" charset="0"/>
                <a:ea typeface="Aptos" pitchFamily="34" charset="-122"/>
                <a:cs typeface="Aptos" pitchFamily="34" charset="-120"/>
              </a:rPr>
              <a:t>Rule request latency p50 4.61 ms · p95 9.13 ms</a:t>
            </a:r>
            <a:endParaRPr lang="en-US" sz="1020" dirty="0"/>
          </a:p>
          <a:p>
            <a:pPr indent="0" marL="0">
              <a:buNone/>
            </a:pPr>
            <a:r>
              <a:rPr lang="en-US" sz="1020" dirty="0">
                <a:solidFill>
                  <a:srgbClr val="253E4D"/>
                </a:solidFill>
                <a:latin typeface="Aptos" pitchFamily="34" charset="0"/>
                <a:ea typeface="Aptos" pitchFamily="34" charset="-122"/>
                <a:cs typeface="Aptos" pitchFamily="34" charset="-120"/>
              </a:rPr>
              <a:t>Peak process RSS 78.2 MB · no model loaded</a:t>
            </a:r>
            <a:endParaRPr lang="en-US" sz="1020" dirty="0"/>
          </a:p>
        </p:txBody>
      </p:sp>
      <p:sp>
        <p:nvSpPr>
          <p:cNvPr id="24" name="Shape 22"/>
          <p:cNvSpPr/>
          <p:nvPr/>
        </p:nvSpPr>
        <p:spPr>
          <a:xfrm>
            <a:off x="6291072" y="3529584"/>
            <a:ext cx="5102352" cy="1417320"/>
          </a:xfrm>
          <a:prstGeom prst="roundRect">
            <a:avLst>
              <a:gd name="adj" fmla="val 7742"/>
            </a:avLst>
          </a:prstGeom>
          <a:solidFill>
            <a:srgbClr val="FFF4E2"/>
          </a:solidFill>
          <a:ln w="11430">
            <a:solidFill>
              <a:srgbClr val="EBD9B9"/>
            </a:solidFill>
            <a:prstDash val="solid"/>
          </a:ln>
        </p:spPr>
      </p:sp>
      <p:sp>
        <p:nvSpPr>
          <p:cNvPr id="25" name="Text 23"/>
          <p:cNvSpPr/>
          <p:nvPr/>
        </p:nvSpPr>
        <p:spPr>
          <a:xfrm>
            <a:off x="6528816" y="3749040"/>
            <a:ext cx="1645920" cy="219456"/>
          </a:xfrm>
          <a:prstGeom prst="rect">
            <a:avLst/>
          </a:prstGeom>
          <a:noFill/>
          <a:ln/>
        </p:spPr>
        <p:txBody>
          <a:bodyPr wrap="square" lIns="0" tIns="0" rIns="0" bIns="0" rtlCol="0" anchor="ctr">
            <a:normAutofit/>
          </a:bodyPr>
          <a:lstStyle/>
          <a:p>
            <a:pPr indent="0" marL="0">
              <a:buNone/>
            </a:pPr>
            <a:r>
              <a:rPr lang="en-US" sz="1200" b="1" dirty="0">
                <a:solidFill>
                  <a:srgbClr val="946A2E"/>
                </a:solidFill>
                <a:latin typeface="Aptos" pitchFamily="34" charset="0"/>
                <a:ea typeface="Aptos" pitchFamily="34" charset="-122"/>
                <a:cs typeface="Aptos" pitchFamily="34" charset="-120"/>
              </a:rPr>
              <a:t>Not measured</a:t>
            </a:r>
            <a:endParaRPr lang="en-US" sz="1200" dirty="0"/>
          </a:p>
        </p:txBody>
      </p:sp>
      <p:sp>
        <p:nvSpPr>
          <p:cNvPr id="26" name="Text 24"/>
          <p:cNvSpPr/>
          <p:nvPr/>
        </p:nvSpPr>
        <p:spPr>
          <a:xfrm>
            <a:off x="6528816" y="4123944"/>
            <a:ext cx="4526280" cy="530352"/>
          </a:xfrm>
          <a:prstGeom prst="rect">
            <a:avLst/>
          </a:prstGeom>
          <a:noFill/>
          <a:ln/>
        </p:spPr>
        <p:txBody>
          <a:bodyPr wrap="square" lIns="0" tIns="0" rIns="0" bIns="0" rtlCol="0" anchor="t">
            <a:normAutofit/>
          </a:bodyPr>
          <a:lstStyle/>
          <a:p>
            <a:pPr indent="0" marL="0">
              <a:buNone/>
            </a:pPr>
            <a:r>
              <a:rPr lang="en-US" sz="980" dirty="0">
                <a:solidFill>
                  <a:srgbClr val="253E4D"/>
                </a:solidFill>
                <a:latin typeface="Aptos" pitchFamily="34" charset="0"/>
                <a:ea typeface="Aptos" pitchFamily="34" charset="-122"/>
                <a:cs typeface="Aptos" pitchFamily="34" charset="-120"/>
              </a:rPr>
              <a:t>Unseen-exercise errors · reviewer edits · semantic citation quality</a:t>
            </a:r>
            <a:endParaRPr lang="en-US" sz="980" dirty="0"/>
          </a:p>
          <a:p>
            <a:pPr indent="0" marL="0">
              <a:buNone/>
            </a:pPr>
            <a:r>
              <a:rPr lang="en-US" sz="980" dirty="0">
                <a:solidFill>
                  <a:srgbClr val="253E4D"/>
                </a:solidFill>
                <a:latin typeface="Aptos" pitchFamily="34" charset="0"/>
                <a:ea typeface="Aptos" pitchFamily="34" charset="-122"/>
                <a:cs typeface="Aptos" pitchFamily="34" charset="-120"/>
              </a:rPr>
              <a:t>ASR WER/latency · local LLM quality and latency</a:t>
            </a:r>
            <a:endParaRPr lang="en-US" sz="980" dirty="0"/>
          </a:p>
        </p:txBody>
      </p:sp>
      <p:sp>
        <p:nvSpPr>
          <p:cNvPr id="27" name="Text 25"/>
          <p:cNvSpPr/>
          <p:nvPr/>
        </p:nvSpPr>
        <p:spPr>
          <a:xfrm>
            <a:off x="804672" y="5193792"/>
            <a:ext cx="10241280" cy="438912"/>
          </a:xfrm>
          <a:prstGeom prst="rect">
            <a:avLst/>
          </a:prstGeom>
          <a:noFill/>
          <a:ln/>
        </p:spPr>
        <p:txBody>
          <a:bodyPr wrap="square" lIns="0" tIns="0" rIns="0" bIns="0" rtlCol="0" anchor="ctr">
            <a:normAutofit/>
          </a:bodyPr>
          <a:lstStyle/>
          <a:p>
            <a:pPr indent="0" marL="0">
              <a:buNone/>
            </a:pPr>
            <a:r>
              <a:rPr lang="en-US" sz="930" dirty="0">
                <a:solidFill>
                  <a:srgbClr val="173747"/>
                </a:solidFill>
                <a:latin typeface="Aptos" pitchFamily="34" charset="0"/>
                <a:ea typeface="Aptos" pitchFamily="34" charset="-122"/>
                <a:cs typeface="Aptos" pitchFamily="34" charset="-120"/>
              </a:rPr>
              <a:t>Precision and recall were 100% because rules and labels used the same small scenario; they do not establish performance on an unfamiliar exercise.</a:t>
            </a:r>
            <a:endParaRPr lang="en-US" sz="930" dirty="0"/>
          </a:p>
        </p:txBody>
      </p:sp>
      <p:sp>
        <p:nvSpPr>
          <p:cNvPr id="28" name="Text 26"/>
          <p:cNvSpPr/>
          <p:nvPr/>
        </p:nvSpPr>
        <p:spPr>
          <a:xfrm>
            <a:off x="804672" y="5660136"/>
            <a:ext cx="10332720" cy="274320"/>
          </a:xfrm>
          <a:prstGeom prst="rect">
            <a:avLst/>
          </a:prstGeom>
          <a:noFill/>
          <a:ln/>
        </p:spPr>
        <p:txBody>
          <a:bodyPr wrap="square" lIns="0" tIns="0" rIns="0" bIns="0" rtlCol="0" anchor="ctr">
            <a:normAutofit/>
          </a:bodyPr>
          <a:lstStyle/>
          <a:p>
            <a:pPr indent="0" marL="0">
              <a:buNone/>
            </a:pPr>
            <a:r>
              <a:rPr lang="en-US" sz="950" b="1" dirty="0">
                <a:solidFill>
                  <a:srgbClr val="173747"/>
                </a:solidFill>
                <a:latin typeface="Aptos" pitchFamily="34" charset="0"/>
                <a:ea typeface="Aptos" pitchFamily="34" charset="-122"/>
                <a:cs typeface="Aptos" pitchFamily="34" charset="-120"/>
              </a:rPr>
              <a:t>31 / 32 action fields were filled; one owner is intentionally missing. No evaluator study was run.</a:t>
            </a:r>
            <a:endParaRPr lang="en-US" sz="950" dirty="0"/>
          </a:p>
        </p:txBody>
      </p:sp>
      <p:sp>
        <p:nvSpPr>
          <p:cNvPr id="29" name="Text 27"/>
          <p:cNvSpPr/>
          <p:nvPr/>
        </p:nvSpPr>
        <p:spPr>
          <a:xfrm>
            <a:off x="804672" y="6016752"/>
            <a:ext cx="10058400" cy="210312"/>
          </a:xfrm>
          <a:prstGeom prst="rect">
            <a:avLst/>
          </a:prstGeom>
          <a:noFill/>
          <a:ln/>
        </p:spPr>
        <p:txBody>
          <a:bodyPr wrap="square" lIns="0" tIns="0" rIns="0" bIns="0" rtlCol="0" anchor="ctr">
            <a:normAutofit/>
          </a:bodyPr>
          <a:lstStyle/>
          <a:p>
            <a:pPr indent="0" marL="0">
              <a:buNone/>
            </a:pPr>
            <a:r>
              <a:rPr lang="en-US" sz="850" i="1" dirty="0">
                <a:solidFill>
                  <a:srgbClr val="6C808B"/>
                </a:solidFill>
                <a:latin typeface="Aptos" pitchFamily="34" charset="0"/>
                <a:ea typeface="Aptos" pitchFamily="34" charset="-122"/>
                <a:cs typeface="Aptos" pitchFamily="34" charset="-120"/>
              </a:rPr>
              <a:t>12 local test calls · no AI model loaded · results apply to this synthetic fixture only.</a:t>
            </a:r>
            <a:endParaRPr lang="en-US" sz="850" dirty="0"/>
          </a:p>
        </p:txBody>
      </p:sp>
      <p:sp>
        <p:nvSpPr>
          <p:cNvPr id="25" name="Slide Number Placeholder 0"/>
          <p:cNvSpPr>
            <a:spLocks noGrp="1"/>
          </p:cNvSpPr>
          <p:nvPr>
            <p:ph type="sldNum" sz="quarter" idx="4294967295"/>
          </p:nvPr>
        </p:nvSpPr>
        <p:spPr>
          <a:xfrm>
            <a:off x="11768328" y="6556248"/>
            <a:ext cx="182880" cy="164592"/>
          </a:xfrm>
          <a:prstGeom prst="rect">
            <a:avLst/>
          </a:prstGeom>
          <a:extLst>
            <a:ext uri="{C572A759-6A51-4108-AA02-DFA0A04FC94B}">
              <ma14:wrappingTextBoxFlag xmlns:ma14="http://schemas.microsoft.com/office/mac/drawingml/2011/main" val="0"/>
            </a:ext>
          </a:extLst>
        </p:spPr>
        <p:txBody>
          <a:bodyPr/>
          <a:lstStyle>
            <a:lvl1pPr>
              <a:defRPr sz="700">
                <a:solidFill>
                  <a:srgbClr val="6C808B"/>
                </a:solidFill>
                <a:latin typeface="Aptos"/>
                <a:ea typeface="Aptos"/>
                <a:cs typeface="Aptos"/>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02B39"/>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02B39"/>
          </a:solidFill>
          <a:ln w="12700">
            <a:solidFill>
              <a:srgbClr val="102B39"/>
            </a:solidFill>
            <a:prstDash val="solid"/>
          </a:ln>
        </p:spPr>
      </p:sp>
      <p:sp>
        <p:nvSpPr>
          <p:cNvPr id="3" name="Text 1"/>
          <p:cNvSpPr/>
          <p:nvPr/>
        </p:nvSpPr>
        <p:spPr>
          <a:xfrm>
            <a:off x="777240" y="694944"/>
            <a:ext cx="5486400" cy="228600"/>
          </a:xfrm>
          <a:prstGeom prst="rect">
            <a:avLst/>
          </a:prstGeom>
          <a:noFill/>
          <a:ln/>
        </p:spPr>
        <p:txBody>
          <a:bodyPr wrap="square" lIns="0" tIns="0" rIns="0" bIns="0" rtlCol="0" anchor="ctr">
            <a:normAutofit/>
          </a:bodyPr>
          <a:lstStyle/>
          <a:p>
            <a:pPr indent="0" marL="0">
              <a:buNone/>
            </a:pPr>
            <a:r>
              <a:rPr lang="en-US" sz="900" b="1" spc="140" kern="0" dirty="0">
                <a:solidFill>
                  <a:srgbClr val="71C6BD"/>
                </a:solidFill>
                <a:latin typeface="Aptos" pitchFamily="34" charset="0"/>
                <a:ea typeface="Aptos" pitchFamily="34" charset="-122"/>
                <a:cs typeface="Aptos" pitchFamily="34" charset="-120"/>
              </a:rPr>
              <a:t>THE NEXT PROOF POINT</a:t>
            </a:r>
            <a:endParaRPr lang="en-US" sz="900" dirty="0"/>
          </a:p>
        </p:txBody>
      </p:sp>
      <p:sp>
        <p:nvSpPr>
          <p:cNvPr id="4" name="Text 2"/>
          <p:cNvSpPr/>
          <p:nvPr/>
        </p:nvSpPr>
        <p:spPr>
          <a:xfrm>
            <a:off x="749808" y="1143000"/>
            <a:ext cx="7680960" cy="658368"/>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Aptos Display" pitchFamily="34" charset="0"/>
                <a:ea typeface="Aptos Display" pitchFamily="34" charset="-122"/>
                <a:cs typeface="Aptos Display" pitchFamily="34" charset="-120"/>
              </a:rPr>
              <a:t>Pilot the review trail.</a:t>
            </a:r>
            <a:endParaRPr lang="en-US" sz="3600" dirty="0"/>
          </a:p>
        </p:txBody>
      </p:sp>
      <p:sp>
        <p:nvSpPr>
          <p:cNvPr id="5" name="Text 3"/>
          <p:cNvSpPr/>
          <p:nvPr/>
        </p:nvSpPr>
        <p:spPr>
          <a:xfrm>
            <a:off x="786384" y="1993392"/>
            <a:ext cx="8046720" cy="576072"/>
          </a:xfrm>
          <a:prstGeom prst="rect">
            <a:avLst/>
          </a:prstGeom>
          <a:noFill/>
          <a:ln/>
        </p:spPr>
        <p:txBody>
          <a:bodyPr wrap="square" lIns="0" tIns="0" rIns="0" bIns="0" rtlCol="0" anchor="t">
            <a:normAutofit/>
          </a:bodyPr>
          <a:lstStyle/>
          <a:p>
            <a:pPr indent="0" marL="0">
              <a:buNone/>
            </a:pPr>
            <a:r>
              <a:rPr lang="en-US" sz="1500" dirty="0">
                <a:solidFill>
                  <a:srgbClr val="C2D4D6"/>
                </a:solidFill>
                <a:latin typeface="Aptos" pitchFamily="34" charset="0"/>
                <a:ea typeface="Aptos" pitchFamily="34" charset="-122"/>
                <a:cs typeface="Aptos" pitchFamily="34" charset="-120"/>
              </a:rPr>
              <a:t>Compare the current process and DrillLoop on the same permitted hospital exercise records, then test an unfamiliar exercise.</a:t>
            </a:r>
            <a:endParaRPr lang="en-US" sz="1500" dirty="0"/>
          </a:p>
        </p:txBody>
      </p:sp>
      <p:sp>
        <p:nvSpPr>
          <p:cNvPr id="6" name="Shape 4"/>
          <p:cNvSpPr/>
          <p:nvPr/>
        </p:nvSpPr>
        <p:spPr>
          <a:xfrm>
            <a:off x="804672" y="3127248"/>
            <a:ext cx="3200400" cy="1234440"/>
          </a:xfrm>
          <a:prstGeom prst="roundRect">
            <a:avLst>
              <a:gd name="adj" fmla="val 8889"/>
            </a:avLst>
          </a:prstGeom>
          <a:solidFill>
            <a:srgbClr val="183B48"/>
          </a:solidFill>
          <a:ln w="11430">
            <a:solidFill>
              <a:srgbClr val="315764"/>
            </a:solidFill>
            <a:prstDash val="solid"/>
          </a:ln>
        </p:spPr>
      </p:sp>
      <p:sp>
        <p:nvSpPr>
          <p:cNvPr id="7" name="Text 5"/>
          <p:cNvSpPr/>
          <p:nvPr/>
        </p:nvSpPr>
        <p:spPr>
          <a:xfrm>
            <a:off x="1005840" y="3346704"/>
            <a:ext cx="2697480" cy="320040"/>
          </a:xfrm>
          <a:prstGeom prst="rect">
            <a:avLst/>
          </a:prstGeom>
          <a:noFill/>
          <a:ln/>
        </p:spPr>
        <p:txBody>
          <a:bodyPr wrap="square" lIns="0" tIns="0" rIns="0" bIns="0" rtlCol="0" anchor="ctr">
            <a:normAutofit/>
          </a:bodyPr>
          <a:lstStyle/>
          <a:p>
            <a:pPr indent="0" marL="0">
              <a:buNone/>
            </a:pPr>
            <a:r>
              <a:rPr lang="en-US" sz="2000" b="1" dirty="0">
                <a:solidFill>
                  <a:srgbClr val="85D4CA"/>
                </a:solidFill>
                <a:latin typeface="Aptos Display" pitchFamily="34" charset="0"/>
                <a:ea typeface="Aptos Display" pitchFamily="34" charset="-122"/>
                <a:cs typeface="Aptos Display" pitchFamily="34" charset="-120"/>
              </a:rPr>
              <a:t>2–3 users</a:t>
            </a:r>
            <a:endParaRPr lang="en-US" sz="2000" dirty="0"/>
          </a:p>
        </p:txBody>
      </p:sp>
      <p:sp>
        <p:nvSpPr>
          <p:cNvPr id="8" name="Text 6"/>
          <p:cNvSpPr/>
          <p:nvPr/>
        </p:nvSpPr>
        <p:spPr>
          <a:xfrm>
            <a:off x="1005840" y="3767328"/>
            <a:ext cx="2788920" cy="384048"/>
          </a:xfrm>
          <a:prstGeom prst="rect">
            <a:avLst/>
          </a:prstGeom>
          <a:noFill/>
          <a:ln/>
        </p:spPr>
        <p:txBody>
          <a:bodyPr wrap="square" lIns="0" tIns="0" rIns="0" bIns="0" rtlCol="0" anchor="t">
            <a:normAutofit/>
          </a:bodyPr>
          <a:lstStyle/>
          <a:p>
            <a:pPr indent="0" marL="0">
              <a:buNone/>
            </a:pPr>
            <a:r>
              <a:rPr lang="en-US" sz="1030" dirty="0">
                <a:solidFill>
                  <a:srgbClr val="D0DFE1"/>
                </a:solidFill>
                <a:latin typeface="Aptos" pitchFamily="34" charset="0"/>
                <a:ea typeface="Aptos" pitchFamily="34" charset="-122"/>
                <a:cs typeface="Aptos" pitchFamily="34" charset="-120"/>
              </a:rPr>
              <a:t>Prospective hospital-preparedness interviews (proposed)</a:t>
            </a:r>
            <a:endParaRPr lang="en-US" sz="1030" dirty="0"/>
          </a:p>
        </p:txBody>
      </p:sp>
      <p:sp>
        <p:nvSpPr>
          <p:cNvPr id="9" name="Shape 7"/>
          <p:cNvSpPr/>
          <p:nvPr/>
        </p:nvSpPr>
        <p:spPr>
          <a:xfrm>
            <a:off x="4434840" y="3127248"/>
            <a:ext cx="3200400" cy="1234440"/>
          </a:xfrm>
          <a:prstGeom prst="roundRect">
            <a:avLst>
              <a:gd name="adj" fmla="val 8889"/>
            </a:avLst>
          </a:prstGeom>
          <a:solidFill>
            <a:srgbClr val="183B48"/>
          </a:solidFill>
          <a:ln w="11430">
            <a:solidFill>
              <a:srgbClr val="315764"/>
            </a:solidFill>
            <a:prstDash val="solid"/>
          </a:ln>
        </p:spPr>
      </p:sp>
      <p:sp>
        <p:nvSpPr>
          <p:cNvPr id="10" name="Text 8"/>
          <p:cNvSpPr/>
          <p:nvPr/>
        </p:nvSpPr>
        <p:spPr>
          <a:xfrm>
            <a:off x="4636008" y="3346704"/>
            <a:ext cx="2697480" cy="320040"/>
          </a:xfrm>
          <a:prstGeom prst="rect">
            <a:avLst/>
          </a:prstGeom>
          <a:noFill/>
          <a:ln/>
        </p:spPr>
        <p:txBody>
          <a:bodyPr wrap="square" lIns="0" tIns="0" rIns="0" bIns="0" rtlCol="0" anchor="ctr">
            <a:normAutofit/>
          </a:bodyPr>
          <a:lstStyle/>
          <a:p>
            <a:pPr indent="0" marL="0">
              <a:buNone/>
            </a:pPr>
            <a:r>
              <a:rPr lang="en-US" sz="2000" b="1" dirty="0">
                <a:solidFill>
                  <a:srgbClr val="85D4CA"/>
                </a:solidFill>
                <a:latin typeface="Aptos Display" pitchFamily="34" charset="0"/>
                <a:ea typeface="Aptos Display" pitchFamily="34" charset="-122"/>
                <a:cs typeface="Aptos Display" pitchFamily="34" charset="-120"/>
              </a:rPr>
              <a:t>Paired review</a:t>
            </a:r>
            <a:endParaRPr lang="en-US" sz="2000" dirty="0"/>
          </a:p>
        </p:txBody>
      </p:sp>
      <p:sp>
        <p:nvSpPr>
          <p:cNvPr id="11" name="Text 9"/>
          <p:cNvSpPr/>
          <p:nvPr/>
        </p:nvSpPr>
        <p:spPr>
          <a:xfrm>
            <a:off x="4636008" y="3767328"/>
            <a:ext cx="2788920" cy="384048"/>
          </a:xfrm>
          <a:prstGeom prst="rect">
            <a:avLst/>
          </a:prstGeom>
          <a:noFill/>
          <a:ln/>
        </p:spPr>
        <p:txBody>
          <a:bodyPr wrap="square" lIns="0" tIns="0" rIns="0" bIns="0" rtlCol="0" anchor="t">
            <a:normAutofit/>
          </a:bodyPr>
          <a:lstStyle/>
          <a:p>
            <a:pPr indent="0" marL="0">
              <a:buNone/>
            </a:pPr>
            <a:r>
              <a:rPr lang="en-US" sz="1030" dirty="0">
                <a:solidFill>
                  <a:srgbClr val="D0DFE1"/>
                </a:solidFill>
                <a:latin typeface="Aptos" pitchFamily="34" charset="0"/>
                <a:ea typeface="Aptos" pitchFamily="34" charset="-122"/>
                <a:cs typeface="Aptos" pitchFamily="34" charset="-120"/>
              </a:rPr>
              <a:t>Same permitted records: existing process and DrillLoop</a:t>
            </a:r>
            <a:endParaRPr lang="en-US" sz="1030" dirty="0"/>
          </a:p>
        </p:txBody>
      </p:sp>
      <p:sp>
        <p:nvSpPr>
          <p:cNvPr id="12" name="Shape 10"/>
          <p:cNvSpPr/>
          <p:nvPr/>
        </p:nvSpPr>
        <p:spPr>
          <a:xfrm>
            <a:off x="8065008" y="3127248"/>
            <a:ext cx="3200400" cy="1234440"/>
          </a:xfrm>
          <a:prstGeom prst="roundRect">
            <a:avLst>
              <a:gd name="adj" fmla="val 8889"/>
            </a:avLst>
          </a:prstGeom>
          <a:solidFill>
            <a:srgbClr val="183B48"/>
          </a:solidFill>
          <a:ln w="11430">
            <a:solidFill>
              <a:srgbClr val="315764"/>
            </a:solidFill>
            <a:prstDash val="solid"/>
          </a:ln>
        </p:spPr>
      </p:sp>
      <p:sp>
        <p:nvSpPr>
          <p:cNvPr id="13" name="Text 11"/>
          <p:cNvSpPr/>
          <p:nvPr/>
        </p:nvSpPr>
        <p:spPr>
          <a:xfrm>
            <a:off x="8266176" y="3346704"/>
            <a:ext cx="2697480" cy="320040"/>
          </a:xfrm>
          <a:prstGeom prst="rect">
            <a:avLst/>
          </a:prstGeom>
          <a:noFill/>
          <a:ln/>
        </p:spPr>
        <p:txBody>
          <a:bodyPr wrap="square" lIns="0" tIns="0" rIns="0" bIns="0" rtlCol="0" anchor="ctr">
            <a:normAutofit/>
          </a:bodyPr>
          <a:lstStyle/>
          <a:p>
            <a:pPr indent="0" marL="0">
              <a:buNone/>
            </a:pPr>
            <a:r>
              <a:rPr lang="en-US" sz="2000" b="1" dirty="0">
                <a:solidFill>
                  <a:srgbClr val="85D4CA"/>
                </a:solidFill>
                <a:latin typeface="Aptos Display" pitchFamily="34" charset="0"/>
                <a:ea typeface="Aptos Display" pitchFamily="34" charset="-122"/>
                <a:cs typeface="Aptos Display" pitchFamily="34" charset="-120"/>
              </a:rPr>
              <a:t>Measure</a:t>
            </a:r>
            <a:endParaRPr lang="en-US" sz="2000" dirty="0"/>
          </a:p>
        </p:txBody>
      </p:sp>
      <p:sp>
        <p:nvSpPr>
          <p:cNvPr id="14" name="Text 12"/>
          <p:cNvSpPr/>
          <p:nvPr/>
        </p:nvSpPr>
        <p:spPr>
          <a:xfrm>
            <a:off x="8266176" y="3767328"/>
            <a:ext cx="2788920" cy="384048"/>
          </a:xfrm>
          <a:prstGeom prst="rect">
            <a:avLst/>
          </a:prstGeom>
          <a:noFill/>
          <a:ln/>
        </p:spPr>
        <p:txBody>
          <a:bodyPr wrap="square" lIns="0" tIns="0" rIns="0" bIns="0" rtlCol="0" anchor="t">
            <a:normAutofit/>
          </a:bodyPr>
          <a:lstStyle/>
          <a:p>
            <a:pPr indent="0" marL="0">
              <a:buNone/>
            </a:pPr>
            <a:r>
              <a:rPr lang="en-US" sz="1030" dirty="0">
                <a:solidFill>
                  <a:srgbClr val="D0DFE1"/>
                </a:solidFill>
                <a:latin typeface="Aptos" pitchFamily="34" charset="0"/>
                <a:ea typeface="Aptos" pitchFamily="34" charset="-122"/>
                <a:cs typeface="Aptos" pitchFamily="34" charset="-120"/>
              </a:rPr>
              <a:t>Time · misses · corrections · citations · action fields</a:t>
            </a:r>
            <a:endParaRPr lang="en-US" sz="1030" dirty="0"/>
          </a:p>
        </p:txBody>
      </p:sp>
      <p:sp>
        <p:nvSpPr>
          <p:cNvPr id="15" name="Text 13"/>
          <p:cNvSpPr/>
          <p:nvPr/>
        </p:nvSpPr>
        <p:spPr>
          <a:xfrm>
            <a:off x="822960" y="5056632"/>
            <a:ext cx="6400800" cy="320040"/>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Partner-defined success thresholds.</a:t>
            </a:r>
            <a:endParaRPr lang="en-US" sz="1600" dirty="0"/>
          </a:p>
        </p:txBody>
      </p:sp>
      <p:sp>
        <p:nvSpPr>
          <p:cNvPr id="16" name="Text 14"/>
          <p:cNvSpPr/>
          <p:nvPr/>
        </p:nvSpPr>
        <p:spPr>
          <a:xfrm>
            <a:off x="822960" y="5513832"/>
            <a:ext cx="8229600" cy="274320"/>
          </a:xfrm>
          <a:prstGeom prst="rect">
            <a:avLst/>
          </a:prstGeom>
          <a:noFill/>
          <a:ln/>
        </p:spPr>
        <p:txBody>
          <a:bodyPr wrap="square" lIns="0" tIns="0" rIns="0" bIns="0" rtlCol="0" anchor="ctr">
            <a:normAutofit/>
          </a:bodyPr>
          <a:lstStyle/>
          <a:p>
            <a:pPr indent="0" marL="0">
              <a:buNone/>
            </a:pPr>
            <a:r>
              <a:rPr lang="en-US" sz="1100" dirty="0">
                <a:solidFill>
                  <a:srgbClr val="B8CCCF"/>
                </a:solidFill>
                <a:latin typeface="Aptos" pitchFamily="34" charset="0"/>
                <a:ea typeface="Aptos" pitchFamily="34" charset="-122"/>
                <a:cs typeface="Aptos" pitchFamily="34" charset="-120"/>
              </a:rPr>
              <a:t>No pilot partner, interviews, baseline, or performance targets are confirmed.</a:t>
            </a:r>
            <a:endParaRPr lang="en-US" sz="1100" dirty="0"/>
          </a:p>
        </p:txBody>
      </p:sp>
      <p:sp>
        <p:nvSpPr>
          <p:cNvPr id="17" name="Text 15"/>
          <p:cNvSpPr/>
          <p:nvPr/>
        </p:nvSpPr>
        <p:spPr>
          <a:xfrm>
            <a:off x="822960" y="6419088"/>
            <a:ext cx="7315200" cy="164592"/>
          </a:xfrm>
          <a:prstGeom prst="rect">
            <a:avLst/>
          </a:prstGeom>
          <a:noFill/>
          <a:ln/>
        </p:spPr>
        <p:txBody>
          <a:bodyPr wrap="square" lIns="0" tIns="0" rIns="0" bIns="0" rtlCol="0" anchor="ctr">
            <a:normAutofit/>
          </a:bodyPr>
          <a:lstStyle/>
          <a:p>
            <a:pPr indent="0" marL="0">
              <a:buNone/>
            </a:pPr>
            <a:r>
              <a:rPr lang="en-US" sz="800" dirty="0">
                <a:solidFill>
                  <a:srgbClr val="99B2B9"/>
                </a:solidFill>
                <a:latin typeface="Aptos" pitchFamily="34" charset="0"/>
                <a:ea typeface="Aptos" pitchFamily="34" charset="-122"/>
                <a:cs typeface="Aptos" pitchFamily="34" charset="-120"/>
              </a:rPr>
              <a:t>DrillLoop · Fictional demo · Uses selected FEMA exercise guidance; not certified</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DrillLoop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DrillLoop | Eureka Pitch</dc:title>
  <dc:subject>Evidence-backed emergency exercise evaluation</dc:subject>
  <dc:creator>DrillLoop</dc:creator>
  <cp:lastModifiedBy>DrillLoop</cp:lastModifiedBy>
  <cp:revision>1</cp:revision>
  <dcterms:created xsi:type="dcterms:W3CDTF">2026-10-27T10:47:55Z</dcterms:created>
  <dcterms:modified xsi:type="dcterms:W3CDTF">2026-10-27T10:47:55Z</dcterms:modified>
</cp:coreProperties>
</file>