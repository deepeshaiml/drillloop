
<file path=[Content_Types].xml><?xml version="1.0" encoding="utf-8"?>
<Types xmlns="http://schemas.openxmlformats.org/package/2006/content-types">
  <Default Extension="fntdata" ContentType="application/x-fontdata"/>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1.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notesSlides/notesSlide14.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48" r:id="rId1"/>
  </p:sldMasterIdLst>
  <p:notesMasterIdLst>
    <p:notesMasterId r:id="rId16"/>
  </p:notesMasterIdLst>
  <p:sldIdLst>
    <p:sldId id="256" r:id="rId2"/>
    <p:sldId id="366" r:id="rId3"/>
    <p:sldId id="286" r:id="rId4"/>
    <p:sldId id="394" r:id="rId5"/>
    <p:sldId id="397" r:id="rId6"/>
    <p:sldId id="358" r:id="rId7"/>
    <p:sldId id="378" r:id="rId8"/>
    <p:sldId id="363" r:id="rId9"/>
    <p:sldId id="360" r:id="rId10"/>
    <p:sldId id="353" r:id="rId11"/>
    <p:sldId id="398" r:id="rId12"/>
    <p:sldId id="337" r:id="rId13"/>
    <p:sldId id="317" r:id="rId14"/>
    <p:sldId id="399" r:id="rId15"/>
  </p:sldIdLst>
  <p:sldSz cx="12192000" cy="6858000"/>
  <p:notesSz cx="6858000" cy="9144000"/>
  <p:embeddedFontLst>
    <p:embeddedFont>
      <p:font typeface="Lora Medium" pitchFamily="2" charset="77"/>
      <p:regular r:id="rId17"/>
      <p:italic r:id="rId18"/>
    </p:embeddedFont>
    <p:embeddedFont>
      <p:font typeface="Lora SemiBold" pitchFamily="2" charset="77"/>
      <p:regular r:id="rId19"/>
      <p:bold r:id="rId20"/>
      <p:italic r:id="rId21"/>
      <p:boldItalic r:id="rId22"/>
    </p:embeddedFont>
    <p:embeddedFont>
      <p:font typeface="OpenAI Sans" panose="020B0004030202060203" pitchFamily="34" charset="77"/>
      <p:regular r:id="rId23"/>
      <p:bold r:id="rId24"/>
      <p:italic r:id="rId25"/>
      <p:boldItalic r:id="rId26"/>
    </p:embeddedFont>
    <p:embeddedFont>
      <p:font typeface="Roboto" panose="02000000000000000000" pitchFamily="2" charset="0"/>
      <p:regular r:id="rId27"/>
      <p:bold r:id="rId28"/>
      <p:italic r:id="rId29"/>
      <p:boldItalic r:id="rId30"/>
    </p:embeddedFont>
    <p:embeddedFont>
      <p:font typeface="Roboto Medium" panose="02000000000000000000" pitchFamily="2" charset="0"/>
      <p:regular r:id="rId31"/>
      <p:italic r:id="rId32"/>
    </p:embeddedFont>
    <p:embeddedFont>
      <p:font typeface="Roboto SemiBold" panose="02000000000000000000" pitchFamily="2" charset="0"/>
      <p:regular r:id="rId33"/>
      <p:bold r:id="rId34"/>
      <p:italic r:id="rId35"/>
      <p:boldItalic r:id="rId36"/>
    </p:embeddedFont>
    <p:embeddedFont>
      <p:font typeface="Roboto Serif 14pt" pitchFamily="2" charset="77"/>
      <p:regular r:id="rId37"/>
      <p:bold r:id="rId38"/>
      <p:italic r:id="rId39"/>
      <p:boldItalic r:id="rId4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072"/>
    <p:restoredTop sz="94658"/>
  </p:normalViewPr>
  <p:slideViewPr>
    <p:cSldViewPr snapToGrid="0">
      <p:cViewPr varScale="1">
        <p:scale>
          <a:sx n="116" d="100"/>
          <a:sy n="116" d="100"/>
        </p:scale>
        <p:origin x="1024" y="176"/>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 d="1"/>
        <a:sy n="1" d="1"/>
      </p:scale>
      <p:origin x="0" y="0"/>
    </p:cViewPr>
  </p:sorterViewPr>
  <p:gridSpacing cx="76200" cy="76200"/>
</p:viewPr>
</file>

<file path=ppt/_rels/presentation.xml.rels><?xml version='1.0' encoding='UTF-8'?>
<Relationships xmlns="http://schemas.openxmlformats.org/package/2006/relationships"><Relationship Id="rId13" Type="http://schemas.openxmlformats.org/officeDocument/2006/relationships/slide" Target="slides/slide12.xml" /><Relationship Id="rId18" Type="http://schemas.openxmlformats.org/officeDocument/2006/relationships/font" Target="fonts/font2.fntdata" /><Relationship Id="rId26" Type="http://schemas.openxmlformats.org/officeDocument/2006/relationships/font" Target="fonts/font10.fntdata" /><Relationship Id="rId39" Type="http://schemas.openxmlformats.org/officeDocument/2006/relationships/font" Target="fonts/font23.fntdata" /><Relationship Id="rId21" Type="http://schemas.openxmlformats.org/officeDocument/2006/relationships/font" Target="fonts/font5.fntdata" /><Relationship Id="rId34" Type="http://schemas.openxmlformats.org/officeDocument/2006/relationships/font" Target="fonts/font18.fntdata" /><Relationship Id="rId42" Type="http://schemas.openxmlformats.org/officeDocument/2006/relationships/viewProps" Target="viewProps.xml" /><Relationship Id="rId7" Type="http://schemas.openxmlformats.org/officeDocument/2006/relationships/slide" Target="slides/slide6.xml" /><Relationship Id="rId2" Type="http://schemas.openxmlformats.org/officeDocument/2006/relationships/slide" Target="slides/slide1.xml" /><Relationship Id="rId16" Type="http://schemas.openxmlformats.org/officeDocument/2006/relationships/notesMaster" Target="notesMasters/notesMaster1.xml" /><Relationship Id="rId20" Type="http://schemas.openxmlformats.org/officeDocument/2006/relationships/font" Target="fonts/font4.fntdata" /><Relationship Id="rId29" Type="http://schemas.openxmlformats.org/officeDocument/2006/relationships/font" Target="fonts/font13.fntdata" /><Relationship Id="rId41" Type="http://schemas.openxmlformats.org/officeDocument/2006/relationships/presProps" Target="presProps.xml" /><Relationship Id="rId1" Type="http://schemas.openxmlformats.org/officeDocument/2006/relationships/slideMaster" Target="slideMasters/slideMaster1.xml" /><Relationship Id="rId6" Type="http://schemas.openxmlformats.org/officeDocument/2006/relationships/slide" Target="slides/slide5.xml" /><Relationship Id="rId11" Type="http://schemas.openxmlformats.org/officeDocument/2006/relationships/slide" Target="slides/slide10.xml" /><Relationship Id="rId24" Type="http://schemas.openxmlformats.org/officeDocument/2006/relationships/font" Target="fonts/font8.fntdata" /><Relationship Id="rId32" Type="http://schemas.openxmlformats.org/officeDocument/2006/relationships/font" Target="fonts/font16.fntdata" /><Relationship Id="rId37" Type="http://schemas.openxmlformats.org/officeDocument/2006/relationships/font" Target="fonts/font21.fntdata" /><Relationship Id="rId40" Type="http://schemas.openxmlformats.org/officeDocument/2006/relationships/font" Target="fonts/font24.fntdata" /><Relationship Id="rId5" Type="http://schemas.openxmlformats.org/officeDocument/2006/relationships/slide" Target="slides/slide4.xml" /><Relationship Id="rId15" Type="http://schemas.openxmlformats.org/officeDocument/2006/relationships/slide" Target="slides/slide14.xml" /><Relationship Id="rId23" Type="http://schemas.openxmlformats.org/officeDocument/2006/relationships/font" Target="fonts/font7.fntdata" /><Relationship Id="rId28" Type="http://schemas.openxmlformats.org/officeDocument/2006/relationships/font" Target="fonts/font12.fntdata" /><Relationship Id="rId36" Type="http://schemas.openxmlformats.org/officeDocument/2006/relationships/font" Target="fonts/font20.fntdata" /><Relationship Id="rId10" Type="http://schemas.openxmlformats.org/officeDocument/2006/relationships/slide" Target="slides/slide9.xml" /><Relationship Id="rId19" Type="http://schemas.openxmlformats.org/officeDocument/2006/relationships/font" Target="fonts/font3.fntdata" /><Relationship Id="rId31" Type="http://schemas.openxmlformats.org/officeDocument/2006/relationships/font" Target="fonts/font15.fntdata" /><Relationship Id="rId44" Type="http://schemas.openxmlformats.org/officeDocument/2006/relationships/tableStyles" Target="tableStyles.xml" /><Relationship Id="rId4" Type="http://schemas.openxmlformats.org/officeDocument/2006/relationships/slide" Target="slides/slide3.xml" /><Relationship Id="rId9" Type="http://schemas.openxmlformats.org/officeDocument/2006/relationships/slide" Target="slides/slide8.xml" /><Relationship Id="rId14" Type="http://schemas.openxmlformats.org/officeDocument/2006/relationships/slide" Target="slides/slide13.xml" /><Relationship Id="rId22" Type="http://schemas.openxmlformats.org/officeDocument/2006/relationships/font" Target="fonts/font6.fntdata" /><Relationship Id="rId27" Type="http://schemas.openxmlformats.org/officeDocument/2006/relationships/font" Target="fonts/font11.fntdata" /><Relationship Id="rId30" Type="http://schemas.openxmlformats.org/officeDocument/2006/relationships/font" Target="fonts/font14.fntdata" /><Relationship Id="rId35" Type="http://schemas.openxmlformats.org/officeDocument/2006/relationships/font" Target="fonts/font19.fntdata" /><Relationship Id="rId43" Type="http://schemas.openxmlformats.org/officeDocument/2006/relationships/theme" Target="theme/theme1.xml" /><Relationship Id="rId8" Type="http://schemas.openxmlformats.org/officeDocument/2006/relationships/slide" Target="slides/slide7.xml" /><Relationship Id="rId3" Type="http://schemas.openxmlformats.org/officeDocument/2006/relationships/slide" Target="slides/slide2.xml" /><Relationship Id="rId12" Type="http://schemas.openxmlformats.org/officeDocument/2006/relationships/slide" Target="slides/slide11.xml" /><Relationship Id="rId17" Type="http://schemas.openxmlformats.org/officeDocument/2006/relationships/font" Target="fonts/font1.fntdata" /><Relationship Id="rId25" Type="http://schemas.openxmlformats.org/officeDocument/2006/relationships/font" Target="fonts/font9.fntdata" /><Relationship Id="rId33" Type="http://schemas.openxmlformats.org/officeDocument/2006/relationships/font" Target="fonts/font17.fntdata" /><Relationship Id="rId38" Type="http://schemas.openxmlformats.org/officeDocument/2006/relationships/font" Target="fonts/font22.fntdata" /><Relationship Id="rId45" Type="http://schemas.openxmlformats.org/officeDocument/2006/relationships/notesMaster" Target="notesMasters/notesMaster1.xml" /></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c16r3="http://schemas.microsoft.com/office/drawing/2017/03/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1"/>
    <c:plotArea>
      <c:layout>
        <c:manualLayout>
          <c:layoutTarget val="inner"/>
          <c:xMode val="edge"/>
          <c:yMode val="edge"/>
          <c:x val="8.2455523605030237E-2"/>
          <c:y val="0.16727494328876974"/>
          <c:w val="0.89079564466982142"/>
          <c:h val="0.69664696219264577"/>
        </c:manualLayout>
      </c:layout>
      <c:barChart>
        <c:barDir val="col"/>
        <c:grouping val="clustered"/>
        <c:varyColors val="0"/>
        <c:ser>
          <c:idx val="0"/>
          <c:order val="0"/>
          <c:tx>
            <c:strRef>
              <c:f>Sheet1!$B$1</c:f>
              <c:strCache>
                <c:ptCount val="1"/>
                <c:pt idx="0">
                  <c:v>Expected</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400" b="1" i="0" u="none" strike="noStrike" kern="1200" baseline="0">
                    <a:solidFill>
                      <a:schemeClr val="bg1"/>
                    </a:solidFill>
                    <a:latin typeface="+mn-lt"/>
                    <a:ea typeface="+mn-ea"/>
                    <a:cs typeface="+mn-cs"/>
                  </a:defRPr>
                </a:pPr>
                <a:endParaRPr lang="en-US"/>
              </a:p>
            </c:txPr>
            <c:dLblPos val="inEnd"/>
            <c:showLegendKey val="0"/>
            <c:showVal val="1"/>
            <c:showCatName val="0"/>
            <c:showSerName val="0"/>
            <c:showPercent val="0"/>
            <c:showBubbleSize val="0"/>
            <c:showLeaderLines val="0"/>
            <c:extLst>
              <c:ex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Event rows</c:v>
                </c:pt>
                <c:pt idx="1">
                  <c:v>Findings</c:v>
                </c:pt>
                <c:pt idx="2">
                  <c:v>Evidence IDs</c:v>
                </c:pt>
                <c:pt idx="3">
                  <c:v>Action owners</c:v>
                </c:pt>
              </c:strCache>
            </c:strRef>
          </c:cat>
          <c:val>
            <c:numRef>
              <c:f>Sheet1!$B$2:$B$5</c:f>
              <c:numCache>
                <c:formatCode>General</c:formatCode>
                <c:ptCount val="4"/>
                <c:pt idx="0">
                  <c:v>8</c:v>
                </c:pt>
                <c:pt idx="1">
                  <c:v>5</c:v>
                </c:pt>
                <c:pt idx="2">
                  <c:v>9</c:v>
                </c:pt>
                <c:pt idx="3">
                  <c:v>4</c:v>
                </c:pt>
              </c:numCache>
            </c:numRef>
          </c:val>
          <c:extLst>
            <c:ext uri="{C3380CC4-5D6E-409C-BE32-E72D297353CC}">
              <c16:uniqueId val="{00000000-230A-0D4B-B6D2-57328A27E5E2}"/>
            </c:ext>
          </c:extLst>
        </c:ser>
        <c:dLbls>
          <c:showLegendKey val="0"/>
          <c:showVal val="0"/>
          <c:showCatName val="0"/>
          <c:showSerName val="0"/>
          <c:showPercent val="0"/>
          <c:showBubbleSize val="0"/>
        </c:dLbls>
        <c:gapWidth val="83"/>
        <c:axId val="1785928255"/>
        <c:axId val="1769229823"/>
      </c:barChart>
      <c:lineChart>
        <c:grouping val="standard"/>
        <c:varyColors val="0"/>
        <c:ser>
          <c:idx val="1"/>
          <c:order val="1"/>
          <c:tx>
            <c:strRef>
              <c:f>Sheet1!$C$1</c:f>
              <c:strCache>
                <c:ptCount val="1"/>
                <c:pt idx="0">
                  <c:v>Observed</c:v>
                </c:pt>
              </c:strCache>
            </c:strRef>
          </c:tx>
          <c:spPr>
            <a:ln w="28575" cap="rnd">
              <a:solidFill>
                <a:schemeClr val="tx2">
                  <a:lumMod val="50000"/>
                  <a:lumOff val="50000"/>
                </a:schemeClr>
              </a:solidFill>
              <a:round/>
            </a:ln>
            <a:effectLst/>
          </c:spPr>
          <c:marker>
            <c:symbol val="circle"/>
            <c:size val="6"/>
            <c:spPr>
              <a:solidFill>
                <a:schemeClr val="tx2">
                  <a:lumMod val="50000"/>
                  <a:lumOff val="50000"/>
                </a:schemeClr>
              </a:solidFill>
              <a:ln w="9525">
                <a:solidFill>
                  <a:schemeClr val="tx2">
                    <a:lumMod val="50000"/>
                    <a:lumOff val="50000"/>
                  </a:schemeClr>
                </a:solidFill>
              </a:ln>
              <a:effectLst/>
            </c:spPr>
          </c:marker>
          <c:cat>
            <c:strRef>
              <c:f>Sheet1!$A$2:$A$5</c:f>
              <c:strCache>
                <c:ptCount val="4"/>
                <c:pt idx="0">
                  <c:v>Event rows</c:v>
                </c:pt>
                <c:pt idx="1">
                  <c:v>Findings</c:v>
                </c:pt>
                <c:pt idx="2">
                  <c:v>Evidence IDs</c:v>
                </c:pt>
                <c:pt idx="3">
                  <c:v>Action owners</c:v>
                </c:pt>
              </c:strCache>
            </c:strRef>
          </c:cat>
          <c:val>
            <c:numRef>
              <c:f>Sheet1!$C$2:$C$5</c:f>
              <c:numCache>
                <c:formatCode>General</c:formatCode>
                <c:ptCount val="4"/>
                <c:pt idx="0">
                  <c:v>8</c:v>
                </c:pt>
                <c:pt idx="1">
                  <c:v>5</c:v>
                </c:pt>
                <c:pt idx="2">
                  <c:v>9</c:v>
                </c:pt>
                <c:pt idx="3">
                  <c:v>3</c:v>
                </c:pt>
              </c:numCache>
            </c:numRef>
          </c:val>
          <c:smooth val="0"/>
          <c:extLst>
            <c:ext uri="{C3380CC4-5D6E-409C-BE32-E72D297353CC}">
              <c16:uniqueId val="{00000001-230A-0D4B-B6D2-57328A27E5E2}"/>
            </c:ext>
          </c:extLst>
        </c:ser>
        <c:dLbls>
          <c:showLegendKey val="0"/>
          <c:showVal val="0"/>
          <c:showCatName val="0"/>
          <c:showSerName val="0"/>
          <c:showPercent val="0"/>
          <c:showBubbleSize val="0"/>
        </c:dLbls>
        <c:marker val="1"/>
        <c:smooth val="0"/>
        <c:axId val="1785928255"/>
        <c:axId val="1769229823"/>
      </c:lineChart>
      <c:catAx>
        <c:axId val="1785928255"/>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crossAx val="1769229823"/>
        <c:crosses val="autoZero"/>
        <c:auto val="1"/>
        <c:lblAlgn val="ctr"/>
        <c:lblOffset val="100"/>
        <c:noMultiLvlLbl val="0"/>
      </c:catAx>
      <c:valAx>
        <c:axId val="1769229823"/>
        <c:scaling>
          <c:orientation val="minMax"/>
        </c:scaling>
        <c:delete val="0"/>
        <c:axPos val="l"/>
        <c:majorGridlines>
          <c:spPr>
            <a:ln w="9525" cap="flat" cmpd="sng" algn="ctr">
              <a:no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chemeClr val="tx1"/>
                </a:solidFill>
                <a:latin typeface="Helvetica Neue Medium" panose="02000503000000020004" pitchFamily="2" charset="0"/>
                <a:ea typeface="Helvetica Neue Medium" panose="02000503000000020004" pitchFamily="2" charset="0"/>
                <a:cs typeface="Helvetica Neue Medium" panose="02000503000000020004" pitchFamily="2" charset="0"/>
              </a:defRPr>
            </a:pPr>
            <a:endParaRPr lang="en-US"/>
          </a:p>
        </c:txPr>
        <c:crossAx val="1785928255"/>
        <c:crosses val="autoZero"/>
        <c:crossBetween val="between"/>
      </c:valAx>
      <c:spPr>
        <a:noFill/>
        <a:ln>
          <a:noFill/>
        </a:ln>
        <a:effectLst/>
      </c:spPr>
    </c:plotArea>
    <c:legend>
      <c:legendPos val="b"/>
      <c:layout>
        <c:manualLayout>
          <c:xMode val="edge"/>
          <c:yMode val="edge"/>
          <c:x val="0.58067453497943666"/>
          <c:y val="2.738737462131148E-2"/>
          <c:w val="0.39987338466900668"/>
          <c:h val="4.6123948895864915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c16r3="http://schemas.microsoft.com/office/drawing/2017/03/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1"/>
    <c:plotArea>
      <c:layout>
        <c:manualLayout>
          <c:layoutTarget val="inner"/>
          <c:xMode val="edge"/>
          <c:yMode val="edge"/>
          <c:x val="8.2455523605030237E-2"/>
          <c:y val="0.16727494328876974"/>
          <c:w val="0.89079564466982142"/>
          <c:h val="0.69664696219264577"/>
        </c:manualLayout>
      </c:layout>
      <c:barChart>
        <c:barDir val="col"/>
        <c:grouping val="clustered"/>
        <c:varyColors val="0"/>
        <c:ser>
          <c:idx val="0"/>
          <c:order val="0"/>
          <c:tx>
            <c:strRef>
              <c:f>Sheet1!$B$1</c:f>
              <c:strCache>
                <c:ptCount val="1"/>
                <c:pt idx="0">
                  <c:v>Revenue</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400" b="1" i="0" u="none" strike="noStrike" kern="1200" baseline="0">
                    <a:solidFill>
                      <a:schemeClr val="bg1"/>
                    </a:solidFill>
                    <a:latin typeface="+mn-lt"/>
                    <a:ea typeface="+mn-ea"/>
                    <a:cs typeface="+mn-cs"/>
                  </a:defRPr>
                </a:pPr>
                <a:endParaRPr lang="en-US"/>
              </a:p>
            </c:txPr>
            <c:dLblPos val="inEnd"/>
            <c:showLegendKey val="0"/>
            <c:showVal val="1"/>
            <c:showCatName val="0"/>
            <c:showSerName val="0"/>
            <c:showPercent val="0"/>
            <c:showBubbleSize val="0"/>
            <c:showLeaderLines val="0"/>
            <c:extLst>
              <c:ex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Conservative</c:v>
                </c:pt>
                <c:pt idx="1">
                  <c:v>Base</c:v>
                </c:pt>
                <c:pt idx="2">
                  <c:v>High scale</c:v>
                </c:pt>
              </c:strCache>
            </c:strRef>
          </c:cat>
          <c:val>
            <c:numRef>
              <c:f>Sheet1!$B$2:$B$4</c:f>
              <c:numCache>
                <c:formatCode>General</c:formatCode>
                <c:ptCount val="3"/>
                <c:pt idx="0">
                  <c:v>177</c:v>
                </c:pt>
                <c:pt idx="1">
                  <c:v>488</c:v>
                </c:pt>
                <c:pt idx="2">
                  <c:v>2050</c:v>
                </c:pt>
              </c:numCache>
            </c:numRef>
          </c:val>
          <c:extLst>
            <c:ext uri="{C3380CC4-5D6E-409C-BE32-E72D297353CC}">
              <c16:uniqueId val="{00000000-230A-0D4B-B6D2-57328A27E5E2}"/>
            </c:ext>
          </c:extLst>
        </c:ser>
        <c:dLbls>
          <c:showLegendKey val="0"/>
          <c:showVal val="0"/>
          <c:showCatName val="0"/>
          <c:showSerName val="0"/>
          <c:showPercent val="0"/>
          <c:showBubbleSize val="0"/>
        </c:dLbls>
        <c:gapWidth val="83"/>
        <c:axId val="1785928255"/>
        <c:axId val="1769229823"/>
      </c:barChart>
      <c:lineChart>
        <c:grouping val="standard"/>
        <c:varyColors val="0"/>
        <c:ser>
          <c:idx val="1"/>
          <c:order val="1"/>
          <c:tx>
            <c:strRef>
              <c:f>Sheet1!$C$1</c:f>
              <c:strCache>
                <c:ptCount val="1"/>
                <c:pt idx="0">
                  <c:v>Listed costs</c:v>
                </c:pt>
              </c:strCache>
            </c:strRef>
          </c:tx>
          <c:spPr>
            <a:ln w="28575" cap="rnd">
              <a:solidFill>
                <a:schemeClr val="tx2">
                  <a:lumMod val="50000"/>
                  <a:lumOff val="50000"/>
                </a:schemeClr>
              </a:solidFill>
              <a:round/>
            </a:ln>
            <a:effectLst/>
          </c:spPr>
          <c:marker>
            <c:symbol val="circle"/>
            <c:size val="6"/>
            <c:spPr>
              <a:solidFill>
                <a:schemeClr val="tx2">
                  <a:lumMod val="50000"/>
                  <a:lumOff val="50000"/>
                </a:schemeClr>
              </a:solidFill>
              <a:ln w="9525">
                <a:solidFill>
                  <a:schemeClr val="tx2">
                    <a:lumMod val="50000"/>
                    <a:lumOff val="50000"/>
                  </a:schemeClr>
                </a:solidFill>
              </a:ln>
              <a:effectLst/>
            </c:spPr>
          </c:marker>
          <c:cat>
            <c:strRef>
              <c:f>Sheet1!$A$2:$A$4</c:f>
              <c:strCache>
                <c:ptCount val="3"/>
                <c:pt idx="0">
                  <c:v>Conservative</c:v>
                </c:pt>
                <c:pt idx="1">
                  <c:v>Base</c:v>
                </c:pt>
                <c:pt idx="2">
                  <c:v>High scale</c:v>
                </c:pt>
              </c:strCache>
            </c:strRef>
          </c:cat>
          <c:val>
            <c:numRef>
              <c:f>Sheet1!$C$2:$C$4</c:f>
              <c:numCache>
                <c:formatCode>General</c:formatCode>
                <c:ptCount val="3"/>
                <c:pt idx="0">
                  <c:v>385</c:v>
                </c:pt>
                <c:pt idx="1">
                  <c:v>645</c:v>
                </c:pt>
                <c:pt idx="2">
                  <c:v>1870</c:v>
                </c:pt>
              </c:numCache>
            </c:numRef>
          </c:val>
          <c:smooth val="0"/>
          <c:extLst>
            <c:ext uri="{C3380CC4-5D6E-409C-BE32-E72D297353CC}">
              <c16:uniqueId val="{00000001-230A-0D4B-B6D2-57328A27E5E2}"/>
            </c:ext>
          </c:extLst>
        </c:ser>
        <c:dLbls>
          <c:showLegendKey val="0"/>
          <c:showVal val="0"/>
          <c:showCatName val="0"/>
          <c:showSerName val="0"/>
          <c:showPercent val="0"/>
          <c:showBubbleSize val="0"/>
        </c:dLbls>
        <c:marker val="1"/>
        <c:smooth val="0"/>
        <c:axId val="1785928255"/>
        <c:axId val="1769229823"/>
      </c:lineChart>
      <c:catAx>
        <c:axId val="1785928255"/>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crossAx val="1769229823"/>
        <c:crosses val="autoZero"/>
        <c:auto val="1"/>
        <c:lblAlgn val="ctr"/>
        <c:lblOffset val="100"/>
        <c:noMultiLvlLbl val="0"/>
      </c:catAx>
      <c:valAx>
        <c:axId val="1769229823"/>
        <c:scaling>
          <c:orientation val="minMax"/>
        </c:scaling>
        <c:delete val="0"/>
        <c:axPos val="l"/>
        <c:majorGridlines>
          <c:spPr>
            <a:ln w="9525" cap="flat" cmpd="sng" algn="ctr">
              <a:no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chemeClr val="tx1"/>
                </a:solidFill>
                <a:latin typeface="Helvetica Neue Medium" panose="02000503000000020004" pitchFamily="2" charset="0"/>
                <a:ea typeface="Helvetica Neue Medium" panose="02000503000000020004" pitchFamily="2" charset="0"/>
                <a:cs typeface="Helvetica Neue Medium" panose="02000503000000020004" pitchFamily="2" charset="0"/>
              </a:defRPr>
            </a:pPr>
            <a:endParaRPr lang="en-US"/>
          </a:p>
        </c:txPr>
        <c:crossAx val="1785928255"/>
        <c:crosses val="autoZero"/>
        <c:crossBetween val="between"/>
      </c:valAx>
      <c:spPr>
        <a:noFill/>
        <a:ln>
          <a:noFill/>
        </a:ln>
        <a:effectLst/>
      </c:spPr>
    </c:plotArea>
    <c:legend>
      <c:legendPos val="b"/>
      <c:layout>
        <c:manualLayout>
          <c:xMode val="edge"/>
          <c:yMode val="edge"/>
          <c:x val="0.58067453497943666"/>
          <c:y val="2.738737462131148E-2"/>
          <c:w val="0.39987338466900668"/>
          <c:h val="4.6123948895864915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this as an internal business review of a working hackathon MVP, not an operating company with proven revenue. The fictional hospital outage is demonstration data. The product promise is to keep draft findings connected to exact source records and human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agenda to move from what is built, to what the synthetic test measured, to what remains a market hypothesis. The figures later in the deck are either closed-fixture technical results or illustrative financial assumptions. The final section asks for a measured pilot discovery period.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Summarize the MVP and the benchmark carefully: 8 of 8 log rows, 5 of 5 expected finding labels, and 9 of 9 expected evidence IDs matched in one synthetic fixture. An ID link is not a human judgment that the source supports the claim. The requested decision is to recruit pilot partners, conditional on their interest and privacy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local demo includes exercise setup, evidence uploads, timeline, proposed findings, reviewer decisions, action tracking, and PDF export. The clean fixture results show that this workflow runs on its designed sample. They do not establish performance on new exercises. Hospitals and municipal teams are candidate users only; there is no measured buyer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these as proposed pilot priorities. The pilot should measure evidence lookup time, evaluator corrections, citation support, and whether actions receive owners and verifiable closure proof. Use synthetic or explicitly approved records. Do not report time savings as cash savings until both the time effect and labor-cost basis are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After-action reports and corrective-action follow-up already exist in emergency-management platforms. DrillLoop should not claim those features are unique. The positioning hypothesis is a connected source-to-claim-to-review-to-closure trail. Pilot participants should decide whether that trace helps and whether it fits their current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Describe what is in the MVP and what is still missing. Optional faster-whisper speech transcription and local Ollama wording were not used in the benchmark. The sample fixture was deliberately built for the rules, so perfect scores do not predict performance elsewhere. No human workload or real-audio accuracy study was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listed organizations are customer segments to investigate, not clients, opportunities, or a sales pipeline. No market-size or adoption numbers are included because none are validated in the available sources. Discovery should identify who uses the workflow, who buys it, what existing platforms cover, and what data controls are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each benchmark result with its boundary. Event rows, finding labels, and evidence IDs are checked against one closed fictional fixture. Citation IDs being present does not prove semantic support. The conflict and untimed note remain visible. The 31-of-32 action field result includes one intentionally blank owner. The median is the middle request time; the 95th percentile is the time by which 95% of 12 local requests finished. Latency and memory exclude optional model inference.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compares expected with found or assigned counts in the single synthetic fixture. Categories have different denominators, so compare within a category rather than across categories. Action owners are 3 of 4 because one is intentionally missing. This is a pipeline check, not a field accuracy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prices and financial scenarios are illustrative USD assumptions from the business case, not market quotes or a forecast. The base case assumes 15 annual plans, 40 individual exercise workspaces, one private deployment, eight templates, and 30 support days. It produces $488,000 of modeled revenue against $645,000 of listed costs, or negative $157,000 after those costs. This excludes tax, financing, and cash timing and is not net profit.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roadmap is conditional. Start with a 90-day pilot if partners agree and privacy review permits the evidence used. Consider enterprise login, templates, integrations, or more AI only when pilot findings show what is needed and the added cost or risk is justified.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Gantt is an illustrative sequence, not a committed project schedule. Partner availability, evidence permissions, and local privacy requirements may change the timing. The decision gate is whether the pilot data supports another trial; it is not an automatic scale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requested next step: authorize discovery for a 90-day, measurement-led pilot and recruit two or three willing hospital or municipal exercise teams. Use synthetic or explicitly approved records only after review. Return with evidence on reviewer workload, citation quality, and verified action closure before considering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3004A5-B645-655E-5362-4217D55892E1}"/>
              </a:ext>
            </a:extLst>
          </p:cNvPr>
          <p:cNvSpPr>
            <a:spLocks noGrp="1"/>
          </p:cNvSpPr>
          <p:nvPr>
            <p:ph type="ctrTitle"/>
          </p:nvPr>
        </p:nvSpPr>
        <p:spPr>
          <a:xfrm>
            <a:off x="393700" y="1041400"/>
            <a:ext cx="7493000" cy="2491490"/>
          </a:xfrm>
        </p:spPr>
        <p:txBody>
          <a:bodyPr anchor="b"/>
          <a:lstStyle>
            <a:lvl1pPr algn="l">
              <a:defRPr sz="6000" b="1" i="0">
                <a:latin typeface="Lora SemiBold" pitchFamily="2" charset="77"/>
              </a:defRPr>
            </a:lvl1pPr>
          </a:lstStyle>
          <a:p>
            <a:r>
              <a:rPr lang="en-US" dirty="0"/>
              <a:t>Click to edit Master title style</a:t>
            </a:r>
          </a:p>
        </p:txBody>
      </p:sp>
      <p:sp>
        <p:nvSpPr>
          <p:cNvPr id="3" name="Subtitle 2">
            <a:extLst>
              <a:ext uri="{FF2B5EF4-FFF2-40B4-BE49-F238E27FC236}">
                <a16:creationId xmlns:a16="http://schemas.microsoft.com/office/drawing/2014/main" id="{C57031B1-59B2-C235-9FDD-8050418A5FD8}"/>
              </a:ext>
            </a:extLst>
          </p:cNvPr>
          <p:cNvSpPr>
            <a:spLocks noGrp="1"/>
          </p:cNvSpPr>
          <p:nvPr>
            <p:ph type="subTitle" idx="1"/>
          </p:nvPr>
        </p:nvSpPr>
        <p:spPr>
          <a:xfrm>
            <a:off x="393700" y="4356100"/>
            <a:ext cx="5537200" cy="1638300"/>
          </a:xfrm>
        </p:spPr>
        <p:txBody>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Tree>
    <p:extLst>
      <p:ext uri="{BB962C8B-B14F-4D97-AF65-F5344CB8AC3E}">
        <p14:creationId xmlns:p14="http://schemas.microsoft.com/office/powerpoint/2010/main" val="18814859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5E851FDE-9E0B-568C-1CBA-E72B86CC06ED}"/>
              </a:ext>
            </a:extLst>
          </p:cNvPr>
          <p:cNvSpPr>
            <a:spLocks noGrp="1"/>
          </p:cNvSpPr>
          <p:nvPr>
            <p:ph idx="1"/>
          </p:nvPr>
        </p:nvSpPr>
        <p:spPr>
          <a:xfrm>
            <a:off x="393700" y="2032000"/>
            <a:ext cx="114046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4">
            <a:extLst>
              <a:ext uri="{FF2B5EF4-FFF2-40B4-BE49-F238E27FC236}">
                <a16:creationId xmlns:a16="http://schemas.microsoft.com/office/drawing/2014/main" id="{29CCD18F-3BF6-A3EE-DAAE-66BD406D7E8D}"/>
              </a:ext>
            </a:extLst>
          </p:cNvPr>
          <p:cNvSpPr>
            <a:spLocks noGrp="1"/>
          </p:cNvSpPr>
          <p:nvPr>
            <p:ph type="ftr" sz="quarter" idx="3"/>
          </p:nvPr>
        </p:nvSpPr>
        <p:spPr>
          <a:xfrm>
            <a:off x="393699" y="6279294"/>
            <a:ext cx="8129411" cy="241898"/>
          </a:xfrm>
          <a:prstGeom prst="rect">
            <a:avLst/>
          </a:prstGeom>
        </p:spPr>
        <p:txBody>
          <a:bodyPr vert="horz" lIns="0" tIns="0" rIns="0" bIns="0" rtlCol="0" anchor="b"/>
          <a:lstStyle>
            <a:lvl1pPr algn="l">
              <a:defRPr sz="1100">
                <a:solidFill>
                  <a:schemeClr val="tx1"/>
                </a:solidFill>
              </a:defRPr>
            </a:lvl1pPr>
          </a:lstStyle>
          <a:p>
            <a:endParaRPr lang="en-US" sz="1100" dirty="0"/>
          </a:p>
        </p:txBody>
      </p:sp>
      <p:sp>
        <p:nvSpPr>
          <p:cNvPr id="10" name="Slide Number Placeholder 5">
            <a:extLst>
              <a:ext uri="{FF2B5EF4-FFF2-40B4-BE49-F238E27FC236}">
                <a16:creationId xmlns:a16="http://schemas.microsoft.com/office/drawing/2014/main" id="{5186992D-ADA6-5A23-EBD5-6BEF0A2E61BA}"/>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100" kern="1200" smtClean="0">
                <a:solidFill>
                  <a:schemeClr val="tx1"/>
                </a:solidFill>
                <a:latin typeface="+mn-lt"/>
                <a:ea typeface="+mn-ea"/>
                <a:cs typeface="+mn-cs"/>
              </a:defRPr>
            </a:lvl1pPr>
          </a:lstStyle>
          <a:p>
            <a:fld id="{8574A810-7A8E-054F-9F6B-09E9C694ECF9}" type="slidenum">
              <a:rPr lang="en-US" smtClean="0"/>
              <a:pPr/>
              <a:t>‹#›</a:t>
            </a:fld>
            <a:endParaRPr lang="en-US" sz="1100" dirty="0"/>
          </a:p>
        </p:txBody>
      </p:sp>
      <p:sp>
        <p:nvSpPr>
          <p:cNvPr id="2" name="Title Placeholder 1">
            <a:extLst>
              <a:ext uri="{FF2B5EF4-FFF2-40B4-BE49-F238E27FC236}">
                <a16:creationId xmlns:a16="http://schemas.microsoft.com/office/drawing/2014/main" id="{CDBB333F-FFCF-AA9E-7AC0-64DB02353FBC}"/>
              </a:ext>
            </a:extLst>
          </p:cNvPr>
          <p:cNvSpPr>
            <a:spLocks noGrp="1"/>
          </p:cNvSpPr>
          <p:nvPr>
            <p:ph type="title"/>
          </p:nvPr>
        </p:nvSpPr>
        <p:spPr>
          <a:xfrm>
            <a:off x="393700" y="344008"/>
            <a:ext cx="11404600" cy="1047491"/>
          </a:xfrm>
          <a:prstGeom prst="rect">
            <a:avLst/>
          </a:prstGeom>
        </p:spPr>
        <p:txBody>
          <a:bodyPr vert="horz" lIns="0" tIns="0" rIns="0" bIns="0" rtlCol="0" anchor="t">
            <a:normAutofit/>
          </a:bodyPr>
          <a:lstStyle/>
          <a:p>
            <a:r>
              <a:rPr lang="en-US" dirty="0"/>
              <a:t>Click to edit Master title style</a:t>
            </a:r>
          </a:p>
        </p:txBody>
      </p:sp>
    </p:spTree>
    <p:extLst>
      <p:ext uri="{BB962C8B-B14F-4D97-AF65-F5344CB8AC3E}">
        <p14:creationId xmlns:p14="http://schemas.microsoft.com/office/powerpoint/2010/main" val="26533535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Text Placeholder 2">
            <a:extLst>
              <a:ext uri="{FF2B5EF4-FFF2-40B4-BE49-F238E27FC236}">
                <a16:creationId xmlns:a16="http://schemas.microsoft.com/office/drawing/2014/main" id="{4DCC3060-FADA-4310-30F9-24EC34B5AA87}"/>
              </a:ext>
            </a:extLst>
          </p:cNvPr>
          <p:cNvSpPr>
            <a:spLocks noGrp="1"/>
          </p:cNvSpPr>
          <p:nvPr>
            <p:ph idx="1"/>
          </p:nvPr>
        </p:nvSpPr>
        <p:spPr>
          <a:xfrm>
            <a:off x="393700" y="2032000"/>
            <a:ext cx="55372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Footer Placeholder 4">
            <a:extLst>
              <a:ext uri="{FF2B5EF4-FFF2-40B4-BE49-F238E27FC236}">
                <a16:creationId xmlns:a16="http://schemas.microsoft.com/office/drawing/2014/main" id="{19E7B047-08E6-29C1-F101-C084D555AACC}"/>
              </a:ext>
            </a:extLst>
          </p:cNvPr>
          <p:cNvSpPr>
            <a:spLocks noGrp="1"/>
          </p:cNvSpPr>
          <p:nvPr>
            <p:ph type="ftr" sz="quarter" idx="3"/>
          </p:nvPr>
        </p:nvSpPr>
        <p:spPr>
          <a:xfrm>
            <a:off x="393700" y="6279294"/>
            <a:ext cx="8705144" cy="241898"/>
          </a:xfrm>
          <a:prstGeom prst="rect">
            <a:avLst/>
          </a:prstGeom>
        </p:spPr>
        <p:txBody>
          <a:bodyPr vert="horz" lIns="0" tIns="0" rIns="0" bIns="0" rtlCol="0" anchor="b"/>
          <a:lstStyle>
            <a:lvl1pPr algn="l">
              <a:defRPr sz="1100">
                <a:solidFill>
                  <a:schemeClr val="tx1"/>
                </a:solidFill>
              </a:defRPr>
            </a:lvl1pPr>
          </a:lstStyle>
          <a:p>
            <a:endParaRPr lang="en-US" sz="1100" dirty="0"/>
          </a:p>
        </p:txBody>
      </p:sp>
      <p:sp>
        <p:nvSpPr>
          <p:cNvPr id="11" name="Slide Number Placeholder 5">
            <a:extLst>
              <a:ext uri="{FF2B5EF4-FFF2-40B4-BE49-F238E27FC236}">
                <a16:creationId xmlns:a16="http://schemas.microsoft.com/office/drawing/2014/main" id="{3DE564C6-8AA0-935D-A919-07AFA15B335B}"/>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100" kern="1200" smtClean="0">
                <a:solidFill>
                  <a:schemeClr val="tx1"/>
                </a:solidFill>
                <a:latin typeface="+mn-lt"/>
                <a:ea typeface="+mn-ea"/>
                <a:cs typeface="+mn-cs"/>
              </a:defRPr>
            </a:lvl1pPr>
          </a:lstStyle>
          <a:p>
            <a:fld id="{8574A810-7A8E-054F-9F6B-09E9C694ECF9}" type="slidenum">
              <a:rPr lang="en-US" smtClean="0"/>
              <a:pPr/>
              <a:t>‹#›</a:t>
            </a:fld>
            <a:endParaRPr lang="en-US" sz="1100" dirty="0"/>
          </a:p>
        </p:txBody>
      </p:sp>
      <p:sp>
        <p:nvSpPr>
          <p:cNvPr id="12" name="Text Placeholder 2">
            <a:extLst>
              <a:ext uri="{FF2B5EF4-FFF2-40B4-BE49-F238E27FC236}">
                <a16:creationId xmlns:a16="http://schemas.microsoft.com/office/drawing/2014/main" id="{4ABE46D3-8F05-1C7F-3EC7-20BFCC76C251}"/>
              </a:ext>
            </a:extLst>
          </p:cNvPr>
          <p:cNvSpPr>
            <a:spLocks noGrp="1"/>
          </p:cNvSpPr>
          <p:nvPr>
            <p:ph idx="10"/>
          </p:nvPr>
        </p:nvSpPr>
        <p:spPr>
          <a:xfrm>
            <a:off x="6256618" y="2032000"/>
            <a:ext cx="55372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Placeholder 1">
            <a:extLst>
              <a:ext uri="{FF2B5EF4-FFF2-40B4-BE49-F238E27FC236}">
                <a16:creationId xmlns:a16="http://schemas.microsoft.com/office/drawing/2014/main" id="{739D2C21-36BF-25E7-8E97-1D17F313F7AF}"/>
              </a:ext>
            </a:extLst>
          </p:cNvPr>
          <p:cNvSpPr>
            <a:spLocks noGrp="1"/>
          </p:cNvSpPr>
          <p:nvPr>
            <p:ph type="title"/>
          </p:nvPr>
        </p:nvSpPr>
        <p:spPr>
          <a:xfrm>
            <a:off x="393700" y="344008"/>
            <a:ext cx="11404600" cy="1047491"/>
          </a:xfrm>
          <a:prstGeom prst="rect">
            <a:avLst/>
          </a:prstGeom>
        </p:spPr>
        <p:txBody>
          <a:bodyPr vert="horz" lIns="0" tIns="0" rIns="0" bIns="0" rtlCol="0" anchor="t">
            <a:normAutofit/>
          </a:bodyPr>
          <a:lstStyle/>
          <a:p>
            <a:r>
              <a:rPr lang="en-US" dirty="0"/>
              <a:t>Click to edit Master title style</a:t>
            </a:r>
          </a:p>
        </p:txBody>
      </p:sp>
    </p:spTree>
    <p:extLst>
      <p:ext uri="{BB962C8B-B14F-4D97-AF65-F5344CB8AC3E}">
        <p14:creationId xmlns:p14="http://schemas.microsoft.com/office/powerpoint/2010/main" val="9807323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11" name="Text Placeholder 2">
            <a:extLst>
              <a:ext uri="{FF2B5EF4-FFF2-40B4-BE49-F238E27FC236}">
                <a16:creationId xmlns:a16="http://schemas.microsoft.com/office/drawing/2014/main" id="{6F7D12C6-B3BC-2F80-A661-00CC228193B5}"/>
              </a:ext>
            </a:extLst>
          </p:cNvPr>
          <p:cNvSpPr>
            <a:spLocks noGrp="1"/>
          </p:cNvSpPr>
          <p:nvPr>
            <p:ph idx="1"/>
          </p:nvPr>
        </p:nvSpPr>
        <p:spPr>
          <a:xfrm>
            <a:off x="393700" y="2032000"/>
            <a:ext cx="35687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Footer Placeholder 4">
            <a:extLst>
              <a:ext uri="{FF2B5EF4-FFF2-40B4-BE49-F238E27FC236}">
                <a16:creationId xmlns:a16="http://schemas.microsoft.com/office/drawing/2014/main" id="{0682803B-B799-370F-B1B9-EB49CCB10A11}"/>
              </a:ext>
            </a:extLst>
          </p:cNvPr>
          <p:cNvSpPr>
            <a:spLocks noGrp="1"/>
          </p:cNvSpPr>
          <p:nvPr>
            <p:ph type="ftr" sz="quarter" idx="3"/>
          </p:nvPr>
        </p:nvSpPr>
        <p:spPr>
          <a:xfrm>
            <a:off x="393700" y="6279294"/>
            <a:ext cx="7493000" cy="241898"/>
          </a:xfrm>
          <a:prstGeom prst="rect">
            <a:avLst/>
          </a:prstGeom>
        </p:spPr>
        <p:txBody>
          <a:bodyPr vert="horz" lIns="0" tIns="0" rIns="0" bIns="0" rtlCol="0" anchor="b"/>
          <a:lstStyle>
            <a:lvl1pPr algn="l">
              <a:defRPr sz="1100">
                <a:solidFill>
                  <a:schemeClr val="tx1"/>
                </a:solidFill>
              </a:defRPr>
            </a:lvl1pPr>
          </a:lstStyle>
          <a:p>
            <a:endParaRPr lang="en-US" sz="1100" dirty="0"/>
          </a:p>
        </p:txBody>
      </p:sp>
      <p:sp>
        <p:nvSpPr>
          <p:cNvPr id="13" name="Slide Number Placeholder 5">
            <a:extLst>
              <a:ext uri="{FF2B5EF4-FFF2-40B4-BE49-F238E27FC236}">
                <a16:creationId xmlns:a16="http://schemas.microsoft.com/office/drawing/2014/main" id="{AFE26095-B1FD-5C7C-C8D6-78ABF739DCBA}"/>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100" kern="1200" smtClean="0">
                <a:solidFill>
                  <a:schemeClr val="tx1"/>
                </a:solidFill>
                <a:latin typeface="+mn-lt"/>
                <a:ea typeface="+mn-ea"/>
                <a:cs typeface="+mn-cs"/>
              </a:defRPr>
            </a:lvl1pPr>
          </a:lstStyle>
          <a:p>
            <a:fld id="{8574A810-7A8E-054F-9F6B-09E9C694ECF9}" type="slidenum">
              <a:rPr lang="en-US" smtClean="0"/>
              <a:pPr/>
              <a:t>‹#›</a:t>
            </a:fld>
            <a:endParaRPr lang="en-US" sz="1100" dirty="0"/>
          </a:p>
        </p:txBody>
      </p:sp>
      <p:sp>
        <p:nvSpPr>
          <p:cNvPr id="14" name="Text Placeholder 2">
            <a:extLst>
              <a:ext uri="{FF2B5EF4-FFF2-40B4-BE49-F238E27FC236}">
                <a16:creationId xmlns:a16="http://schemas.microsoft.com/office/drawing/2014/main" id="{80E090C5-E6C8-92F2-E8C2-A840B8F1807D}"/>
              </a:ext>
            </a:extLst>
          </p:cNvPr>
          <p:cNvSpPr>
            <a:spLocks noGrp="1"/>
          </p:cNvSpPr>
          <p:nvPr>
            <p:ph idx="10"/>
          </p:nvPr>
        </p:nvSpPr>
        <p:spPr>
          <a:xfrm>
            <a:off x="4318000" y="2032000"/>
            <a:ext cx="35687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Text Placeholder 2">
            <a:extLst>
              <a:ext uri="{FF2B5EF4-FFF2-40B4-BE49-F238E27FC236}">
                <a16:creationId xmlns:a16="http://schemas.microsoft.com/office/drawing/2014/main" id="{0C6D2D15-AEC2-9F99-316F-C37AF863965D}"/>
              </a:ext>
            </a:extLst>
          </p:cNvPr>
          <p:cNvSpPr>
            <a:spLocks noGrp="1"/>
          </p:cNvSpPr>
          <p:nvPr>
            <p:ph idx="11"/>
          </p:nvPr>
        </p:nvSpPr>
        <p:spPr>
          <a:xfrm>
            <a:off x="8232273" y="2032000"/>
            <a:ext cx="35687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Placeholder 1">
            <a:extLst>
              <a:ext uri="{FF2B5EF4-FFF2-40B4-BE49-F238E27FC236}">
                <a16:creationId xmlns:a16="http://schemas.microsoft.com/office/drawing/2014/main" id="{EC59174D-4FF5-0FD8-FE78-F71A39E187AE}"/>
              </a:ext>
            </a:extLst>
          </p:cNvPr>
          <p:cNvSpPr>
            <a:spLocks noGrp="1"/>
          </p:cNvSpPr>
          <p:nvPr>
            <p:ph type="title"/>
          </p:nvPr>
        </p:nvSpPr>
        <p:spPr>
          <a:xfrm>
            <a:off x="393700" y="344008"/>
            <a:ext cx="11404600" cy="1047491"/>
          </a:xfrm>
          <a:prstGeom prst="rect">
            <a:avLst/>
          </a:prstGeom>
        </p:spPr>
        <p:txBody>
          <a:bodyPr vert="horz" lIns="0" tIns="0" rIns="0" bIns="0" rtlCol="0" anchor="t">
            <a:normAutofit/>
          </a:bodyPr>
          <a:lstStyle/>
          <a:p>
            <a:r>
              <a:rPr lang="en-US" dirty="0"/>
              <a:t>Click to edit Master title style</a:t>
            </a:r>
          </a:p>
        </p:txBody>
      </p:sp>
    </p:spTree>
    <p:extLst>
      <p:ext uri="{BB962C8B-B14F-4D97-AF65-F5344CB8AC3E}">
        <p14:creationId xmlns:p14="http://schemas.microsoft.com/office/powerpoint/2010/main" val="38400112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11" name="Text Placeholder 2">
            <a:extLst>
              <a:ext uri="{FF2B5EF4-FFF2-40B4-BE49-F238E27FC236}">
                <a16:creationId xmlns:a16="http://schemas.microsoft.com/office/drawing/2014/main" id="{6F7D12C6-B3BC-2F80-A661-00CC228193B5}"/>
              </a:ext>
            </a:extLst>
          </p:cNvPr>
          <p:cNvSpPr>
            <a:spLocks noGrp="1"/>
          </p:cNvSpPr>
          <p:nvPr>
            <p:ph idx="1"/>
          </p:nvPr>
        </p:nvSpPr>
        <p:spPr>
          <a:xfrm>
            <a:off x="393700" y="4826000"/>
            <a:ext cx="2595934" cy="1168400"/>
          </a:xfrm>
          <a:prstGeom prst="rect">
            <a:avLst/>
          </a:prstGeom>
        </p:spPr>
        <p:txBody>
          <a:bodyPr vert="horz" lIns="0" tIns="0" rIns="0" bIns="0" rtlCol="0">
            <a:normAutofit/>
          </a:bodyPr>
          <a:lstStyle>
            <a:lvl1pPr>
              <a:buNone/>
              <a:defRPr sz="1600"/>
            </a:lvl1pPr>
            <a:lvl2pPr>
              <a:buNone/>
              <a:defRPr sz="1600"/>
            </a:lvl2pPr>
            <a:lvl3pPr>
              <a:buNone/>
              <a:defRPr sz="1600"/>
            </a:lvl3pPr>
            <a:lvl4pPr>
              <a:buNone/>
              <a:defRPr sz="1600"/>
            </a:lvl4pPr>
            <a:lvl5pPr>
              <a:buNone/>
              <a:defRPr sz="1600"/>
            </a:lvl5pPr>
          </a:lstStyle>
          <a:p>
            <a:pPr lvl="0"/>
            <a:r>
              <a:rPr lang="en-US" dirty="0"/>
              <a:t>Click to edit Master</a:t>
            </a:r>
          </a:p>
        </p:txBody>
      </p:sp>
      <p:sp>
        <p:nvSpPr>
          <p:cNvPr id="12" name="Footer Placeholder 4">
            <a:extLst>
              <a:ext uri="{FF2B5EF4-FFF2-40B4-BE49-F238E27FC236}">
                <a16:creationId xmlns:a16="http://schemas.microsoft.com/office/drawing/2014/main" id="{0682803B-B799-370F-B1B9-EB49CCB10A11}"/>
              </a:ext>
            </a:extLst>
          </p:cNvPr>
          <p:cNvSpPr>
            <a:spLocks noGrp="1"/>
          </p:cNvSpPr>
          <p:nvPr>
            <p:ph type="ftr" sz="quarter" idx="3"/>
          </p:nvPr>
        </p:nvSpPr>
        <p:spPr>
          <a:xfrm>
            <a:off x="393699" y="6279294"/>
            <a:ext cx="8466647" cy="241898"/>
          </a:xfrm>
          <a:prstGeom prst="rect">
            <a:avLst/>
          </a:prstGeom>
        </p:spPr>
        <p:txBody>
          <a:bodyPr vert="horz" lIns="0" tIns="0" rIns="0" bIns="0" rtlCol="0" anchor="b"/>
          <a:lstStyle>
            <a:lvl1pPr algn="l">
              <a:defRPr sz="1100">
                <a:solidFill>
                  <a:schemeClr val="tx1"/>
                </a:solidFill>
              </a:defRPr>
            </a:lvl1pPr>
          </a:lstStyle>
          <a:p>
            <a:endParaRPr lang="en-US" sz="1100" dirty="0"/>
          </a:p>
        </p:txBody>
      </p:sp>
      <p:sp>
        <p:nvSpPr>
          <p:cNvPr id="13" name="Slide Number Placeholder 5">
            <a:extLst>
              <a:ext uri="{FF2B5EF4-FFF2-40B4-BE49-F238E27FC236}">
                <a16:creationId xmlns:a16="http://schemas.microsoft.com/office/drawing/2014/main" id="{AFE26095-B1FD-5C7C-C8D6-78ABF739DCBA}"/>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100" kern="1200" smtClean="0">
                <a:solidFill>
                  <a:schemeClr val="tx1"/>
                </a:solidFill>
                <a:latin typeface="+mn-lt"/>
                <a:ea typeface="+mn-ea"/>
                <a:cs typeface="+mn-cs"/>
              </a:defRPr>
            </a:lvl1pPr>
          </a:lstStyle>
          <a:p>
            <a:fld id="{8574A810-7A8E-054F-9F6B-09E9C694ECF9}" type="slidenum">
              <a:rPr lang="en-US" smtClean="0"/>
              <a:pPr/>
              <a:t>‹#›</a:t>
            </a:fld>
            <a:endParaRPr lang="en-US" sz="1100" dirty="0"/>
          </a:p>
        </p:txBody>
      </p:sp>
      <p:sp>
        <p:nvSpPr>
          <p:cNvPr id="2" name="Title Placeholder 1">
            <a:extLst>
              <a:ext uri="{FF2B5EF4-FFF2-40B4-BE49-F238E27FC236}">
                <a16:creationId xmlns:a16="http://schemas.microsoft.com/office/drawing/2014/main" id="{EC59174D-4FF5-0FD8-FE78-F71A39E187AE}"/>
              </a:ext>
            </a:extLst>
          </p:cNvPr>
          <p:cNvSpPr>
            <a:spLocks noGrp="1"/>
          </p:cNvSpPr>
          <p:nvPr>
            <p:ph type="title"/>
          </p:nvPr>
        </p:nvSpPr>
        <p:spPr>
          <a:xfrm>
            <a:off x="393700" y="344008"/>
            <a:ext cx="11404600" cy="1047491"/>
          </a:xfrm>
          <a:prstGeom prst="rect">
            <a:avLst/>
          </a:prstGeom>
        </p:spPr>
        <p:txBody>
          <a:bodyPr vert="horz" lIns="0" tIns="0" rIns="0" bIns="0" rtlCol="0" anchor="t">
            <a:normAutofit/>
          </a:bodyPr>
          <a:lstStyle/>
          <a:p>
            <a:r>
              <a:rPr lang="en-US" dirty="0"/>
              <a:t>Click to edit Master title style</a:t>
            </a:r>
          </a:p>
        </p:txBody>
      </p:sp>
      <p:sp>
        <p:nvSpPr>
          <p:cNvPr id="8" name="Text Placeholder 7">
            <a:extLst>
              <a:ext uri="{FF2B5EF4-FFF2-40B4-BE49-F238E27FC236}">
                <a16:creationId xmlns:a16="http://schemas.microsoft.com/office/drawing/2014/main" id="{4F70A9DA-D783-0627-3166-E13B68C2ADAC}"/>
              </a:ext>
            </a:extLst>
          </p:cNvPr>
          <p:cNvSpPr>
            <a:spLocks noGrp="1"/>
          </p:cNvSpPr>
          <p:nvPr>
            <p:ph type="body" sz="quarter" idx="12"/>
          </p:nvPr>
        </p:nvSpPr>
        <p:spPr>
          <a:xfrm>
            <a:off x="3334966" y="4826000"/>
            <a:ext cx="2595934" cy="1168400"/>
          </a:xfrm>
        </p:spPr>
        <p:txBody>
          <a:bodyPr/>
          <a:lstStyle>
            <a:lvl1pPr>
              <a:buNone/>
              <a:defRPr sz="1800"/>
            </a:lvl1pPr>
            <a:lvl2pPr>
              <a:buNone/>
              <a:defRPr sz="1800"/>
            </a:lvl2pPr>
            <a:lvl3pPr>
              <a:buNone/>
              <a:defRPr sz="1800"/>
            </a:lvl3pPr>
            <a:lvl4pPr>
              <a:buNone/>
              <a:defRPr sz="1800"/>
            </a:lvl4pPr>
            <a:lvl5pPr>
              <a:buNone/>
              <a:defRPr sz="1800"/>
            </a:lvl5pPr>
          </a:lstStyle>
          <a:p>
            <a:pPr lvl="0"/>
            <a:r>
              <a:rPr lang="en-US" dirty="0"/>
              <a:t>Click to edit Master</a:t>
            </a:r>
          </a:p>
        </p:txBody>
      </p:sp>
      <p:sp>
        <p:nvSpPr>
          <p:cNvPr id="9" name="Text Placeholder 2">
            <a:extLst>
              <a:ext uri="{FF2B5EF4-FFF2-40B4-BE49-F238E27FC236}">
                <a16:creationId xmlns:a16="http://schemas.microsoft.com/office/drawing/2014/main" id="{75BF2647-8E8C-CAEE-896D-0E1567AF7E99}"/>
              </a:ext>
            </a:extLst>
          </p:cNvPr>
          <p:cNvSpPr>
            <a:spLocks noGrp="1"/>
          </p:cNvSpPr>
          <p:nvPr>
            <p:ph idx="13"/>
          </p:nvPr>
        </p:nvSpPr>
        <p:spPr>
          <a:xfrm>
            <a:off x="6264413" y="4826000"/>
            <a:ext cx="2595934" cy="1168400"/>
          </a:xfrm>
          <a:prstGeom prst="rect">
            <a:avLst/>
          </a:prstGeom>
        </p:spPr>
        <p:txBody>
          <a:bodyPr vert="horz" lIns="0" tIns="0" rIns="0" bIns="0" rtlCol="0">
            <a:normAutofit/>
          </a:bodyPr>
          <a:lstStyle>
            <a:lvl1pPr>
              <a:buNone/>
              <a:defRPr sz="1600"/>
            </a:lvl1pPr>
            <a:lvl2pPr>
              <a:buNone/>
              <a:defRPr sz="1600"/>
            </a:lvl2pPr>
            <a:lvl3pPr>
              <a:buNone/>
              <a:defRPr sz="1600"/>
            </a:lvl3pPr>
            <a:lvl4pPr>
              <a:buNone/>
              <a:defRPr sz="1600"/>
            </a:lvl4pPr>
            <a:lvl5pPr>
              <a:buNone/>
              <a:defRPr sz="1600"/>
            </a:lvl5pPr>
          </a:lstStyle>
          <a:p>
            <a:pPr lvl="0"/>
            <a:r>
              <a:rPr lang="en-US" dirty="0"/>
              <a:t>Click to edit Master</a:t>
            </a:r>
          </a:p>
        </p:txBody>
      </p:sp>
      <p:sp>
        <p:nvSpPr>
          <p:cNvPr id="10" name="Text Placeholder 7">
            <a:extLst>
              <a:ext uri="{FF2B5EF4-FFF2-40B4-BE49-F238E27FC236}">
                <a16:creationId xmlns:a16="http://schemas.microsoft.com/office/drawing/2014/main" id="{37C6F143-221A-9959-8FBA-B9B1DB6602D0}"/>
              </a:ext>
            </a:extLst>
          </p:cNvPr>
          <p:cNvSpPr>
            <a:spLocks noGrp="1"/>
          </p:cNvSpPr>
          <p:nvPr>
            <p:ph type="body" sz="quarter" idx="14"/>
          </p:nvPr>
        </p:nvSpPr>
        <p:spPr>
          <a:xfrm>
            <a:off x="9205679" y="4826000"/>
            <a:ext cx="2595934" cy="1168400"/>
          </a:xfrm>
        </p:spPr>
        <p:txBody>
          <a:bodyPr/>
          <a:lstStyle>
            <a:lvl1pPr>
              <a:buNone/>
              <a:defRPr sz="1800"/>
            </a:lvl1pPr>
            <a:lvl2pPr>
              <a:buNone/>
              <a:defRPr sz="1800"/>
            </a:lvl2pPr>
            <a:lvl3pPr>
              <a:buNone/>
              <a:defRPr sz="1800"/>
            </a:lvl3pPr>
            <a:lvl4pPr>
              <a:buNone/>
              <a:defRPr sz="1800"/>
            </a:lvl4pPr>
            <a:lvl5pPr>
              <a:buNone/>
              <a:defRPr sz="1800"/>
            </a:lvl5pPr>
          </a:lstStyle>
          <a:p>
            <a:pPr lvl="0"/>
            <a:r>
              <a:rPr lang="en-US" dirty="0"/>
              <a:t>Click to edit Master</a:t>
            </a:r>
          </a:p>
        </p:txBody>
      </p:sp>
    </p:spTree>
    <p:extLst>
      <p:ext uri="{BB962C8B-B14F-4D97-AF65-F5344CB8AC3E}">
        <p14:creationId xmlns:p14="http://schemas.microsoft.com/office/powerpoint/2010/main" val="9712414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8" name="Footer Placeholder 4">
            <a:extLst>
              <a:ext uri="{FF2B5EF4-FFF2-40B4-BE49-F238E27FC236}">
                <a16:creationId xmlns:a16="http://schemas.microsoft.com/office/drawing/2014/main" id="{DB1182C5-F22B-2641-06DE-4EDACA3C1DDD}"/>
              </a:ext>
            </a:extLst>
          </p:cNvPr>
          <p:cNvSpPr>
            <a:spLocks noGrp="1"/>
          </p:cNvSpPr>
          <p:nvPr>
            <p:ph type="ftr" sz="quarter" idx="3"/>
          </p:nvPr>
        </p:nvSpPr>
        <p:spPr>
          <a:xfrm>
            <a:off x="393699" y="6279294"/>
            <a:ext cx="7361767" cy="241898"/>
          </a:xfrm>
          <a:prstGeom prst="rect">
            <a:avLst/>
          </a:prstGeom>
        </p:spPr>
        <p:txBody>
          <a:bodyPr vert="horz" lIns="0" tIns="0" rIns="0" bIns="0" rtlCol="0" anchor="b"/>
          <a:lstStyle>
            <a:lvl1pPr algn="l">
              <a:defRPr sz="1100">
                <a:solidFill>
                  <a:schemeClr val="tx1"/>
                </a:solidFill>
              </a:defRPr>
            </a:lvl1pPr>
          </a:lstStyle>
          <a:p>
            <a:endParaRPr lang="en-US" sz="1100" dirty="0"/>
          </a:p>
        </p:txBody>
      </p:sp>
      <p:sp>
        <p:nvSpPr>
          <p:cNvPr id="9" name="Slide Number Placeholder 5">
            <a:extLst>
              <a:ext uri="{FF2B5EF4-FFF2-40B4-BE49-F238E27FC236}">
                <a16:creationId xmlns:a16="http://schemas.microsoft.com/office/drawing/2014/main" id="{F97A4AD5-204B-38FD-4F33-270C2F9F5CC6}"/>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100" kern="1200" smtClean="0">
                <a:solidFill>
                  <a:schemeClr val="tx1"/>
                </a:solidFill>
                <a:latin typeface="+mn-lt"/>
                <a:ea typeface="+mn-ea"/>
                <a:cs typeface="+mn-cs"/>
              </a:defRPr>
            </a:lvl1pPr>
          </a:lstStyle>
          <a:p>
            <a:fld id="{8574A810-7A8E-054F-9F6B-09E9C694ECF9}" type="slidenum">
              <a:rPr lang="en-US" smtClean="0"/>
              <a:pPr/>
              <a:t>‹#›</a:t>
            </a:fld>
            <a:endParaRPr lang="en-US" sz="1100" dirty="0"/>
          </a:p>
        </p:txBody>
      </p:sp>
      <p:sp>
        <p:nvSpPr>
          <p:cNvPr id="2" name="Title Placeholder 1">
            <a:extLst>
              <a:ext uri="{FF2B5EF4-FFF2-40B4-BE49-F238E27FC236}">
                <a16:creationId xmlns:a16="http://schemas.microsoft.com/office/drawing/2014/main" id="{75CF9983-3FD7-FAE4-9F0B-B2CE806D891D}"/>
              </a:ext>
            </a:extLst>
          </p:cNvPr>
          <p:cNvSpPr>
            <a:spLocks noGrp="1"/>
          </p:cNvSpPr>
          <p:nvPr>
            <p:ph type="title"/>
          </p:nvPr>
        </p:nvSpPr>
        <p:spPr>
          <a:xfrm>
            <a:off x="393700" y="344008"/>
            <a:ext cx="11404600" cy="1047491"/>
          </a:xfrm>
          <a:prstGeom prst="rect">
            <a:avLst/>
          </a:prstGeom>
        </p:spPr>
        <p:txBody>
          <a:bodyPr vert="horz" lIns="0" tIns="0" rIns="0" bIns="0" rtlCol="0" anchor="t">
            <a:normAutofit/>
          </a:bodyPr>
          <a:lstStyle/>
          <a:p>
            <a:r>
              <a:rPr lang="en-US" dirty="0"/>
              <a:t>Click to edit Master title style</a:t>
            </a:r>
          </a:p>
        </p:txBody>
      </p:sp>
    </p:spTree>
    <p:extLst>
      <p:ext uri="{BB962C8B-B14F-4D97-AF65-F5344CB8AC3E}">
        <p14:creationId xmlns:p14="http://schemas.microsoft.com/office/powerpoint/2010/main" val="16941055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Footer Only">
    <p:spTree>
      <p:nvGrpSpPr>
        <p:cNvPr id="1" name=""/>
        <p:cNvGrpSpPr/>
        <p:nvPr/>
      </p:nvGrpSpPr>
      <p:grpSpPr>
        <a:xfrm>
          <a:off x="0" y="0"/>
          <a:ext cx="0" cy="0"/>
          <a:chOff x="0" y="0"/>
          <a:chExt cx="0" cy="0"/>
        </a:xfrm>
      </p:grpSpPr>
      <p:sp>
        <p:nvSpPr>
          <p:cNvPr id="7" name="Footer Placeholder 4">
            <a:extLst>
              <a:ext uri="{FF2B5EF4-FFF2-40B4-BE49-F238E27FC236}">
                <a16:creationId xmlns:a16="http://schemas.microsoft.com/office/drawing/2014/main" id="{1012CBCC-C555-8C11-443D-86D6F7A45CF8}"/>
              </a:ext>
            </a:extLst>
          </p:cNvPr>
          <p:cNvSpPr>
            <a:spLocks noGrp="1"/>
          </p:cNvSpPr>
          <p:nvPr>
            <p:ph type="ftr" sz="quarter" idx="3"/>
          </p:nvPr>
        </p:nvSpPr>
        <p:spPr>
          <a:xfrm>
            <a:off x="393700" y="6279294"/>
            <a:ext cx="7587544" cy="241898"/>
          </a:xfrm>
          <a:prstGeom prst="rect">
            <a:avLst/>
          </a:prstGeom>
        </p:spPr>
        <p:txBody>
          <a:bodyPr vert="horz" lIns="0" tIns="0" rIns="0" bIns="0" rtlCol="0" anchor="b"/>
          <a:lstStyle>
            <a:lvl1pPr algn="l">
              <a:defRPr sz="1100">
                <a:solidFill>
                  <a:schemeClr val="tx1"/>
                </a:solidFill>
              </a:defRPr>
            </a:lvl1pPr>
          </a:lstStyle>
          <a:p>
            <a:endParaRPr lang="en-US" sz="1100" dirty="0"/>
          </a:p>
        </p:txBody>
      </p:sp>
      <p:sp>
        <p:nvSpPr>
          <p:cNvPr id="8" name="Slide Number Placeholder 5">
            <a:extLst>
              <a:ext uri="{FF2B5EF4-FFF2-40B4-BE49-F238E27FC236}">
                <a16:creationId xmlns:a16="http://schemas.microsoft.com/office/drawing/2014/main" id="{B69B260B-B882-BF7F-1BB1-28B9578A25A2}"/>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100" kern="1200" smtClean="0">
                <a:solidFill>
                  <a:schemeClr val="tx1"/>
                </a:solidFill>
                <a:latin typeface="+mn-lt"/>
                <a:ea typeface="+mn-ea"/>
                <a:cs typeface="+mn-cs"/>
              </a:defRPr>
            </a:lvl1pPr>
          </a:lstStyle>
          <a:p>
            <a:fld id="{8574A810-7A8E-054F-9F6B-09E9C694ECF9}" type="slidenum">
              <a:rPr lang="en-US" smtClean="0"/>
              <a:pPr/>
              <a:t>‹#›</a:t>
            </a:fld>
            <a:endParaRPr lang="en-US" sz="1100" dirty="0"/>
          </a:p>
        </p:txBody>
      </p:sp>
    </p:spTree>
    <p:extLst>
      <p:ext uri="{BB962C8B-B14F-4D97-AF65-F5344CB8AC3E}">
        <p14:creationId xmlns:p14="http://schemas.microsoft.com/office/powerpoint/2010/main" val="1856794158"/>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722548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B87ED2E-D8FF-5C8C-ED50-59BA3091C3E1}"/>
              </a:ext>
            </a:extLst>
          </p:cNvPr>
          <p:cNvSpPr>
            <a:spLocks noGrp="1"/>
          </p:cNvSpPr>
          <p:nvPr>
            <p:ph type="title"/>
          </p:nvPr>
        </p:nvSpPr>
        <p:spPr>
          <a:xfrm>
            <a:off x="393700" y="344008"/>
            <a:ext cx="11404600" cy="1047491"/>
          </a:xfrm>
          <a:prstGeom prst="rect">
            <a:avLst/>
          </a:prstGeom>
        </p:spPr>
        <p:txBody>
          <a:bodyPr vert="horz" lIns="0" tIns="0" rIns="0" bIns="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05B0E1CB-6DCA-2E9F-2B74-4309B4084C09}"/>
              </a:ext>
            </a:extLst>
          </p:cNvPr>
          <p:cNvSpPr>
            <a:spLocks noGrp="1"/>
          </p:cNvSpPr>
          <p:nvPr>
            <p:ph type="body" idx="1"/>
          </p:nvPr>
        </p:nvSpPr>
        <p:spPr>
          <a:xfrm>
            <a:off x="393700" y="2032000"/>
            <a:ext cx="11404600" cy="3962400"/>
          </a:xfrm>
          <a:prstGeom prst="rect">
            <a:avLst/>
          </a:prstGeom>
        </p:spPr>
        <p:txBody>
          <a:bodyPr vert="horz" lIns="0" tIns="0" rIns="0" bIns="0" rtlCol="0">
            <a:normAutofit/>
          </a:bodyPr>
          <a:lstStyle/>
          <a:p>
            <a:pPr lvl="0"/>
            <a:r>
              <a:rPr lang="en-US" dirty="0"/>
              <a:t>Click to edit Master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3C75650C-2983-5B02-8421-FF1818435433}"/>
              </a:ext>
            </a:extLst>
          </p:cNvPr>
          <p:cNvSpPr>
            <a:spLocks noGrp="1"/>
          </p:cNvSpPr>
          <p:nvPr>
            <p:ph type="ftr" sz="quarter" idx="3"/>
          </p:nvPr>
        </p:nvSpPr>
        <p:spPr>
          <a:xfrm>
            <a:off x="393700" y="6279294"/>
            <a:ext cx="7531100" cy="241898"/>
          </a:xfrm>
          <a:prstGeom prst="rect">
            <a:avLst/>
          </a:prstGeom>
        </p:spPr>
        <p:txBody>
          <a:bodyPr vert="horz" lIns="0" tIns="0" rIns="0" bIns="0" rtlCol="0" anchor="b"/>
          <a:lstStyle>
            <a:lvl1pPr algn="l">
              <a:defRPr sz="1100">
                <a:solidFill>
                  <a:schemeClr val="tx1"/>
                </a:solidFill>
              </a:defRPr>
            </a:lvl1pPr>
          </a:lstStyle>
          <a:p>
            <a:endParaRPr lang="en-US" sz="1100" dirty="0"/>
          </a:p>
        </p:txBody>
      </p:sp>
      <p:sp>
        <p:nvSpPr>
          <p:cNvPr id="6" name="Slide Number Placeholder 5">
            <a:extLst>
              <a:ext uri="{FF2B5EF4-FFF2-40B4-BE49-F238E27FC236}">
                <a16:creationId xmlns:a16="http://schemas.microsoft.com/office/drawing/2014/main" id="{D872C88C-1AB3-96BA-C9E5-3435A4BD59BB}"/>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100" kern="1200" smtClean="0">
                <a:solidFill>
                  <a:schemeClr val="tx1"/>
                </a:solidFill>
                <a:latin typeface="+mn-lt"/>
                <a:ea typeface="+mn-ea"/>
                <a:cs typeface="+mn-cs"/>
              </a:defRPr>
            </a:lvl1pPr>
          </a:lstStyle>
          <a:p>
            <a:fld id="{8574A810-7A8E-054F-9F6B-09E9C694ECF9}" type="slidenum">
              <a:rPr lang="en-US" smtClean="0"/>
              <a:pPr/>
              <a:t>‹#›</a:t>
            </a:fld>
            <a:endParaRPr lang="en-US" sz="1100" dirty="0"/>
          </a:p>
        </p:txBody>
      </p:sp>
    </p:spTree>
    <p:extLst>
      <p:ext uri="{BB962C8B-B14F-4D97-AF65-F5344CB8AC3E}">
        <p14:creationId xmlns:p14="http://schemas.microsoft.com/office/powerpoint/2010/main" val="20818559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3" r:id="rId4"/>
    <p:sldLayoutId id="2147483659" r:id="rId5"/>
    <p:sldLayoutId id="2147483654" r:id="rId6"/>
    <p:sldLayoutId id="2147483655" r:id="rId7"/>
    <p:sldLayoutId id="2147483656" r:id="rId8"/>
  </p:sldLayoutIdLst>
  <p:hf hdr="0" dt="0"/>
  <p:txStyles>
    <p:titleStyle>
      <a:lvl1pPr algn="l" defTabSz="914400" rtl="0" eaLnBrk="1" latinLnBrk="0" hangingPunct="1">
        <a:lnSpc>
          <a:spcPct val="90000"/>
        </a:lnSpc>
        <a:spcBef>
          <a:spcPct val="0"/>
        </a:spcBef>
        <a:buNone/>
        <a:defRPr sz="2900" b="1" i="0" kern="1200">
          <a:solidFill>
            <a:schemeClr val="tx1"/>
          </a:solidFill>
          <a:latin typeface="Lora SemiBold" pitchFamily="2" charset="77"/>
          <a:ea typeface="+mj-ea"/>
          <a:cs typeface="Roboto Serif 14pt Medium" pitchFamily="2" charset="77"/>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248" userDrawn="1">
          <p15:clr>
            <a:srgbClr val="F26B43"/>
          </p15:clr>
        </p15:guide>
        <p15:guide id="4" pos="1264" userDrawn="1">
          <p15:clr>
            <a:srgbClr val="F26B43"/>
          </p15:clr>
        </p15:guide>
        <p15:guide id="5" pos="1480" userDrawn="1">
          <p15:clr>
            <a:srgbClr val="F26B43"/>
          </p15:clr>
        </p15:guide>
        <p15:guide id="6" pos="2520" userDrawn="1">
          <p15:clr>
            <a:srgbClr val="F26B43"/>
          </p15:clr>
        </p15:guide>
        <p15:guide id="7" pos="2712" userDrawn="1">
          <p15:clr>
            <a:srgbClr val="F26B43"/>
          </p15:clr>
        </p15:guide>
        <p15:guide id="8" pos="3736" userDrawn="1">
          <p15:clr>
            <a:srgbClr val="F26B43"/>
          </p15:clr>
        </p15:guide>
        <p15:guide id="9" pos="3944" userDrawn="1">
          <p15:clr>
            <a:srgbClr val="F26B43"/>
          </p15:clr>
        </p15:guide>
        <p15:guide id="10" pos="4968" userDrawn="1">
          <p15:clr>
            <a:srgbClr val="F26B43"/>
          </p15:clr>
        </p15:guide>
        <p15:guide id="11" pos="5184" userDrawn="1">
          <p15:clr>
            <a:srgbClr val="F26B43"/>
          </p15:clr>
        </p15:guide>
        <p15:guide id="12" pos="6200" userDrawn="1">
          <p15:clr>
            <a:srgbClr val="F26B43"/>
          </p15:clr>
        </p15:guide>
        <p15:guide id="13" pos="6416" userDrawn="1">
          <p15:clr>
            <a:srgbClr val="F26B43"/>
          </p15:clr>
        </p15:guide>
        <p15:guide id="14" pos="7432" userDrawn="1">
          <p15:clr>
            <a:srgbClr val="F26B43"/>
          </p15:clr>
        </p15:guide>
        <p15:guide id="15" orient="horz" userDrawn="1">
          <p15:clr>
            <a:srgbClr val="F26B43"/>
          </p15:clr>
        </p15:guide>
        <p15:guide id="17" orient="horz" pos="248" userDrawn="1">
          <p15:clr>
            <a:srgbClr val="F26B43"/>
          </p15:clr>
        </p15:guide>
        <p15:guide id="18" orient="horz" pos="656" userDrawn="1">
          <p15:clr>
            <a:srgbClr val="F26B43"/>
          </p15:clr>
        </p15:guide>
        <p15:guide id="19" orient="horz" pos="872" userDrawn="1">
          <p15:clr>
            <a:srgbClr val="F26B43"/>
          </p15:clr>
        </p15:guide>
        <p15:guide id="20" orient="horz" pos="1280" userDrawn="1">
          <p15:clr>
            <a:srgbClr val="F26B43"/>
          </p15:clr>
        </p15:guide>
        <p15:guide id="21" orient="horz" pos="1496" userDrawn="1">
          <p15:clr>
            <a:srgbClr val="F26B43"/>
          </p15:clr>
        </p15:guide>
        <p15:guide id="22" orient="horz" pos="1904" userDrawn="1">
          <p15:clr>
            <a:srgbClr val="F26B43"/>
          </p15:clr>
        </p15:guide>
        <p15:guide id="23" orient="horz" pos="2120" userDrawn="1">
          <p15:clr>
            <a:srgbClr val="F26B43"/>
          </p15:clr>
        </p15:guide>
        <p15:guide id="24" orient="horz" pos="2528" userDrawn="1">
          <p15:clr>
            <a:srgbClr val="F26B43"/>
          </p15:clr>
        </p15:guide>
        <p15:guide id="25" orient="horz" pos="2744" userDrawn="1">
          <p15:clr>
            <a:srgbClr val="F26B43"/>
          </p15:clr>
        </p15:guide>
        <p15:guide id="26" orient="horz" pos="3152" userDrawn="1">
          <p15:clr>
            <a:srgbClr val="F26B43"/>
          </p15:clr>
        </p15:guide>
        <p15:guide id="27" orient="horz" pos="3368" userDrawn="1">
          <p15:clr>
            <a:srgbClr val="F26B43"/>
          </p15:clr>
        </p15:guide>
        <p15:guide id="28" orient="horz" pos="3776" userDrawn="1">
          <p15:clr>
            <a:srgbClr val="F26B43"/>
          </p15:clr>
        </p15:guide>
        <p15:guide id="29" orient="horz" pos="4088" userDrawn="1">
          <p15:clr>
            <a:srgbClr val="F26B43"/>
          </p15:clr>
        </p15:guide>
      </p15:sldGuideLst>
    </p:ext>
  </p:extLst>
</p:sldMaster>
</file>

<file path=ppt/slides/_rels/slide1.xml.rels><?xml version='1.0' encoding='UTF-8'?>
<Relationships xmlns="http://schemas.openxmlformats.org/package/2006/relationships"><Relationship Id="rId2" Type="http://schemas.openxmlformats.org/officeDocument/2006/relationships/notesSlide" Target="../notesSlides/notesSlide1.xml" /><Relationship Id="rId1" Type="http://schemas.openxmlformats.org/officeDocument/2006/relationships/slideLayout" Target="../slideLayouts/slideLayout1.xml" /><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2" Type="http://schemas.openxmlformats.org/officeDocument/2006/relationships/notesSlide" Target="../notesSlides/notesSlide2.xml" /><Relationship Id="rId1" Type="http://schemas.openxmlformats.org/officeDocument/2006/relationships/slideLayout" Target="../slideLayouts/slideLayout6.xml" /><Relationship Id="rId3" Type="http://schemas.openxmlformats.org/officeDocument/2006/relationships/notesSlide" Target="../notesSlides/notesSlide2.xml" /></Relationships>
</file>

<file path=ppt/slides/_rels/slide3.xml.rels><?xml version='1.0' encoding='UTF-8'?>
<Relationships xmlns="http://schemas.openxmlformats.org/package/2006/relationships"><Relationship Id="rId2" Type="http://schemas.openxmlformats.org/officeDocument/2006/relationships/notesSlide" Target="../notesSlides/notesSlide3.xml" /><Relationship Id="rId1" Type="http://schemas.openxmlformats.org/officeDocument/2006/relationships/slideLayout" Target="../slideLayouts/slideLayout2.xml" /><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2" Type="http://schemas.openxmlformats.org/officeDocument/2006/relationships/notesSlide" Target="../notesSlides/notesSlide4.xml" /><Relationship Id="rId1" Type="http://schemas.openxmlformats.org/officeDocument/2006/relationships/slideLayout" Target="../slideLayouts/slideLayout6.xml" /><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2" Type="http://schemas.openxmlformats.org/officeDocument/2006/relationships/notesSlide" Target="../notesSlides/notesSlide5.xml" /><Relationship Id="rId1" Type="http://schemas.openxmlformats.org/officeDocument/2006/relationships/slideLayout" Target="../slideLayouts/slideLayout6.xml" /><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2" Type="http://schemas.openxmlformats.org/officeDocument/2006/relationships/notesSlide" Target="../notesSlides/notesSlide6.xml" /><Relationship Id="rId1" Type="http://schemas.openxmlformats.org/officeDocument/2006/relationships/slideLayout" Target="../slideLayouts/slideLayout6.xml" /><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2" Type="http://schemas.openxmlformats.org/officeDocument/2006/relationships/notesSlide" Target="../notesSlides/notesSlide7.xml" /><Relationship Id="rId1" Type="http://schemas.openxmlformats.org/officeDocument/2006/relationships/slideLayout" Target="../slideLayouts/slideLayout2.xml" /><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2" Type="http://schemas.openxmlformats.org/officeDocument/2006/relationships/notesSlide" Target="../notesSlides/notesSlide8.xml" /><Relationship Id="rId1" Type="http://schemas.openxmlformats.org/officeDocument/2006/relationships/slideLayout" Target="../slideLayouts/slideLayout6.xml" /><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2" Type="http://schemas.openxmlformats.org/officeDocument/2006/relationships/notesSlide" Target="../notesSlides/notesSlide9.xml" /><Relationship Id="rId1" Type="http://schemas.openxmlformats.org/officeDocument/2006/relationships/slideLayout" Target="../slideLayouts/slideLayout6.xml" /><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3" Type="http://schemas.openxmlformats.org/officeDocument/2006/relationships/chart" Target="../charts/chart1.xml" /><Relationship Id="rId2" Type="http://schemas.openxmlformats.org/officeDocument/2006/relationships/notesSlide" Target="../notesSlides/notesSlide10.xml" /><Relationship Id="rId1" Type="http://schemas.openxmlformats.org/officeDocument/2006/relationships/slideLayout" Target="../slideLayouts/slideLayout6.xml" /><Relationship Id="rId4"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3" Type="http://schemas.openxmlformats.org/officeDocument/2006/relationships/chart" Target="../charts/chart2.xml" /><Relationship Id="rId2" Type="http://schemas.openxmlformats.org/officeDocument/2006/relationships/notesSlide" Target="../notesSlides/notesSlide11.xml" /><Relationship Id="rId1" Type="http://schemas.openxmlformats.org/officeDocument/2006/relationships/slideLayout" Target="../slideLayouts/slideLayout6.xml" /><Relationship Id="rId4"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2" Type="http://schemas.openxmlformats.org/officeDocument/2006/relationships/notesSlide" Target="../notesSlides/notesSlide12.xml" /><Relationship Id="rId1" Type="http://schemas.openxmlformats.org/officeDocument/2006/relationships/slideLayout" Target="../slideLayouts/slideLayout6.xml" /><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2" Type="http://schemas.openxmlformats.org/officeDocument/2006/relationships/notesSlide" Target="../notesSlides/notesSlide13.xml" /><Relationship Id="rId1" Type="http://schemas.openxmlformats.org/officeDocument/2006/relationships/slideLayout" Target="../slideLayouts/slideLayout1.xml" /><Relationship Id="rId3" Type="http://schemas.openxmlformats.org/officeDocument/2006/relationships/notesSlide" Target="../notesSlides/notesSlide14.xml" /></Relationships>
</file>

<file path=ppt/slides/slide1.xml><?xml version="1.0" encoding="utf-8"?>
<p:sld xmlns:a="http://schemas.openxmlformats.org/drawingml/2006/main" xmlns:a16="http://schemas.microsoft.com/office/drawing/2014/main" xmlns:p="http://schemas.openxmlformats.org/presentationml/2006/main" xmlns:p14="http://schemas.microsoft.com/office/powerpoint/2010/main">
  <p:cSld>
    <p:spTree>
      <p:nvGrpSpPr>
        <p:cNvPr id="1" name=""/>
        <p:cNvGrpSpPr/>
        <p:nvPr/>
      </p:nvGrpSpPr>
      <p:grpSpPr>
        <a:xfrm>
          <a:off x="0" y="0"/>
          <a:ext cx="0" cy="0"/>
          <a:chOff x="0" y="0"/>
          <a:chExt cx="0" cy="0"/>
        </a:xfrm>
      </p:grpSpPr>
      <p:sp>
        <p:nvSpPr>
          <p:cNvPr id="4" name="Title 3">
            <a:extLst>
              <a:ext uri="{FF2B5EF4-FFF2-40B4-BE49-F238E27FC236}">
                <a16:creationId id="{706809B0-D483-45C1-B580-B57BB5CC520A}"/>
              </a:ext>
            </a:extLst>
          </p:cNvPr>
          <p:cNvSpPr>
            <a:spLocks noGrp="1"/>
          </p:cNvSpPr>
          <p:nvPr>
            <p:ph type="ctrTitle"/>
          </p:nvPr>
        </p:nvSpPr>
        <p:spPr>
          <a:xfrm>
            <a:off x="569969" y="1444887"/>
            <a:ext cx="9448800" cy="1726468"/>
          </a:xfrm>
        </p:spPr>
        <p:txBody>
          <a:bodyPr anchor="t">
            <a:noAutofit/>
          </a:bodyPr>
          <a:lstStyle/>
          <a:p>
            <a:r>
              <a:rPr lang="en-US" sz="5500" dirty="0">
                <a:solidFill>
                  <a:schemeClr val="accent1"/>
                </a:solidFill>
                <a:latin typeface="Lora Medium" pitchFamily="2" charset="77"/>
                <a:cs typeface="Roboto Serif 14pt" pitchFamily="2" charset="77"/>
              </a:rPr>
              <a:t>DrillLoop Q4 Business Review</a:t>
            </a:r>
          </a:p>
        </p:txBody>
      </p:sp>
      <p:sp>
        <p:nvSpPr>
          <p:cNvPr id="5" name="Subtitle 4">
            <a:extLst>
              <a:ext uri="{FF2B5EF4-FFF2-40B4-BE49-F238E27FC236}">
                <a16:creationId id="{7DD11E6E-01C0-D6E4-28D7-D7F6B94AF61C}"/>
              </a:ext>
            </a:extLst>
          </p:cNvPr>
          <p:cNvSpPr>
            <a:spLocks noGrp="1"/>
          </p:cNvSpPr>
          <p:nvPr>
            <p:ph type="subTitle" idx="1"/>
          </p:nvPr>
        </p:nvSpPr>
        <p:spPr>
          <a:xfrm>
            <a:off x="603019" y="5077241"/>
            <a:ext cx="6304556" cy="1076208"/>
          </a:xfrm>
          <a:noFill/>
        </p:spPr>
        <p:txBody>
          <a:bodyPr>
            <a:noAutofit/>
          </a:bodyPr>
          <a:lstStyle/>
          <a:p>
            <a:pPr>
              <a:lnSpc>
                <a:spcPct val="120000"/>
              </a:lnSpc>
            </a:pPr>
            <a:r>
              <a:rPr lang="en-US" sz="1400" dirty="0">
                <a:solidFill>
                  <a:schemeClr val="accent2">
                    <a:lumMod val="50000"/>
                  </a:schemeClr>
                </a:solidFill>
              </a:rPr>
              <a:t>Review of MVP delivery, synthetic demo results, illustrative economics, and next proof points. Customer demand, evaluator time savings, and real-world accuracy remain unvalidated.</a:t>
            </a:r>
          </a:p>
        </p:txBody>
      </p:sp>
      <p:sp>
        <p:nvSpPr>
          <p:cNvPr id="6" name="Subtitle 4">
            <a:extLst>
              <a:ext uri="{FF2B5EF4-FFF2-40B4-BE49-F238E27FC236}">
                <a16:creationId id="{C66AB198-0518-67DE-AB81-D65264FDA20F}"/>
              </a:ext>
            </a:extLst>
          </p:cNvPr>
          <p:cNvSpPr txBox="1">
            <a:spLocks/>
          </p:cNvSpPr>
          <p:nvPr/>
        </p:nvSpPr>
        <p:spPr>
          <a:xfrm>
            <a:off x="603018" y="4606175"/>
            <a:ext cx="6304556" cy="320279"/>
          </a:xfrm>
          <a:prstGeom prst="rect">
            <a:avLst/>
          </a:prstGeom>
          <a:noFill/>
        </p:spPr>
        <p:txBody>
          <a:bodyPr vert="horz" lIns="0" tIns="0" rIns="0" bIns="0" rtlCol="0">
            <a:no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600" b="1" dirty="0">
                <a:solidFill>
                  <a:schemeClr val="accent1"/>
                </a:solidFill>
                <a:latin typeface="Roboto SemiBold" panose="02000000000000000000" pitchFamily="2" charset="0"/>
                <a:ea typeface="Roboto SemiBold" panose="02000000000000000000" pitchFamily="2" charset="0"/>
              </a:rPr>
              <a:t>Q4 2026 · Status as of 27 October</a:t>
            </a:r>
          </a:p>
        </p:txBody>
      </p:sp>
      <p:sp>
        <p:nvSpPr>
          <p:cNvPr id="10" name="Subtitle 4">
            <a:extLst>
              <a:ext uri="{FF2B5EF4-FFF2-40B4-BE49-F238E27FC236}">
                <a16:creationId id="{CC2E0538-5645-7BC8-CF3A-FDF31FD97820}"/>
              </a:ext>
            </a:extLst>
          </p:cNvPr>
          <p:cNvSpPr txBox="1">
            <a:spLocks/>
          </p:cNvSpPr>
          <p:nvPr/>
        </p:nvSpPr>
        <p:spPr>
          <a:xfrm>
            <a:off x="603018" y="555606"/>
            <a:ext cx="3578411" cy="345178"/>
          </a:xfrm>
          <a:prstGeom prst="rect">
            <a:avLst/>
          </a:prstGeom>
        </p:spPr>
        <p:txBody>
          <a:bodyPr vert="horz" lIns="0" tIns="0" rIns="0" bIns="0" rtlCol="0">
            <a:no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800" dirty="0">
                <a:solidFill>
                  <a:schemeClr val="accent2">
                    <a:lumMod val="90000"/>
                  </a:schemeClr>
                </a:solidFill>
                <a:latin typeface="Roboto Medium" panose="02000000000000000000" pitchFamily="2" charset="0"/>
                <a:ea typeface="Roboto Medium" panose="02000000000000000000" pitchFamily="2" charset="0"/>
              </a:rPr>
              <a:t>DrillLoop · Product review</a:t>
            </a:r>
          </a:p>
        </p:txBody>
      </p:sp>
      <p:cxnSp>
        <p:nvCxnSpPr>
          <p:cNvPr id="7" name="Straight Connector 6">
            <a:extLst>
              <a:ext uri="{FF2B5EF4-FFF2-40B4-BE49-F238E27FC236}">
                <a16:creationId id="{89432B40-3197-639D-BB29-4C7C5CB396D4}"/>
              </a:ext>
            </a:extLst>
          </p:cNvPr>
          <p:cNvCxnSpPr>
            <a:cxnSpLocks/>
          </p:cNvCxnSpPr>
          <p:nvPr/>
        </p:nvCxnSpPr>
        <p:spPr>
          <a:xfrm>
            <a:off x="-183260" y="3934067"/>
            <a:ext cx="12558520"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val="1685088558"/>
      </p:ext>
    </p:extLst>
  </p:cSld>
  <p:clrMapOvr>
    <a:masterClrMapping/>
  </p:clrMapOvr>
</p:sld>
</file>

<file path=ppt/slides/slide2.xml><?xml version="1.0" encoding="utf-8"?>
<p:sld xmlns:a="http://schemas.openxmlformats.org/drawingml/2006/main" xmlns:a16="http://schemas.microsoft.com/office/drawing/2014/main" xmlns:p="http://schemas.openxmlformats.org/presentationml/2006/main" xmlns:p14="http://schemas.microsoft.com/office/powerpoint/2010/main">
  <p:cSld>
    <p:spTree>
      <p:nvGrpSpPr>
        <p:cNvPr id="1" name="">
          <a:extLst>
            <a:ext uri="{FF2B5EF4-FFF2-40B4-BE49-F238E27FC236}">
              <a16:creationId id="{7C141967-5EF0-A8CE-385B-6D0A5866ECFF}"/>
            </a:ext>
          </a:extLst>
        </p:cNvPr>
        <p:cNvGrpSpPr/>
        <p:nvPr/>
      </p:nvGrpSpPr>
      <p:grpSpPr>
        <a:xfrm>
          <a:off x="0" y="0"/>
          <a:ext cx="0" cy="0"/>
          <a:chOff x="0" y="0"/>
          <a:chExt cx="0" cy="0"/>
        </a:xfrm>
      </p:grpSpPr>
      <p:sp>
        <p:nvSpPr>
          <p:cNvPr id="2" name="Slide Number Placeholder 1">
            <a:extLst>
              <a:ext uri="{FF2B5EF4-FFF2-40B4-BE49-F238E27FC236}">
                <a16:creationId id="{3108432E-6CC9-7470-65A5-7F6A330EFB4F}"/>
              </a:ext>
            </a:extLst>
          </p:cNvPr>
          <p:cNvSpPr>
            <a:spLocks noGrp="1"/>
          </p:cNvSpPr>
          <p:nvPr>
            <p:ph type="sldNum" sz="quarter" idx="4"/>
          </p:nvPr>
        </p:nvSpPr>
        <p:spPr/>
        <p:txBody>
          <a:bodyPr/>
          <a:lstStyle/>
          <a:p>
            <a:fld id="{00000000-1234-1234-1234-123412341234}" type="slidenum">
              <a:rPr lang="en" smtClean="0"/>
              <a:pPr/>
              <a:t>2</a:t>
            </a:fld>
            <a:endParaRPr lang="en"/>
          </a:p>
        </p:txBody>
      </p:sp>
      <p:sp>
        <p:nvSpPr>
          <p:cNvPr id="3" name="Title 2">
            <a:extLst>
              <a:ext uri="{FF2B5EF4-FFF2-40B4-BE49-F238E27FC236}">
                <a16:creationId id="{40BD946D-556A-ECA8-679C-19ABE963A4E5}"/>
              </a:ext>
            </a:extLst>
          </p:cNvPr>
          <p:cNvSpPr>
            <a:spLocks noGrp="1"/>
          </p:cNvSpPr>
          <p:nvPr>
            <p:ph type="title"/>
          </p:nvPr>
        </p:nvSpPr>
        <p:spPr>
          <a:xfrm>
            <a:off x="393699" y="1046195"/>
            <a:ext cx="9448800" cy="985805"/>
          </a:xfrm>
        </p:spPr>
        <p:txBody>
          <a:bodyPr>
            <a:normAutofit/>
          </a:bodyPr>
          <a:lstStyle/>
          <a:p>
            <a:r>
              <a:rPr lang="en-US" dirty="0"/>
              <a:t>MVP, evidence, economics, and decisions</a:t>
            </a:r>
          </a:p>
        </p:txBody>
      </p:sp>
      <p:sp>
        <p:nvSpPr>
          <p:cNvPr id="5" name="Subtitle 4">
            <a:extLst>
              <a:ext uri="{FF2B5EF4-FFF2-40B4-BE49-F238E27FC236}">
                <a16:creationId id="{173F7058-30A0-0125-1A90-B808A012B5B4}"/>
              </a:ext>
            </a:extLst>
          </p:cNvPr>
          <p:cNvSpPr txBox="1">
            <a:spLocks/>
          </p:cNvSpPr>
          <p:nvPr/>
        </p:nvSpPr>
        <p:spPr>
          <a:xfrm>
            <a:off x="393699" y="392242"/>
            <a:ext cx="3578411" cy="345178"/>
          </a:xfrm>
          <a:prstGeom prst="rect">
            <a:avLst/>
          </a:prstGeom>
        </p:spPr>
        <p:txBody>
          <a:bodyPr vert="horz" lIns="0" tIns="0" rIns="0" bIns="0" rtlCol="0">
            <a:no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800" dirty="0">
                <a:solidFill>
                  <a:schemeClr val="accent1"/>
                </a:solidFill>
                <a:latin typeface="Roboto Medium" panose="02000000000000000000" pitchFamily="2" charset="0"/>
                <a:ea typeface="Roboto Medium" panose="02000000000000000000" pitchFamily="2" charset="0"/>
              </a:rPr>
              <a:t>Agenda</a:t>
            </a:r>
          </a:p>
        </p:txBody>
      </p:sp>
      <p:graphicFrame>
        <p:nvGraphicFramePr>
          <p:cNvPr id="7" name="Table 6">
            <a:extLst>
              <a:ext uri="{FF2B5EF4-FFF2-40B4-BE49-F238E27FC236}">
                <a16:creationId id="{AEB3874C-EF1B-D79F-C3F5-6702ABF89D27}"/>
              </a:ext>
            </a:extLst>
          </p:cNvPr>
          <p:cNvGraphicFramePr>
            <a:graphicFrameLocks noGrp="1"/>
          </p:cNvGraphicFramePr>
          <p:nvPr>
            <p:extLst>
              <p:ext uri="{D42A27DB-BD31-4B8C-83A1-F6EECF244321}">
                <p14:modId val="1396004950"/>
              </p:ext>
            </p:extLst>
          </p:nvPr>
        </p:nvGraphicFramePr>
        <p:xfrm>
          <a:off x="393700" y="2573020"/>
          <a:ext cx="11404600" cy="3566160"/>
        </p:xfrm>
        <a:graphic>
          <a:graphicData uri="http://schemas.openxmlformats.org/drawingml/2006/table">
            <a:tbl>
              <a:tblPr firstRow="1" bandRow="1">
                <a:tableStyleId>{5C22544A-7EE6-4342-B048-85BDC9FD1C3A}</a:tableStyleId>
              </a:tblPr>
              <a:tblGrid>
                <a:gridCol w="627578">
                  <a:extLst>
                    <a:ext uri="{9D8B030D-6E8A-4147-A177-3AD203B41FA5}">
                      <a16:colId val="1631070132"/>
                    </a:ext>
                  </a:extLst>
                </a:gridCol>
                <a:gridCol w="6875813">
                  <a:extLst>
                    <a:ext uri="{9D8B030D-6E8A-4147-A177-3AD203B41FA5}">
                      <a16:colId val="1616312772"/>
                    </a:ext>
                  </a:extLst>
                </a:gridCol>
                <a:gridCol w="3901209">
                  <a:extLst>
                    <a:ext uri="{9D8B030D-6E8A-4147-A177-3AD203B41FA5}">
                      <a16:colId val="3389027217"/>
                    </a:ext>
                  </a:extLst>
                </a:gridCol>
              </a:tblGrid>
              <a:tr h="59436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300" b="0" i="0" u="none" strike="noStrike" kern="1200" cap="none" spc="0" normalizeH="0" baseline="0" noProof="0" dirty="0">
                          <a:ln>
                            <a:noFill/>
                          </a:ln>
                          <a:solidFill>
                            <a:schemeClr val="accent2">
                              <a:lumMod val="75000"/>
                            </a:schemeClr>
                          </a:solidFill>
                          <a:effectLst/>
                          <a:uLnTx/>
                          <a:uFillTx/>
                          <a:latin typeface="+mn-lt"/>
                          <a:ea typeface="+mn-ea"/>
                          <a:cs typeface="+mn-cs"/>
                        </a:rPr>
                        <a:t>01</a:t>
                      </a:r>
                    </a:p>
                  </a:txBody>
                  <a:tcPr marL="0"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300" b="0" i="0" u="none" strike="noStrike" kern="1200" cap="none" spc="0" normalizeH="0" baseline="0" noProof="0" dirty="0">
                          <a:ln>
                            <a:noFill/>
                          </a:ln>
                          <a:solidFill>
                            <a:prstClr val="black"/>
                          </a:solidFill>
                          <a:effectLst/>
                          <a:uLnTx/>
                          <a:uFillTx/>
                          <a:latin typeface="+mn-lt"/>
                          <a:ea typeface="+mn-ea"/>
                          <a:cs typeface="+mn-cs"/>
                        </a:rPr>
                        <a:t>MVP status</a:t>
                      </a:r>
                    </a:p>
                  </a:txBody>
                  <a:tcPr marL="0"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chemeClr val="accent1"/>
                          </a:solidFill>
                          <a:effectLst/>
                          <a:uLnTx/>
                          <a:uFillTx/>
                          <a:latin typeface="Roboto Medium" panose="02000000000000000000" pitchFamily="2" charset="0"/>
                          <a:ea typeface="Roboto Medium" panose="02000000000000000000" pitchFamily="2" charset="0"/>
                          <a:cs typeface="+mn-cs"/>
                        </a:rPr>
                        <a:t>Build</a:t>
                      </a:r>
                    </a:p>
                  </a:txBody>
                  <a:tcPr marL="0"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val="492842163"/>
                  </a:ext>
                </a:extLst>
              </a:tr>
              <a:tr h="59436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300" b="0" i="0" u="none" strike="noStrike" kern="1200" cap="none" spc="0" normalizeH="0" baseline="0" noProof="0" dirty="0">
                          <a:ln>
                            <a:noFill/>
                          </a:ln>
                          <a:solidFill>
                            <a:schemeClr val="accent2">
                              <a:lumMod val="75000"/>
                            </a:schemeClr>
                          </a:solidFill>
                          <a:effectLst/>
                          <a:uLnTx/>
                          <a:uFillTx/>
                          <a:latin typeface="+mn-lt"/>
                          <a:ea typeface="+mn-ea"/>
                          <a:cs typeface="+mn-cs"/>
                        </a:rPr>
                        <a:t>02</a:t>
                      </a:r>
                    </a:p>
                  </a:txBody>
                  <a:tcPr marL="0" anchor="ct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300" b="0" i="0" u="none" strike="noStrike" kern="1200" cap="none" spc="0" normalizeH="0" baseline="0" noProof="0" dirty="0">
                          <a:ln>
                            <a:noFill/>
                          </a:ln>
                          <a:solidFill>
                            <a:prstClr val="black"/>
                          </a:solidFill>
                          <a:effectLst/>
                          <a:uLnTx/>
                          <a:uFillTx/>
                          <a:latin typeface="+mn-lt"/>
                          <a:ea typeface="+mn-ea"/>
                          <a:cs typeface="+mn-cs"/>
                        </a:rPr>
                        <a:t>Synthetic results</a:t>
                      </a:r>
                    </a:p>
                  </a:txBody>
                  <a:tcPr marL="0" anchor="ct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chemeClr val="accent1"/>
                          </a:solidFill>
                          <a:effectLst/>
                          <a:uLnTx/>
                          <a:uFillTx/>
                          <a:latin typeface="Roboto Medium" panose="02000000000000000000" pitchFamily="2" charset="0"/>
                          <a:ea typeface="Roboto Medium" panose="02000000000000000000" pitchFamily="2" charset="0"/>
                          <a:cs typeface="+mn-cs"/>
                        </a:rPr>
                        <a:t>Evidence</a:t>
                      </a:r>
                    </a:p>
                  </a:txBody>
                  <a:tcPr marL="0" anchor="ct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val="3159605887"/>
                  </a:ext>
                </a:extLst>
              </a:tr>
              <a:tr h="59436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300" b="0" i="0" u="none" strike="noStrike" kern="1200" cap="none" spc="0" normalizeH="0" baseline="0" noProof="0" dirty="0">
                          <a:ln>
                            <a:noFill/>
                          </a:ln>
                          <a:solidFill>
                            <a:schemeClr val="accent2">
                              <a:lumMod val="75000"/>
                            </a:schemeClr>
                          </a:solidFill>
                          <a:effectLst/>
                          <a:uLnTx/>
                          <a:uFillTx/>
                          <a:latin typeface="+mn-lt"/>
                          <a:ea typeface="+mn-ea"/>
                          <a:cs typeface="+mn-cs"/>
                        </a:rPr>
                        <a:t>03</a:t>
                      </a:r>
                    </a:p>
                  </a:txBody>
                  <a:tcPr marL="0" anchor="ct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300" b="0" i="0" u="none" strike="noStrike" kern="1200" cap="none" spc="0" normalizeH="0" baseline="0" noProof="0" dirty="0">
                          <a:ln>
                            <a:noFill/>
                          </a:ln>
                          <a:solidFill>
                            <a:prstClr val="black"/>
                          </a:solidFill>
                          <a:effectLst/>
                          <a:uLnTx/>
                          <a:uFillTx/>
                          <a:latin typeface="+mn-lt"/>
                          <a:ea typeface="+mn-ea"/>
                          <a:cs typeface="+mn-cs"/>
                        </a:rPr>
                        <a:t>Customer segments</a:t>
                      </a:r>
                    </a:p>
                  </a:txBody>
                  <a:tcPr marL="0" anchor="ct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chemeClr val="accent1"/>
                          </a:solidFill>
                          <a:effectLst/>
                          <a:uLnTx/>
                          <a:uFillTx/>
                          <a:latin typeface="Roboto Medium" panose="02000000000000000000" pitchFamily="2" charset="0"/>
                          <a:ea typeface="Roboto Medium" panose="02000000000000000000" pitchFamily="2" charset="0"/>
                          <a:cs typeface="+mn-cs"/>
                        </a:rPr>
                        <a:t>Demand</a:t>
                      </a:r>
                    </a:p>
                  </a:txBody>
                  <a:tcPr marL="0" anchor="ct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val="2970902002"/>
                  </a:ext>
                </a:extLst>
              </a:tr>
              <a:tr h="59436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300" b="0" i="0" u="none" strike="noStrike" kern="1200" cap="none" spc="0" normalizeH="0" baseline="0" noProof="0" dirty="0">
                          <a:ln>
                            <a:noFill/>
                          </a:ln>
                          <a:solidFill>
                            <a:schemeClr val="accent2">
                              <a:lumMod val="75000"/>
                            </a:schemeClr>
                          </a:solidFill>
                          <a:effectLst/>
                          <a:uLnTx/>
                          <a:uFillTx/>
                          <a:latin typeface="+mn-lt"/>
                          <a:ea typeface="+mn-ea"/>
                          <a:cs typeface="+mn-cs"/>
                        </a:rPr>
                        <a:t>04</a:t>
                      </a:r>
                    </a:p>
                  </a:txBody>
                  <a:tcPr marL="0" anchor="ct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300" b="0" i="0" u="none" strike="noStrike" kern="1200" cap="none" spc="0" normalizeH="0" baseline="0" noProof="0" dirty="0">
                          <a:ln>
                            <a:noFill/>
                          </a:ln>
                          <a:solidFill>
                            <a:prstClr val="black"/>
                          </a:solidFill>
                          <a:effectLst/>
                          <a:uLnTx/>
                          <a:uFillTx/>
                          <a:latin typeface="+mn-lt"/>
                          <a:ea typeface="+mn-ea"/>
                          <a:cs typeface="+mn-cs"/>
                        </a:rPr>
                        <a:t>Pricing assumptions</a:t>
                      </a:r>
                    </a:p>
                  </a:txBody>
                  <a:tcPr marL="0" anchor="ct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chemeClr val="accent1"/>
                          </a:solidFill>
                          <a:effectLst/>
                          <a:uLnTx/>
                          <a:uFillTx/>
                          <a:latin typeface="Roboto Medium" panose="02000000000000000000" pitchFamily="2" charset="0"/>
                          <a:ea typeface="Roboto Medium" panose="02000000000000000000" pitchFamily="2" charset="0"/>
                          <a:cs typeface="+mn-cs"/>
                        </a:rPr>
                        <a:t>Illustrative</a:t>
                      </a:r>
                    </a:p>
                  </a:txBody>
                  <a:tcPr marL="0" anchor="ct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val="763852306"/>
                  </a:ext>
                </a:extLst>
              </a:tr>
              <a:tr h="59436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300" b="0" i="0" u="none" strike="noStrike" kern="1200" cap="none" spc="0" normalizeH="0" baseline="0" noProof="0" dirty="0">
                          <a:ln>
                            <a:noFill/>
                          </a:ln>
                          <a:solidFill>
                            <a:schemeClr val="accent2">
                              <a:lumMod val="75000"/>
                            </a:schemeClr>
                          </a:solidFill>
                          <a:effectLst/>
                          <a:uLnTx/>
                          <a:uFillTx/>
                          <a:latin typeface="+mn-lt"/>
                          <a:ea typeface="+mn-ea"/>
                          <a:cs typeface="+mn-cs"/>
                        </a:rPr>
                        <a:t>05</a:t>
                      </a:r>
                    </a:p>
                  </a:txBody>
                  <a:tcPr marL="0" anchor="ct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300" b="0" i="0" u="none" strike="noStrike" kern="1200" cap="none" spc="0" normalizeH="0" baseline="0" noProof="0" dirty="0">
                          <a:ln>
                            <a:noFill/>
                          </a:ln>
                          <a:solidFill>
                            <a:prstClr val="black"/>
                          </a:solidFill>
                          <a:effectLst/>
                          <a:uLnTx/>
                          <a:uFillTx/>
                          <a:latin typeface="+mn-lt"/>
                          <a:ea typeface="+mn-ea"/>
                          <a:cs typeface="+mn-cs"/>
                        </a:rPr>
                        <a:t>Pilot priorities</a:t>
                      </a:r>
                    </a:p>
                  </a:txBody>
                  <a:tcPr marL="0" anchor="ct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chemeClr val="accent1"/>
                          </a:solidFill>
                          <a:effectLst/>
                          <a:uLnTx/>
                          <a:uFillTx/>
                          <a:latin typeface="Roboto Medium" panose="02000000000000000000" pitchFamily="2" charset="0"/>
                          <a:ea typeface="Roboto Medium" panose="02000000000000000000" pitchFamily="2" charset="0"/>
                          <a:cs typeface="+mn-cs"/>
                        </a:rPr>
                        <a:t>Next 90 days</a:t>
                      </a:r>
                    </a:p>
                  </a:txBody>
                  <a:tcPr marL="0" anchor="ct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val="3874140170"/>
                  </a:ext>
                </a:extLst>
              </a:tr>
              <a:tr h="59436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300" b="0" i="0" u="none" strike="noStrike" kern="1200" cap="none" spc="0" normalizeH="0" baseline="0" noProof="0" dirty="0">
                          <a:ln>
                            <a:noFill/>
                          </a:ln>
                          <a:solidFill>
                            <a:schemeClr val="accent2">
                              <a:lumMod val="75000"/>
                            </a:schemeClr>
                          </a:solidFill>
                          <a:effectLst/>
                          <a:uLnTx/>
                          <a:uFillTx/>
                          <a:latin typeface="+mn-lt"/>
                          <a:ea typeface="+mn-ea"/>
                          <a:cs typeface="+mn-cs"/>
                        </a:rPr>
                        <a:t>06</a:t>
                      </a:r>
                    </a:p>
                  </a:txBody>
                  <a:tcPr marL="0" anchor="ct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300" b="0" i="0" u="none" strike="noStrike" kern="1200" cap="none" spc="0" normalizeH="0" baseline="0" noProof="0" dirty="0">
                          <a:ln>
                            <a:noFill/>
                          </a:ln>
                          <a:solidFill>
                            <a:prstClr val="black"/>
                          </a:solidFill>
                          <a:effectLst/>
                          <a:uLnTx/>
                          <a:uFillTx/>
                          <a:latin typeface="+mn-lt"/>
                          <a:ea typeface="+mn-ea"/>
                          <a:cs typeface="+mn-cs"/>
                        </a:rPr>
                        <a:t>Decision request</a:t>
                      </a:r>
                    </a:p>
                  </a:txBody>
                  <a:tcPr marL="0" anchor="ct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chemeClr val="accent1"/>
                          </a:solidFill>
                          <a:effectLst/>
                          <a:uLnTx/>
                          <a:uFillTx/>
                          <a:latin typeface="Roboto Medium" panose="02000000000000000000" pitchFamily="2" charset="0"/>
                          <a:ea typeface="Roboto Medium" panose="02000000000000000000" pitchFamily="2" charset="0"/>
                          <a:cs typeface="+mn-cs"/>
                        </a:rPr>
                        <a:t>Sponsor</a:t>
                      </a:r>
                    </a:p>
                  </a:txBody>
                  <a:tcPr marL="0" anchor="ct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val="51808150"/>
                  </a:ext>
                </a:extLst>
              </a:tr>
            </a:tbl>
          </a:graphicData>
        </a:graphic>
      </p:graphicFrame>
      <p:sp>
        <p:nvSpPr>
          <p:cNvPr id="4" name="Footer Placeholder 3">
            <a:extLst>
              <a:ext uri="{FF2B5EF4-FFF2-40B4-BE49-F238E27FC236}">
                <a16:creationId id="{F810BED8-CB43-D17C-4D24-32A4B0893D63}"/>
              </a:ext>
            </a:extLst>
          </p:cNvPr>
          <p:cNvSpPr>
            <a:spLocks noGrp="1"/>
          </p:cNvSpPr>
          <p:nvPr>
            <p:ph type="ftr" sz="quarter" idx="3"/>
          </p:nvPr>
        </p:nvSpPr>
        <p:spPr/>
        <p:txBody>
          <a:bodyPr/>
          <a:lstStyle/>
          <a:p>
            <a:endParaRPr lang="en-US" sz="1100" dirty="0"/>
          </a:p>
        </p:txBody>
      </p:sp>
    </p:spTree>
    <p:extLst>
      <p:ext uri="{BB962C8B-B14F-4D97-AF65-F5344CB8AC3E}">
        <p14:creationId val="3360133703"/>
      </p:ext>
    </p:extLst>
  </p:cSld>
  <p:clrMapOvr>
    <a:masterClrMapping/>
  </p:clrMapOvr>
</p:sld>
</file>

<file path=ppt/slides/slide3.xml><?xml version="1.0" encoding="utf-8"?>
<p:sld xmlns:a="http://schemas.openxmlformats.org/drawingml/2006/main" xmlns:a16="http://schemas.microsoft.com/office/drawing/2014/main" xmlns:p="http://schemas.openxmlformats.org/presentationml/2006/main">
  <p:cSld>
    <p:spTree>
      <p:nvGrpSpPr>
        <p:cNvPr id="1" name="Shape 531"/>
        <p:cNvGrpSpPr/>
        <p:nvPr/>
      </p:nvGrpSpPr>
      <p:grpSpPr>
        <a:xfrm>
          <a:off x="0" y="0"/>
          <a:ext cx="0" cy="0"/>
          <a:chOff x="0" y="0"/>
          <a:chExt cx="0" cy="0"/>
        </a:xfrm>
      </p:grpSpPr>
      <p:sp>
        <p:nvSpPr>
          <p:cNvPr id="534" name="Google Shape;534;p58"/>
          <p:cNvSpPr txBox="1">
            <a:spLocks noGrp="1"/>
          </p:cNvSpPr>
          <p:nvPr>
            <p:ph idx="1"/>
          </p:nvPr>
        </p:nvSpPr>
        <p:spPr>
          <a:xfrm>
            <a:off x="393699" y="2812968"/>
            <a:ext cx="5537200" cy="1865909"/>
          </a:xfrm>
          <a:prstGeom prst="rect">
            <a:avLst/>
          </a:prstGeom>
        </p:spPr>
        <p:txBody>
          <a:bodyPr spcFirstLastPara="1" vert="horz" wrap="square" lIns="0" tIns="0" rIns="0" bIns="0" rtlCol="0" anchor="t" anchorCtr="0">
            <a:noAutofit/>
          </a:bodyPr>
          <a:lstStyle/>
          <a:p>
            <a:pPr marL="0" indent="0">
              <a:lnSpc>
                <a:spcPct val="114000"/>
              </a:lnSpc>
              <a:spcBef>
                <a:spcPts val="0"/>
              </a:spcBef>
              <a:spcAft>
                <a:spcPts val="800"/>
              </a:spcAft>
              <a:buNone/>
            </a:pP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DrillLoop turns exercise notes and event logs into source-linked finding drafts for evaluator review. The working demo covers exercise setup, evidence upload, timeline, human approval, corrective actions, and report export. Optional speech and writing models were not used in the reported benchmark.</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p>
          <a:p>
            <a:pPr marL="0" indent="0">
              <a:lnSpc>
                <a:spcPct val="114000"/>
              </a:lnSpc>
              <a:spcBef>
                <a:spcPts val="0"/>
              </a:spcBef>
              <a:spcAft>
                <a:spcPts val="800"/>
              </a:spcAft>
              <a:buNone/>
            </a:pPr>
            <a:endPar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endParaRPr>
          </a:p>
        </p:txBody>
      </p:sp>
      <p:sp>
        <p:nvSpPr>
          <p:cNvPr id="532" name="Google Shape;532;p58"/>
          <p:cNvSpPr txBox="1">
            <a:spLocks noGrp="1"/>
          </p:cNvSpPr>
          <p:nvPr>
            <p:ph type="sldNum" sz="quarter" idx="4"/>
          </p:nvPr>
        </p:nvSpPr>
        <p:spPr>
          <a:prstGeom prst="rect">
            <a:avLst/>
          </a:prstGeom>
        </p:spPr>
        <p:txBody>
          <a:bodyPr spcFirstLastPara="1" vert="horz" wrap="square" lIns="0" tIns="0" rIns="0" bIns="0" rtlCol="0" anchor="b" anchorCtr="0">
            <a:noAutofit/>
          </a:bodyPr>
          <a:lstStyle/>
          <a:p>
            <a:fld id="{00000000-1234-1234-1234-123412341234}" type="slidenum">
              <a:rPr lang="en">
                <a:sym typeface="OpenAI Sans"/>
              </a:rPr>
              <a:pPr/>
              <a:t>3</a:t>
            </a:fld>
            <a:endParaRPr dirty="0">
              <a:sym typeface="OpenAI Sans"/>
            </a:endParaRPr>
          </a:p>
        </p:txBody>
      </p:sp>
      <p:sp>
        <p:nvSpPr>
          <p:cNvPr id="2" name="Footer Placeholder 1">
            <a:extLst>
              <a:ext uri="{FF2B5EF4-FFF2-40B4-BE49-F238E27FC236}">
                <a16:creationId id="{51941D6B-3AD0-04BD-76AF-506638666ACC}"/>
              </a:ext>
            </a:extLst>
          </p:cNvPr>
          <p:cNvSpPr>
            <a:spLocks noGrp="1"/>
          </p:cNvSpPr>
          <p:nvPr>
            <p:ph type="ftr" sz="quarter" idx="3"/>
          </p:nvPr>
        </p:nvSpPr>
        <p:spPr/>
        <p:txBody>
          <a:bodyPr/>
          <a:lstStyle/>
          <a:p>
            <a:endParaRPr lang="en-US" sz="1100" dirty="0"/>
          </a:p>
        </p:txBody>
      </p:sp>
      <p:sp>
        <p:nvSpPr>
          <p:cNvPr id="5" name="Google Shape;534;p58">
            <a:extLst>
              <a:ext uri="{FF2B5EF4-FFF2-40B4-BE49-F238E27FC236}">
                <a16:creationId id="{A3548D03-1D0F-655D-DD48-D4BF5C80F44D}"/>
              </a:ext>
            </a:extLst>
          </p:cNvPr>
          <p:cNvSpPr txBox="1">
            <a:spLocks/>
          </p:cNvSpPr>
          <p:nvPr/>
        </p:nvSpPr>
        <p:spPr>
          <a:xfrm>
            <a:off x="393700" y="2111025"/>
            <a:ext cx="1844403" cy="402442"/>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800"/>
              </a:spcAft>
              <a:buFont typeface="Arial" panose="020B0604020202020204" pitchFamily="34" charset="0"/>
              <a:buNone/>
            </a:pPr>
            <a:r>
              <a:rPr lang="en-US" sz="2000" dirty="0">
                <a:latin typeface="+mj-lt"/>
                <a:ea typeface="Helvetica Neue" panose="02000503000000020004" pitchFamily="2" charset="0"/>
                <a:cs typeface="Helvetica Neue" panose="02000503000000020004" pitchFamily="2" charset="0"/>
                <a:sym typeface="OpenAI Sans"/>
              </a:rPr>
              <a:t>MVP Status</a:t>
            </a:r>
            <a:endParaRPr lang="en-US" sz="2000" dirty="0">
              <a:latin typeface="+mj-lt"/>
              <a:ea typeface="Helvetica Neue Medium" panose="02000503000000020004" pitchFamily="2" charset="0"/>
              <a:cs typeface="Helvetica Neue Medium" panose="02000503000000020004" pitchFamily="2" charset="0"/>
              <a:sym typeface="OpenAI Sans"/>
            </a:endParaRPr>
          </a:p>
        </p:txBody>
      </p:sp>
      <p:sp>
        <p:nvSpPr>
          <p:cNvPr id="6" name="Google Shape;534;p58">
            <a:extLst>
              <a:ext uri="{FF2B5EF4-FFF2-40B4-BE49-F238E27FC236}">
                <a16:creationId id="{4051D0BE-5D22-BCB4-EADF-44F16643D9F5}"/>
              </a:ext>
            </a:extLst>
          </p:cNvPr>
          <p:cNvSpPr txBox="1">
            <a:spLocks/>
          </p:cNvSpPr>
          <p:nvPr/>
        </p:nvSpPr>
        <p:spPr>
          <a:xfrm>
            <a:off x="6260109" y="2826992"/>
            <a:ext cx="5537200" cy="1001086"/>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800"/>
              </a:spcAft>
              <a:buNone/>
            </a:pP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In one closed synthetic fixture, 8/8 log rows, 5/5 expected finding codes, and 9/9 expected evidence IDs matched. The citation check confirms that IDs were linked; it does not prove that evidence supports a claim or generalizes to new exercises.</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p>
          <a:p>
            <a:pPr marL="0" indent="0">
              <a:lnSpc>
                <a:spcPct val="114000"/>
              </a:lnSpc>
              <a:spcBef>
                <a:spcPts val="0"/>
              </a:spcBef>
              <a:spcAft>
                <a:spcPts val="800"/>
              </a:spcAft>
              <a:buFont typeface="Arial" panose="020B0604020202020204" pitchFamily="34" charset="0"/>
              <a:buNone/>
            </a:pPr>
            <a:endPar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endParaRPr>
          </a:p>
        </p:txBody>
      </p:sp>
      <p:sp>
        <p:nvSpPr>
          <p:cNvPr id="7" name="Google Shape;534;p58">
            <a:extLst>
              <a:ext uri="{FF2B5EF4-FFF2-40B4-BE49-F238E27FC236}">
                <a16:creationId id="{EE26938C-7FB7-798D-7C48-988932737F6D}"/>
              </a:ext>
            </a:extLst>
          </p:cNvPr>
          <p:cNvSpPr txBox="1">
            <a:spLocks/>
          </p:cNvSpPr>
          <p:nvPr/>
        </p:nvSpPr>
        <p:spPr>
          <a:xfrm>
            <a:off x="6260109" y="2344035"/>
            <a:ext cx="5537200" cy="402442"/>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800"/>
              </a:spcAft>
              <a:buFont typeface="Arial" panose="020B0604020202020204" pitchFamily="34" charset="0"/>
              <a:buNone/>
            </a:pPr>
            <a:r>
              <a:rPr lang="en-US" sz="2000" dirty="0">
                <a:latin typeface="+mj-lt"/>
                <a:ea typeface="Helvetica Neue" panose="02000503000000020004" pitchFamily="2" charset="0"/>
                <a:cs typeface="Helvetica Neue" panose="02000503000000020004" pitchFamily="2" charset="0"/>
                <a:sym typeface="OpenAI Sans"/>
              </a:rPr>
              <a:t>What the benchmark shows</a:t>
            </a:r>
            <a:endParaRPr lang="en-US" sz="2000" dirty="0">
              <a:latin typeface="+mj-lt"/>
              <a:ea typeface="Helvetica Neue Medium" panose="02000503000000020004" pitchFamily="2" charset="0"/>
              <a:cs typeface="Helvetica Neue Medium" panose="02000503000000020004" pitchFamily="2" charset="0"/>
              <a:sym typeface="OpenAI Sans"/>
            </a:endParaRPr>
          </a:p>
        </p:txBody>
      </p:sp>
      <p:sp>
        <p:nvSpPr>
          <p:cNvPr id="10" name="Title 2">
            <a:extLst>
              <a:ext uri="{FF2B5EF4-FFF2-40B4-BE49-F238E27FC236}">
                <a16:creationId id="{944AF173-BF22-B5ED-B88F-9080D8699E64}"/>
              </a:ext>
            </a:extLst>
          </p:cNvPr>
          <p:cNvSpPr>
            <a:spLocks noGrp="1"/>
          </p:cNvSpPr>
          <p:nvPr>
            <p:ph type="title"/>
          </p:nvPr>
        </p:nvSpPr>
        <p:spPr>
          <a:xfrm>
            <a:off x="393699" y="1046195"/>
            <a:ext cx="11403610" cy="623819"/>
          </a:xfrm>
        </p:spPr>
        <p:txBody>
          <a:bodyPr>
            <a:normAutofit/>
          </a:bodyPr>
          <a:lstStyle/>
          <a:p>
            <a:r>
              <a:rPr lang="en-US" dirty="0"/>
              <a:t>MVP recap, evidence, and decisions</a:t>
            </a:r>
          </a:p>
        </p:txBody>
      </p:sp>
      <p:sp>
        <p:nvSpPr>
          <p:cNvPr id="11" name="Subtitle 4">
            <a:extLst>
              <a:ext uri="{FF2B5EF4-FFF2-40B4-BE49-F238E27FC236}">
                <a16:creationId id="{42E9C51D-AB09-8D83-4157-006D57137348}"/>
              </a:ext>
            </a:extLst>
          </p:cNvPr>
          <p:cNvSpPr txBox="1">
            <a:spLocks/>
          </p:cNvSpPr>
          <p:nvPr/>
        </p:nvSpPr>
        <p:spPr>
          <a:xfrm>
            <a:off x="393699" y="392242"/>
            <a:ext cx="3578411" cy="345178"/>
          </a:xfrm>
          <a:prstGeom prst="rect">
            <a:avLst/>
          </a:prstGeom>
        </p:spPr>
        <p:txBody>
          <a:bodyPr vert="horz" lIns="0" tIns="0" rIns="0" bIns="0" rtlCol="0">
            <a:no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800" dirty="0">
                <a:solidFill>
                  <a:schemeClr val="accent1"/>
                </a:solidFill>
                <a:latin typeface="Roboto Medium" panose="02000000000000000000" pitchFamily="2" charset="0"/>
                <a:ea typeface="Roboto Medium" panose="02000000000000000000" pitchFamily="2" charset="0"/>
              </a:rPr>
              <a:t>Executive Summary</a:t>
            </a:r>
          </a:p>
        </p:txBody>
      </p:sp>
      <p:cxnSp>
        <p:nvCxnSpPr>
          <p:cNvPr id="15" name="Straight Connector 14">
            <a:extLst>
              <a:ext uri="{FF2B5EF4-FFF2-40B4-BE49-F238E27FC236}">
                <a16:creationId id="{D437FEE4-7EB2-0B28-0524-F102AB6A47C6}"/>
              </a:ext>
            </a:extLst>
          </p:cNvPr>
          <p:cNvCxnSpPr/>
          <p:nvPr/>
        </p:nvCxnSpPr>
        <p:spPr>
          <a:xfrm>
            <a:off x="6261100" y="4039769"/>
            <a:ext cx="5537200" cy="0"/>
          </a:xfrm>
          <a:prstGeom prst="line">
            <a:avLst/>
          </a:prstGeom>
          <a:ln w="12700">
            <a:solidFill>
              <a:schemeClr val="accent2">
                <a:lumMod val="90000"/>
              </a:schemeClr>
            </a:solidFill>
          </a:ln>
        </p:spPr>
        <p:style>
          <a:lnRef idx="2">
            <a:schemeClr val="accent1"/>
          </a:lnRef>
          <a:fillRef idx="0">
            <a:schemeClr val="accent1"/>
          </a:fillRef>
          <a:effectRef idx="1">
            <a:schemeClr val="accent1"/>
          </a:effectRef>
          <a:fontRef idx="minor">
            <a:schemeClr val="tx1"/>
          </a:fontRef>
        </p:style>
      </p:cxnSp>
      <p:sp>
        <p:nvSpPr>
          <p:cNvPr id="16" name="Google Shape;534;p58">
            <a:extLst>
              <a:ext uri="{FF2B5EF4-FFF2-40B4-BE49-F238E27FC236}">
                <a16:creationId id="{108E1773-B682-C5EE-6944-58546A384F37}"/>
              </a:ext>
            </a:extLst>
          </p:cNvPr>
          <p:cNvSpPr txBox="1">
            <a:spLocks/>
          </p:cNvSpPr>
          <p:nvPr/>
        </p:nvSpPr>
        <p:spPr>
          <a:xfrm>
            <a:off x="6260109" y="4867987"/>
            <a:ext cx="5537200" cy="1200232"/>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800"/>
              </a:spcAft>
              <a:buNone/>
            </a:pP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Authorize discovery for a 90-day pilot with 2–3 hospital or municipal exercise teams, subject to partner interest and privacy approval. Measure source lookup, citation support, reviewer edits, action ownership, and verified closure.</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p>
          <a:p>
            <a:pPr marL="0" indent="0">
              <a:lnSpc>
                <a:spcPct val="114000"/>
              </a:lnSpc>
              <a:spcBef>
                <a:spcPts val="0"/>
              </a:spcBef>
              <a:spcAft>
                <a:spcPts val="800"/>
              </a:spcAft>
              <a:buFont typeface="Arial" panose="020B0604020202020204" pitchFamily="34" charset="0"/>
              <a:buNone/>
            </a:pPr>
            <a:endPar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endParaRPr>
          </a:p>
        </p:txBody>
      </p:sp>
      <p:sp>
        <p:nvSpPr>
          <p:cNvPr id="17" name="Google Shape;534;p58">
            <a:extLst>
              <a:ext uri="{FF2B5EF4-FFF2-40B4-BE49-F238E27FC236}">
                <a16:creationId id="{1C1F2FD8-0D30-C7BF-5234-6F0EE46F0DC3}"/>
              </a:ext>
            </a:extLst>
          </p:cNvPr>
          <p:cNvSpPr txBox="1">
            <a:spLocks/>
          </p:cNvSpPr>
          <p:nvPr/>
        </p:nvSpPr>
        <p:spPr>
          <a:xfrm>
            <a:off x="6260109" y="4385030"/>
            <a:ext cx="5537200" cy="402442"/>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800"/>
              </a:spcAft>
              <a:buFont typeface="Arial" panose="020B0604020202020204" pitchFamily="34" charset="0"/>
              <a:buNone/>
            </a:pPr>
            <a:r>
              <a:rPr lang="en-US" sz="2000" dirty="0">
                <a:latin typeface="+mj-lt"/>
                <a:ea typeface="Helvetica Neue" panose="02000503000000020004" pitchFamily="2" charset="0"/>
                <a:cs typeface="Helvetica Neue" panose="02000503000000020004" pitchFamily="2" charset="0"/>
                <a:sym typeface="OpenAI Sans"/>
              </a:rPr>
              <a:t>Sponsor decision requested</a:t>
            </a:r>
            <a:endParaRPr lang="en-US" sz="2000" dirty="0">
              <a:latin typeface="+mj-lt"/>
              <a:ea typeface="Helvetica Neue Medium" panose="02000503000000020004" pitchFamily="2" charset="0"/>
              <a:cs typeface="Helvetica Neue Medium" panose="02000503000000020004" pitchFamily="2" charset="0"/>
              <a:sym typeface="OpenAI Sans"/>
            </a:endParaRPr>
          </a:p>
        </p:txBody>
      </p:sp>
      <p:sp>
        <p:nvSpPr>
          <p:cNvPr id="3" name="Rounded Rectangle 2">
            <a:extLst>
              <a:ext uri="{FF2B5EF4-FFF2-40B4-BE49-F238E27FC236}">
                <a16:creationId id="{F16B487F-1A7A-C301-4AB8-8DC1C19839AB}"/>
              </a:ext>
            </a:extLst>
          </p:cNvPr>
          <p:cNvSpPr/>
          <p:nvPr/>
        </p:nvSpPr>
        <p:spPr>
          <a:xfrm>
            <a:off x="2349499" y="2093356"/>
            <a:ext cx="2271780" cy="402442"/>
          </a:xfrm>
          <a:prstGeom prst="roundRect">
            <a:avLst>
              <a:gd name="adj" fmla="val 15738"/>
            </a:avLst>
          </a:prstGeom>
          <a:solidFill>
            <a:schemeClr val="accent1">
              <a:alpha val="24648"/>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solidFill>
              </a:rPr>
              <a:t>DEMO READY</a:t>
            </a:r>
          </a:p>
        </p:txBody>
      </p:sp>
      <p:sp>
        <p:nvSpPr>
          <p:cNvPr id="14" name="TextBox 13">
            <a:extLst>
              <a:ext uri="{FF2B5EF4-FFF2-40B4-BE49-F238E27FC236}">
                <a16:creationId id="{F3AF61EC-DBA0-BFB1-3293-0BF5DB670691}"/>
              </a:ext>
            </a:extLst>
          </p:cNvPr>
          <p:cNvSpPr txBox="1"/>
          <p:nvPr/>
        </p:nvSpPr>
        <p:spPr>
          <a:xfrm>
            <a:off x="393699" y="4756098"/>
            <a:ext cx="5537199" cy="294165"/>
          </a:xfrm>
          <a:prstGeom prst="rect">
            <a:avLst/>
          </a:prstGeom>
          <a:noFill/>
        </p:spPr>
        <p:txBody>
          <a:bodyPr wrap="square" lIns="0" tIns="0" rIns="0" bIns="0">
            <a:spAutoFit/>
          </a:bodyPr>
          <a:lstStyle/>
          <a:p>
            <a:pPr marL="0" marR="0" lvl="0" indent="0" algn="l" defTabSz="914400" rtl="0" eaLnBrk="1" fontAlgn="auto" latinLnBrk="0" hangingPunct="1">
              <a:lnSpc>
                <a:spcPct val="114000"/>
              </a:lnSpc>
              <a:spcBef>
                <a:spcPts val="0"/>
              </a:spcBef>
              <a:spcAft>
                <a:spcPts val="800"/>
              </a:spcAft>
              <a:buClrTx/>
              <a:buSzTx/>
              <a:buFontTx/>
              <a:buNone/>
              <a:tabLst/>
              <a:defRPr/>
            </a:pPr>
            <a:r>
              <a:rPr kumimoji="0" lang="en-US" sz="1800" b="0" i="0" u="none" strike="noStrike" kern="1200" cap="none" spc="0" normalizeH="0" baseline="0" noProof="0" dirty="0">
                <a:ln>
                  <a:noFill/>
                </a:ln>
                <a:solidFill>
                  <a:srgbClr val="3357B8"/>
                </a:solidFill>
                <a:effectLst/>
                <a:uLnTx/>
                <a:uFillTx/>
                <a:latin typeface="Helvetica Neue Medium" panose="02000503000000020004" pitchFamily="2" charset="0"/>
                <a:ea typeface="Helvetica Neue Medium" panose="02000503000000020004" pitchFamily="2" charset="0"/>
                <a:cs typeface="Helvetica Neue Medium" panose="02000503000000020004" pitchFamily="2" charset="0"/>
                <a:sym typeface="OpenAI Sans"/>
              </a:rPr>
              <a:t>Bottom line</a:t>
            </a:r>
          </a:p>
        </p:txBody>
      </p:sp>
      <p:sp>
        <p:nvSpPr>
          <p:cNvPr id="18" name="Google Shape;534;p58">
            <a:extLst>
              <a:ext uri="{FF2B5EF4-FFF2-40B4-BE49-F238E27FC236}">
                <a16:creationId id="{47E14DB1-10CD-1A00-06DC-F11F90562A04}"/>
              </a:ext>
            </a:extLst>
          </p:cNvPr>
          <p:cNvSpPr txBox="1">
            <a:spLocks/>
          </p:cNvSpPr>
          <p:nvPr/>
        </p:nvSpPr>
        <p:spPr>
          <a:xfrm>
            <a:off x="386251" y="5134071"/>
            <a:ext cx="5537200" cy="860329"/>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800"/>
              </a:spcAft>
              <a:buNone/>
            </a:pP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No customer demand, willingness to pay, evaluator workload reduction, or real-world model accuracy has been measured. The next decision is whether to recruit pilot partners—not whether to scale a proven business.</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p>
        </p:txBody>
      </p:sp>
    </p:spTree>
  </p:cSld>
  <p:clrMapOvr>
    <a:masterClrMapping/>
  </p:clrMapOvr>
</p:sld>
</file>

<file path=ppt/slides/slide4.xml><?xml version="1.0" encoding="utf-8"?>
<p:sld xmlns:a="http://schemas.openxmlformats.org/drawingml/2006/main" xmlns:a16="http://schemas.microsoft.com/office/drawing/2014/main" xmlns:p="http://schemas.openxmlformats.org/presentationml/2006/main" xmlns:p14="http://schemas.microsoft.com/office/powerpoint/2010/main">
  <p:cSld>
    <p:spTree>
      <p:nvGrpSpPr>
        <p:cNvPr id="1" name="Shape 531">
          <a:extLst>
            <a:ext uri="{FF2B5EF4-FFF2-40B4-BE49-F238E27FC236}">
              <a16:creationId id="{FE338EF2-CCFB-FA1F-AED3-8C8C1BA35C4F}"/>
            </a:ext>
          </a:extLst>
        </p:cNvPr>
        <p:cNvGrpSpPr/>
        <p:nvPr/>
      </p:nvGrpSpPr>
      <p:grpSpPr>
        <a:xfrm>
          <a:off x="0" y="0"/>
          <a:ext cx="0" cy="0"/>
          <a:chOff x="0" y="0"/>
          <a:chExt cx="0" cy="0"/>
        </a:xfrm>
      </p:grpSpPr>
      <p:sp>
        <p:nvSpPr>
          <p:cNvPr id="532" name="Google Shape;532;p58">
            <a:extLst>
              <a:ext uri="{FF2B5EF4-FFF2-40B4-BE49-F238E27FC236}">
                <a16:creationId id="{CAD38C25-48AC-5A29-D53A-82080FAF926E}"/>
              </a:ext>
            </a:extLst>
          </p:cNvPr>
          <p:cNvSpPr txBox="1">
            <a:spLocks noGrp="1"/>
          </p:cNvSpPr>
          <p:nvPr>
            <p:ph type="sldNum" sz="quarter" idx="4"/>
          </p:nvPr>
        </p:nvSpPr>
        <p:spPr>
          <a:prstGeom prst="rect">
            <a:avLst/>
          </a:prstGeom>
        </p:spPr>
        <p:txBody>
          <a:bodyPr spcFirstLastPara="1" vert="horz" wrap="square" lIns="0" tIns="0" rIns="0" bIns="0" rtlCol="0" anchor="b" anchorCtr="0">
            <a:noAutofit/>
          </a:bodyPr>
          <a:lstStyle/>
          <a:p>
            <a:fld id="{00000000-1234-1234-1234-123412341234}" type="slidenum">
              <a:rPr lang="en">
                <a:sym typeface="OpenAI Sans"/>
              </a:rPr>
              <a:pPr/>
              <a:t>4</a:t>
            </a:fld>
            <a:endParaRPr dirty="0">
              <a:sym typeface="OpenAI Sans"/>
            </a:endParaRPr>
          </a:p>
        </p:txBody>
      </p:sp>
      <p:sp>
        <p:nvSpPr>
          <p:cNvPr id="533" name="Google Shape;533;p58">
            <a:extLst>
              <a:ext uri="{FF2B5EF4-FFF2-40B4-BE49-F238E27FC236}">
                <a16:creationId id="{33E8FE18-95DE-C7EA-9E95-10B82189367E}"/>
              </a:ext>
            </a:extLst>
          </p:cNvPr>
          <p:cNvSpPr txBox="1">
            <a:spLocks noGrp="1"/>
          </p:cNvSpPr>
          <p:nvPr>
            <p:ph type="title"/>
          </p:nvPr>
        </p:nvSpPr>
        <p:spPr>
          <a:xfrm>
            <a:off x="393699" y="344009"/>
            <a:ext cx="11404599" cy="595791"/>
          </a:xfrm>
          <a:prstGeom prst="rect">
            <a:avLst/>
          </a:prstGeom>
        </p:spPr>
        <p:txBody>
          <a:bodyPr spcFirstLastPara="1" vert="horz" wrap="square" lIns="0" tIns="0" rIns="0" bIns="0" rtlCol="0" anchor="t" anchorCtr="0">
            <a:noAutofit/>
          </a:bodyPr>
          <a:lstStyle/>
          <a:p>
            <a:r>
              <a:rPr lang="en-US" dirty="0">
                <a:solidFill>
                  <a:schemeClr val="accent1"/>
                </a:solidFill>
              </a:rPr>
              <a:t>Current business and delivery status</a:t>
            </a:r>
            <a:endParaRPr dirty="0">
              <a:solidFill>
                <a:schemeClr val="accent1"/>
              </a:solidFill>
            </a:endParaRPr>
          </a:p>
        </p:txBody>
      </p:sp>
      <p:sp>
        <p:nvSpPr>
          <p:cNvPr id="7" name="Rounded Rectangle 6">
            <a:extLst>
              <a:ext uri="{FF2B5EF4-FFF2-40B4-BE49-F238E27FC236}">
                <a16:creationId id="{9E3149F3-A7D7-BC8F-C84C-4A4E60EA2799}"/>
              </a:ext>
            </a:extLst>
          </p:cNvPr>
          <p:cNvSpPr/>
          <p:nvPr/>
        </p:nvSpPr>
        <p:spPr>
          <a:xfrm>
            <a:off x="6264412" y="2537496"/>
            <a:ext cx="5533887" cy="1638300"/>
          </a:xfrm>
          <a:prstGeom prst="roundRect">
            <a:avLst>
              <a:gd name="adj" fmla="val 3585"/>
            </a:avLst>
          </a:prstGeom>
          <a:noFill/>
          <a:ln w="127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9" name="Rounded Rectangle 8">
            <a:extLst>
              <a:ext uri="{FF2B5EF4-FFF2-40B4-BE49-F238E27FC236}">
                <a16:creationId id="{5CD1077A-BBDF-3B07-D940-FA5482CB0124}"/>
              </a:ext>
            </a:extLst>
          </p:cNvPr>
          <p:cNvSpPr/>
          <p:nvPr/>
        </p:nvSpPr>
        <p:spPr>
          <a:xfrm>
            <a:off x="409043" y="2537496"/>
            <a:ext cx="5533887" cy="1638300"/>
          </a:xfrm>
          <a:prstGeom prst="roundRect">
            <a:avLst>
              <a:gd name="adj" fmla="val 3585"/>
            </a:avLst>
          </a:prstGeom>
          <a:noFill/>
          <a:ln w="127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0" name="Content Placeholder 10">
            <a:extLst>
              <a:ext uri="{FF2B5EF4-FFF2-40B4-BE49-F238E27FC236}">
                <a16:creationId id="{B54A841D-1EA0-6181-C778-7C851CA6E64E}"/>
              </a:ext>
            </a:extLst>
          </p:cNvPr>
          <p:cNvSpPr txBox="1">
            <a:spLocks/>
          </p:cNvSpPr>
          <p:nvPr/>
        </p:nvSpPr>
        <p:spPr>
          <a:xfrm>
            <a:off x="706278" y="3250891"/>
            <a:ext cx="4986886" cy="597539"/>
          </a:xfrm>
          <a:prstGeom prst="rect">
            <a:avLst/>
          </a:prstGeom>
        </p:spPr>
        <p:txBody>
          <a:bodyPr vert="horz" lIns="0" tIns="0" rIns="0" bIns="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300"/>
              </a:spcBef>
              <a:spcAft>
                <a:spcPts val="1300"/>
              </a:spcAft>
              <a:buClrTx/>
              <a:buSzTx/>
              <a:buFontTx/>
              <a:buNone/>
              <a:tabLst/>
              <a:defRPr/>
            </a:pP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Setup, uploads, linked timeline, evaluator review, action tracking, and PDF report export work in the demo.</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p>
        </p:txBody>
      </p:sp>
      <p:sp>
        <p:nvSpPr>
          <p:cNvPr id="2" name="Rounded Rectangle 1">
            <a:extLst>
              <a:ext uri="{FF2B5EF4-FFF2-40B4-BE49-F238E27FC236}">
                <a16:creationId id="{B4E203EC-EB81-96EF-66AB-3B6012B4B3EF}"/>
              </a:ext>
            </a:extLst>
          </p:cNvPr>
          <p:cNvSpPr/>
          <p:nvPr/>
        </p:nvSpPr>
        <p:spPr>
          <a:xfrm>
            <a:off x="6264412" y="4370106"/>
            <a:ext cx="5533887" cy="1638300"/>
          </a:xfrm>
          <a:prstGeom prst="roundRect">
            <a:avLst>
              <a:gd name="adj" fmla="val 3585"/>
            </a:avLst>
          </a:prstGeom>
          <a:noFill/>
          <a:ln w="127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4" name="Rounded Rectangle 3">
            <a:extLst>
              <a:ext uri="{FF2B5EF4-FFF2-40B4-BE49-F238E27FC236}">
                <a16:creationId id="{2000F722-C0CE-FDAF-EAFE-20BC4A7F4118}"/>
              </a:ext>
            </a:extLst>
          </p:cNvPr>
          <p:cNvSpPr/>
          <p:nvPr/>
        </p:nvSpPr>
        <p:spPr>
          <a:xfrm>
            <a:off x="409043" y="4370106"/>
            <a:ext cx="5533887" cy="1638300"/>
          </a:xfrm>
          <a:prstGeom prst="roundRect">
            <a:avLst>
              <a:gd name="adj" fmla="val 3585"/>
            </a:avLst>
          </a:prstGeom>
          <a:noFill/>
          <a:ln w="127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1" name="Footer Placeholder 10">
            <a:extLst>
              <a:ext uri="{FF2B5EF4-FFF2-40B4-BE49-F238E27FC236}">
                <a16:creationId id="{A4694142-7504-448C-B110-ABCB1A6DD41E}"/>
              </a:ext>
            </a:extLst>
          </p:cNvPr>
          <p:cNvSpPr>
            <a:spLocks noGrp="1"/>
          </p:cNvSpPr>
          <p:nvPr>
            <p:ph type="ftr" sz="quarter" idx="3"/>
          </p:nvPr>
        </p:nvSpPr>
        <p:spPr/>
        <p:txBody>
          <a:bodyPr/>
          <a:lstStyle/>
          <a:p>
            <a:endParaRPr lang="en-US" sz="1100" dirty="0"/>
          </a:p>
        </p:txBody>
      </p:sp>
      <p:sp>
        <p:nvSpPr>
          <p:cNvPr id="12" name="Google Shape;534;p58">
            <a:extLst>
              <a:ext uri="{FF2B5EF4-FFF2-40B4-BE49-F238E27FC236}">
                <a16:creationId id="{F393FB38-1005-6250-1642-93C1A76E0B77}"/>
              </a:ext>
            </a:extLst>
          </p:cNvPr>
          <p:cNvSpPr txBox="1">
            <a:spLocks/>
          </p:cNvSpPr>
          <p:nvPr/>
        </p:nvSpPr>
        <p:spPr>
          <a:xfrm>
            <a:off x="393700" y="1649094"/>
            <a:ext cx="11404600" cy="634044"/>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800"/>
              </a:spcAft>
              <a:buFont typeface="Arial" panose="020B0604020202020204" pitchFamily="34" charset="0"/>
              <a:buNone/>
            </a:pP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The local demo is functional. It proposes findings with source links and leaves review decisions to authorized people.</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p>
        </p:txBody>
      </p:sp>
      <p:sp>
        <p:nvSpPr>
          <p:cNvPr id="13" name="Google Shape;534;p58">
            <a:extLst>
              <a:ext uri="{FF2B5EF4-FFF2-40B4-BE49-F238E27FC236}">
                <a16:creationId id="{A0F4C075-109A-7DDE-18C9-18F128552C24}"/>
              </a:ext>
            </a:extLst>
          </p:cNvPr>
          <p:cNvSpPr txBox="1">
            <a:spLocks/>
          </p:cNvSpPr>
          <p:nvPr/>
        </p:nvSpPr>
        <p:spPr>
          <a:xfrm>
            <a:off x="393699" y="1146566"/>
            <a:ext cx="11404599" cy="402442"/>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800"/>
              </a:spcAft>
              <a:buFont typeface="Arial" panose="020B0604020202020204" pitchFamily="34" charset="0"/>
              <a:buNone/>
            </a:pPr>
            <a:r>
              <a:rPr lang="en-US" sz="2000" dirty="0">
                <a:latin typeface="+mj-lt"/>
                <a:ea typeface="Helvetica Neue" panose="02000503000000020004" pitchFamily="2" charset="0"/>
                <a:cs typeface="Helvetica Neue" panose="02000503000000020004" pitchFamily="2" charset="0"/>
                <a:sym typeface="OpenAI Sans"/>
              </a:rPr>
              <a:t>Working demo; commercial assumptions remain untested.</a:t>
            </a:r>
            <a:r>
              <a:rPr lang="en-US" sz="2000" dirty="0" err="1">
                <a:latin typeface="+mj-lt"/>
                <a:ea typeface="Helvetica Neue" panose="02000503000000020004" pitchFamily="2" charset="0"/>
                <a:cs typeface="Helvetica Neue" panose="02000503000000020004" pitchFamily="2" charset="0"/>
                <a:sym typeface="OpenAI Sans"/>
              </a:rPr>
              <a:t/>
            </a:r>
            <a:r>
              <a:rPr lang="en-US" sz="2000" dirty="0">
                <a:latin typeface="+mj-lt"/>
                <a:ea typeface="Helvetica Neue" panose="02000503000000020004" pitchFamily="2" charset="0"/>
                <a:cs typeface="Helvetica Neue" panose="02000503000000020004" pitchFamily="2" charset="0"/>
                <a:sym typeface="OpenAI Sans"/>
              </a:rPr>
              <a:t/>
            </a:r>
            <a:r>
              <a:rPr lang="en-US" sz="2000" dirty="0" err="1">
                <a:latin typeface="+mj-lt"/>
                <a:ea typeface="Helvetica Neue" panose="02000503000000020004" pitchFamily="2" charset="0"/>
                <a:cs typeface="Helvetica Neue" panose="02000503000000020004" pitchFamily="2" charset="0"/>
                <a:sym typeface="OpenAI Sans"/>
              </a:rPr>
              <a:t/>
            </a:r>
            <a:r>
              <a:rPr lang="en-US" sz="2000" dirty="0">
                <a:latin typeface="+mj-lt"/>
                <a:ea typeface="Helvetica Neue" panose="02000503000000020004" pitchFamily="2" charset="0"/>
                <a:cs typeface="Helvetica Neue" panose="02000503000000020004" pitchFamily="2" charset="0"/>
                <a:sym typeface="OpenAI Sans"/>
              </a:rPr>
              <a:t/>
            </a:r>
            <a:r>
              <a:rPr lang="en-US" sz="2000" dirty="0" err="1">
                <a:latin typeface="+mj-lt"/>
                <a:ea typeface="Helvetica Neue" panose="02000503000000020004" pitchFamily="2" charset="0"/>
                <a:cs typeface="Helvetica Neue" panose="02000503000000020004" pitchFamily="2" charset="0"/>
                <a:sym typeface="OpenAI Sans"/>
              </a:rPr>
              <a:t/>
            </a:r>
            <a:r>
              <a:rPr lang="en-US" sz="2000" dirty="0">
                <a:latin typeface="+mj-lt"/>
                <a:ea typeface="Helvetica Neue" panose="02000503000000020004" pitchFamily="2" charset="0"/>
                <a:cs typeface="Helvetica Neue" panose="02000503000000020004" pitchFamily="2" charset="0"/>
                <a:sym typeface="OpenAI Sans"/>
              </a:rPr>
              <a:t/>
            </a:r>
            <a:r>
              <a:rPr lang="en-US" sz="2000" dirty="0" err="1">
                <a:latin typeface="+mj-lt"/>
                <a:ea typeface="Helvetica Neue" panose="02000503000000020004" pitchFamily="2" charset="0"/>
                <a:cs typeface="Helvetica Neue" panose="02000503000000020004" pitchFamily="2" charset="0"/>
                <a:sym typeface="OpenAI Sans"/>
              </a:rPr>
              <a:t/>
            </a:r>
            <a:r>
              <a:rPr lang="en-US" sz="2000" dirty="0">
                <a:latin typeface="+mj-lt"/>
                <a:ea typeface="Helvetica Neue" panose="02000503000000020004" pitchFamily="2" charset="0"/>
                <a:cs typeface="Helvetica Neue" panose="02000503000000020004" pitchFamily="2" charset="0"/>
                <a:sym typeface="OpenAI Sans"/>
              </a:rPr>
              <a:t/>
            </a:r>
            <a:endParaRPr lang="en-US" sz="2000" dirty="0">
              <a:latin typeface="+mj-lt"/>
              <a:ea typeface="Helvetica Neue Medium" panose="02000503000000020004" pitchFamily="2" charset="0"/>
              <a:cs typeface="Helvetica Neue Medium" panose="02000503000000020004" pitchFamily="2" charset="0"/>
              <a:sym typeface="OpenAI Sans"/>
            </a:endParaRPr>
          </a:p>
        </p:txBody>
      </p:sp>
      <p:sp>
        <p:nvSpPr>
          <p:cNvPr id="14" name="TextBox 13">
            <a:extLst>
              <a:ext uri="{FF2B5EF4-FFF2-40B4-BE49-F238E27FC236}">
                <a16:creationId id="{49DCE927-F1A4-A9ED-C839-844BB688547F}"/>
              </a:ext>
            </a:extLst>
          </p:cNvPr>
          <p:cNvSpPr txBox="1"/>
          <p:nvPr/>
        </p:nvSpPr>
        <p:spPr>
          <a:xfrm>
            <a:off x="702967" y="2793808"/>
            <a:ext cx="4986886" cy="287258"/>
          </a:xfrm>
          <a:prstGeom prst="rect">
            <a:avLst/>
          </a:prstGeom>
          <a:noFill/>
        </p:spPr>
        <p:txBody>
          <a:bodyPr wrap="square" lIns="0" tIns="0" rIns="0" bIns="0">
            <a:spAutoFit/>
          </a:bodyPr>
          <a:lstStyle/>
          <a:p>
            <a:pPr marL="0" marR="0" lvl="0" indent="0" algn="l" defTabSz="914400" rtl="0" eaLnBrk="1" fontAlgn="auto" latinLnBrk="0" hangingPunct="1">
              <a:lnSpc>
                <a:spcPct val="114000"/>
              </a:lnSpc>
              <a:spcBef>
                <a:spcPts val="0"/>
              </a:spcBef>
              <a:spcAft>
                <a:spcPts val="800"/>
              </a:spcAft>
              <a:buClrTx/>
              <a:buSzTx/>
              <a:buFontTx/>
              <a:buNone/>
              <a:tabLst/>
              <a:defRPr/>
            </a:pPr>
            <a:r>
              <a:rPr kumimoji="0" lang="en-US" sz="1800" b="0" i="0" u="none" strike="noStrike" kern="1200" cap="none" spc="0" normalizeH="0" baseline="0" noProof="0" dirty="0">
                <a:ln>
                  <a:noFill/>
                </a:ln>
                <a:solidFill>
                  <a:srgbClr val="3357B8"/>
                </a:solidFill>
                <a:effectLst/>
                <a:uLnTx/>
                <a:uFillTx/>
                <a:latin typeface="Helvetica Neue Medium" panose="02000503000000020004" pitchFamily="2" charset="0"/>
                <a:ea typeface="Helvetica Neue Medium" panose="02000503000000020004" pitchFamily="2" charset="0"/>
                <a:cs typeface="Helvetica Neue Medium" panose="02000503000000020004" pitchFamily="2" charset="0"/>
                <a:sym typeface="OpenAI Sans"/>
              </a:rPr>
              <a:t>Working MVP</a:t>
            </a:r>
          </a:p>
        </p:txBody>
      </p:sp>
      <p:sp>
        <p:nvSpPr>
          <p:cNvPr id="16" name="Content Placeholder 10">
            <a:extLst>
              <a:ext uri="{FF2B5EF4-FFF2-40B4-BE49-F238E27FC236}">
                <a16:creationId id="{B71DDDF3-A6F6-A2D9-7F68-A246AE82F73A}"/>
              </a:ext>
            </a:extLst>
          </p:cNvPr>
          <p:cNvSpPr txBox="1">
            <a:spLocks/>
          </p:cNvSpPr>
          <p:nvPr/>
        </p:nvSpPr>
        <p:spPr>
          <a:xfrm>
            <a:off x="6558438" y="3250891"/>
            <a:ext cx="4986886" cy="597539"/>
          </a:xfrm>
          <a:prstGeom prst="rect">
            <a:avLst/>
          </a:prstGeom>
        </p:spPr>
        <p:txBody>
          <a:bodyPr vert="horz" lIns="0" tIns="0" rIns="0" bIns="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300"/>
              </a:spcBef>
              <a:spcAft>
                <a:spcPts val="1300"/>
              </a:spcAft>
              <a:buClrTx/>
              <a:buSzTx/>
              <a:buFontTx/>
              <a:buNone/>
              <a:tabLst/>
              <a:defRPr/>
            </a:pP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One fictional case: 8/8 event rows, 5/5 findings, and 9/9 expected source IDs matched.</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p>
        </p:txBody>
      </p:sp>
      <p:sp>
        <p:nvSpPr>
          <p:cNvPr id="17" name="TextBox 16">
            <a:extLst>
              <a:ext uri="{FF2B5EF4-FFF2-40B4-BE49-F238E27FC236}">
                <a16:creationId id="{BAD06467-8163-39A0-0B9A-1A98533B6978}"/>
              </a:ext>
            </a:extLst>
          </p:cNvPr>
          <p:cNvSpPr txBox="1"/>
          <p:nvPr/>
        </p:nvSpPr>
        <p:spPr>
          <a:xfrm>
            <a:off x="6555127" y="2793808"/>
            <a:ext cx="4986886" cy="287258"/>
          </a:xfrm>
          <a:prstGeom prst="rect">
            <a:avLst/>
          </a:prstGeom>
          <a:noFill/>
        </p:spPr>
        <p:txBody>
          <a:bodyPr wrap="square" lIns="0" tIns="0" rIns="0" bIns="0">
            <a:spAutoFit/>
          </a:bodyPr>
          <a:lstStyle/>
          <a:p>
            <a:pPr marL="0" marR="0" lvl="0" indent="0" algn="l" defTabSz="914400" rtl="0" eaLnBrk="1" fontAlgn="auto" latinLnBrk="0" hangingPunct="1">
              <a:lnSpc>
                <a:spcPct val="114000"/>
              </a:lnSpc>
              <a:spcBef>
                <a:spcPts val="0"/>
              </a:spcBef>
              <a:spcAft>
                <a:spcPts val="800"/>
              </a:spcAft>
              <a:buClrTx/>
              <a:buSzTx/>
              <a:buFontTx/>
              <a:buNone/>
              <a:tabLst/>
              <a:defRPr/>
            </a:pPr>
            <a:r>
              <a:rPr kumimoji="0" lang="en-US" sz="1800" b="0" i="0" u="none" strike="noStrike" kern="1200" cap="none" spc="0" normalizeH="0" baseline="0" noProof="0" dirty="0">
                <a:ln>
                  <a:noFill/>
                </a:ln>
                <a:solidFill>
                  <a:srgbClr val="3357B8"/>
                </a:solidFill>
                <a:effectLst/>
                <a:uLnTx/>
                <a:uFillTx/>
                <a:latin typeface="Helvetica Neue Medium" panose="02000503000000020004" pitchFamily="2" charset="0"/>
                <a:ea typeface="Helvetica Neue Medium" panose="02000503000000020004" pitchFamily="2" charset="0"/>
                <a:cs typeface="Helvetica Neue Medium" panose="02000503000000020004" pitchFamily="2" charset="0"/>
                <a:sym typeface="OpenAI Sans"/>
              </a:rPr>
              <a:t>Synthetic benchmark</a:t>
            </a:r>
          </a:p>
        </p:txBody>
      </p:sp>
      <p:sp>
        <p:nvSpPr>
          <p:cNvPr id="18" name="Content Placeholder 10">
            <a:extLst>
              <a:ext uri="{FF2B5EF4-FFF2-40B4-BE49-F238E27FC236}">
                <a16:creationId id="{E61F5831-A6CA-0036-3E5C-283D4EBAFE55}"/>
              </a:ext>
            </a:extLst>
          </p:cNvPr>
          <p:cNvSpPr txBox="1">
            <a:spLocks/>
          </p:cNvSpPr>
          <p:nvPr/>
        </p:nvSpPr>
        <p:spPr>
          <a:xfrm>
            <a:off x="706278" y="5094931"/>
            <a:ext cx="4986886" cy="597539"/>
          </a:xfrm>
          <a:prstGeom prst="rect">
            <a:avLst/>
          </a:prstGeom>
        </p:spPr>
        <p:txBody>
          <a:bodyPr vert="horz" lIns="0" tIns="0" rIns="0" bIns="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300"/>
              </a:spcBef>
              <a:spcAft>
                <a:spcPts val="1300"/>
              </a:spcAft>
              <a:buClrTx/>
              <a:buSzTx/>
              <a:buFontTx/>
              <a:buNone/>
              <a:tabLst/>
              <a:defRPr/>
            </a:pP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Hospitals and municipal teams are candidate pilots; demand and willingness to pay are untested.</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p>
        </p:txBody>
      </p:sp>
      <p:sp>
        <p:nvSpPr>
          <p:cNvPr id="19" name="TextBox 18">
            <a:extLst>
              <a:ext uri="{FF2B5EF4-FFF2-40B4-BE49-F238E27FC236}">
                <a16:creationId id="{1283300B-2E76-54E3-B3E8-C4CE0DA323BE}"/>
              </a:ext>
            </a:extLst>
          </p:cNvPr>
          <p:cNvSpPr txBox="1"/>
          <p:nvPr/>
        </p:nvSpPr>
        <p:spPr>
          <a:xfrm>
            <a:off x="702967" y="4637848"/>
            <a:ext cx="4986886" cy="287258"/>
          </a:xfrm>
          <a:prstGeom prst="rect">
            <a:avLst/>
          </a:prstGeom>
          <a:noFill/>
        </p:spPr>
        <p:txBody>
          <a:bodyPr wrap="square" lIns="0" tIns="0" rIns="0" bIns="0">
            <a:spAutoFit/>
          </a:bodyPr>
          <a:lstStyle/>
          <a:p>
            <a:pPr marL="0" marR="0" lvl="0" indent="0" algn="l" defTabSz="914400" rtl="0" eaLnBrk="1" fontAlgn="auto" latinLnBrk="0" hangingPunct="1">
              <a:lnSpc>
                <a:spcPct val="114000"/>
              </a:lnSpc>
              <a:spcBef>
                <a:spcPts val="0"/>
              </a:spcBef>
              <a:spcAft>
                <a:spcPts val="800"/>
              </a:spcAft>
              <a:buClrTx/>
              <a:buSzTx/>
              <a:buFontTx/>
              <a:buNone/>
              <a:tabLst/>
              <a:defRPr/>
            </a:pPr>
            <a:r>
              <a:rPr kumimoji="0" lang="en-US" sz="1800" b="0" i="0" u="none" strike="noStrike" kern="1200" cap="none" spc="0" normalizeH="0" baseline="0" noProof="0" dirty="0">
                <a:ln>
                  <a:noFill/>
                </a:ln>
                <a:solidFill>
                  <a:srgbClr val="3357B8"/>
                </a:solidFill>
                <a:effectLst/>
                <a:uLnTx/>
                <a:uFillTx/>
                <a:latin typeface="Helvetica Neue Medium" panose="02000503000000020004" pitchFamily="2" charset="0"/>
                <a:ea typeface="Helvetica Neue Medium" panose="02000503000000020004" pitchFamily="2" charset="0"/>
                <a:cs typeface="Helvetica Neue Medium" panose="02000503000000020004" pitchFamily="2" charset="0"/>
                <a:sym typeface="OpenAI Sans"/>
              </a:rPr>
              <a:t>Buyer hypothesis</a:t>
            </a:r>
          </a:p>
        </p:txBody>
      </p:sp>
      <p:sp>
        <p:nvSpPr>
          <p:cNvPr id="20" name="Content Placeholder 10">
            <a:extLst>
              <a:ext uri="{FF2B5EF4-FFF2-40B4-BE49-F238E27FC236}">
                <a16:creationId id="{91E87E4E-34C4-73A3-D9B4-5528035E3F32}"/>
              </a:ext>
            </a:extLst>
          </p:cNvPr>
          <p:cNvSpPr txBox="1">
            <a:spLocks/>
          </p:cNvSpPr>
          <p:nvPr/>
        </p:nvSpPr>
        <p:spPr>
          <a:xfrm>
            <a:off x="6558438" y="5094931"/>
            <a:ext cx="4986886" cy="597539"/>
          </a:xfrm>
          <a:prstGeom prst="rect">
            <a:avLst/>
          </a:prstGeom>
        </p:spPr>
        <p:txBody>
          <a:bodyPr vert="horz" lIns="0" tIns="0" rIns="0" bIns="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300"/>
              </a:spcBef>
              <a:spcAft>
                <a:spcPts val="1300"/>
              </a:spcAft>
              <a:buClrTx/>
              <a:buSzTx/>
              <a:buFontTx/>
              <a:buNone/>
              <a:tabLst/>
              <a:defRPr/>
            </a:pP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Real data needs approval. Citation quality, reviewer edits, and action closure need pilot validation.</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p>
        </p:txBody>
      </p:sp>
      <p:sp>
        <p:nvSpPr>
          <p:cNvPr id="21" name="TextBox 20">
            <a:extLst>
              <a:ext uri="{FF2B5EF4-FFF2-40B4-BE49-F238E27FC236}">
                <a16:creationId id="{4BBBD727-79F1-2502-A083-A18F5A754163}"/>
              </a:ext>
            </a:extLst>
          </p:cNvPr>
          <p:cNvSpPr txBox="1"/>
          <p:nvPr/>
        </p:nvSpPr>
        <p:spPr>
          <a:xfrm>
            <a:off x="6555127" y="4637848"/>
            <a:ext cx="4986886" cy="287258"/>
          </a:xfrm>
          <a:prstGeom prst="rect">
            <a:avLst/>
          </a:prstGeom>
          <a:noFill/>
        </p:spPr>
        <p:txBody>
          <a:bodyPr wrap="square" lIns="0" tIns="0" rIns="0" bIns="0">
            <a:spAutoFit/>
          </a:bodyPr>
          <a:lstStyle/>
          <a:p>
            <a:pPr marL="0" marR="0" lvl="0" indent="0" algn="l" defTabSz="914400" rtl="0" eaLnBrk="1" fontAlgn="auto" latinLnBrk="0" hangingPunct="1">
              <a:lnSpc>
                <a:spcPct val="114000"/>
              </a:lnSpc>
              <a:spcBef>
                <a:spcPts val="0"/>
              </a:spcBef>
              <a:spcAft>
                <a:spcPts val="800"/>
              </a:spcAft>
              <a:buClrTx/>
              <a:buSzTx/>
              <a:buFontTx/>
              <a:buNone/>
              <a:tabLst/>
              <a:defRPr/>
            </a:pPr>
            <a:r>
              <a:rPr kumimoji="0" lang="en-US" sz="1800" b="0" i="0" u="none" strike="noStrike" kern="1200" cap="none" spc="0" normalizeH="0" baseline="0" noProof="0" dirty="0">
                <a:ln>
                  <a:noFill/>
                </a:ln>
                <a:solidFill>
                  <a:srgbClr val="3357B8"/>
                </a:solidFill>
                <a:effectLst/>
                <a:uLnTx/>
                <a:uFillTx/>
                <a:latin typeface="Helvetica Neue Medium" panose="02000503000000020004" pitchFamily="2" charset="0"/>
                <a:ea typeface="Helvetica Neue Medium" panose="02000503000000020004" pitchFamily="2" charset="0"/>
                <a:cs typeface="Helvetica Neue Medium" panose="02000503000000020004" pitchFamily="2" charset="0"/>
                <a:sym typeface="OpenAI Sans"/>
              </a:rPr>
              <a:t>Key risk</a:t>
            </a:r>
          </a:p>
        </p:txBody>
      </p:sp>
    </p:spTree>
    <p:extLst>
      <p:ext uri="{BB962C8B-B14F-4D97-AF65-F5344CB8AC3E}">
        <p14:creationId val="2179535326"/>
      </p:ext>
    </p:extLst>
  </p:cSld>
  <p:clrMapOvr>
    <a:masterClrMapping/>
  </p:clrMapOvr>
</p:sld>
</file>

<file path=ppt/slides/slide5.xml><?xml version="1.0" encoding="utf-8"?>
<p:sld xmlns:a="http://schemas.openxmlformats.org/drawingml/2006/main" xmlns:a16="http://schemas.microsoft.com/office/drawing/2014/main" xmlns:p="http://schemas.openxmlformats.org/presentationml/2006/main" xmlns:p14="http://schemas.microsoft.com/office/powerpoint/2010/main">
  <p:cSld>
    <p:spTree>
      <p:nvGrpSpPr>
        <p:cNvPr id="1" name="Shape 531">
          <a:extLst>
            <a:ext uri="{FF2B5EF4-FFF2-40B4-BE49-F238E27FC236}">
              <a16:creationId id="{00781FDF-4130-4E67-D3EE-AE7C2129CF1F}"/>
            </a:ext>
          </a:extLst>
        </p:cNvPr>
        <p:cNvGrpSpPr/>
        <p:nvPr/>
      </p:nvGrpSpPr>
      <p:grpSpPr>
        <a:xfrm>
          <a:off x="0" y="0"/>
          <a:ext cx="0" cy="0"/>
          <a:chOff x="0" y="0"/>
          <a:chExt cx="0" cy="0"/>
        </a:xfrm>
      </p:grpSpPr>
      <p:sp>
        <p:nvSpPr>
          <p:cNvPr id="532" name="Google Shape;532;p58">
            <a:extLst>
              <a:ext uri="{FF2B5EF4-FFF2-40B4-BE49-F238E27FC236}">
                <a16:creationId id="{D6AD4425-62A5-20FE-DA81-DB0262F8E9D3}"/>
              </a:ext>
            </a:extLst>
          </p:cNvPr>
          <p:cNvSpPr txBox="1">
            <a:spLocks noGrp="1"/>
          </p:cNvSpPr>
          <p:nvPr>
            <p:ph type="sldNum" sz="quarter" idx="4"/>
          </p:nvPr>
        </p:nvSpPr>
        <p:spPr>
          <a:prstGeom prst="rect">
            <a:avLst/>
          </a:prstGeom>
        </p:spPr>
        <p:txBody>
          <a:bodyPr spcFirstLastPara="1" vert="horz" wrap="square" lIns="0" tIns="0" rIns="0" bIns="0" rtlCol="0" anchor="b" anchorCtr="0">
            <a:noAutofit/>
          </a:bodyPr>
          <a:lstStyle/>
          <a:p>
            <a:fld id="{00000000-1234-1234-1234-123412341234}" type="slidenum">
              <a:rPr lang="en">
                <a:sym typeface="OpenAI Sans"/>
              </a:rPr>
              <a:pPr/>
              <a:t>5</a:t>
            </a:fld>
            <a:endParaRPr dirty="0">
              <a:sym typeface="OpenAI Sans"/>
            </a:endParaRPr>
          </a:p>
        </p:txBody>
      </p:sp>
      <p:sp>
        <p:nvSpPr>
          <p:cNvPr id="533" name="Google Shape;533;p58">
            <a:extLst>
              <a:ext uri="{FF2B5EF4-FFF2-40B4-BE49-F238E27FC236}">
                <a16:creationId id="{CCB3C549-3412-D9EC-FC96-8C0EA25A4312}"/>
              </a:ext>
            </a:extLst>
          </p:cNvPr>
          <p:cNvSpPr txBox="1">
            <a:spLocks noGrp="1"/>
          </p:cNvSpPr>
          <p:nvPr>
            <p:ph type="title"/>
          </p:nvPr>
        </p:nvSpPr>
        <p:spPr>
          <a:xfrm>
            <a:off x="393699" y="344009"/>
            <a:ext cx="11404599" cy="595791"/>
          </a:xfrm>
          <a:prstGeom prst="rect">
            <a:avLst/>
          </a:prstGeom>
        </p:spPr>
        <p:txBody>
          <a:bodyPr spcFirstLastPara="1" vert="horz" wrap="square" lIns="0" tIns="0" rIns="0" bIns="0" rtlCol="0" anchor="t" anchorCtr="0">
            <a:noAutofit/>
          </a:bodyPr>
          <a:lstStyle/>
          <a:p>
            <a:r>
              <a:rPr lang="en-US" dirty="0">
                <a:solidFill>
                  <a:schemeClr val="accent1"/>
                </a:solidFill>
              </a:rPr>
              <a:t>Priorities for the next proof point</a:t>
            </a:r>
            <a:endParaRPr dirty="0">
              <a:solidFill>
                <a:schemeClr val="accent1"/>
              </a:solidFill>
            </a:endParaRPr>
          </a:p>
        </p:txBody>
      </p:sp>
      <p:sp>
        <p:nvSpPr>
          <p:cNvPr id="11" name="Footer Placeholder 10">
            <a:extLst>
              <a:ext uri="{FF2B5EF4-FFF2-40B4-BE49-F238E27FC236}">
                <a16:creationId id="{BD5D3365-630B-7DA2-6578-D2DE7ACBBC07}"/>
              </a:ext>
            </a:extLst>
          </p:cNvPr>
          <p:cNvSpPr>
            <a:spLocks noGrp="1"/>
          </p:cNvSpPr>
          <p:nvPr>
            <p:ph type="ftr" sz="quarter" idx="3"/>
          </p:nvPr>
        </p:nvSpPr>
        <p:spPr/>
        <p:txBody>
          <a:bodyPr/>
          <a:lstStyle/>
          <a:p>
            <a:endParaRPr lang="en-US" sz="1100" dirty="0"/>
          </a:p>
        </p:txBody>
      </p:sp>
      <p:sp>
        <p:nvSpPr>
          <p:cNvPr id="3" name="Google Shape;534;p58">
            <a:extLst>
              <a:ext uri="{FF2B5EF4-FFF2-40B4-BE49-F238E27FC236}">
                <a16:creationId id="{076E58D8-94E3-59EF-6F5D-94479531D945}"/>
              </a:ext>
            </a:extLst>
          </p:cNvPr>
          <p:cNvSpPr txBox="1">
            <a:spLocks/>
          </p:cNvSpPr>
          <p:nvPr/>
        </p:nvSpPr>
        <p:spPr>
          <a:xfrm>
            <a:off x="393700" y="2374900"/>
            <a:ext cx="5537200" cy="3619499"/>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800"/>
              </a:spcAft>
              <a:buFont typeface="Arial" panose="020B0604020202020204" pitchFamily="34" charset="0"/>
              <a:buNone/>
            </a:pP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Can evaluators find and verify source evidence faster?</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p>
          <a:p>
            <a:pPr marL="0" indent="0">
              <a:lnSpc>
                <a:spcPct val="114000"/>
              </a:lnSpc>
              <a:spcBef>
                <a:spcPts val="0"/>
              </a:spcBef>
              <a:spcAft>
                <a:spcPts val="800"/>
              </a:spcAft>
              <a:buFont typeface="Arial" panose="020B0604020202020204" pitchFamily="34" charset="0"/>
              <a:buNone/>
            </a:pP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Do cited records support each draft finding, and can teams assign and verify improvement tasks? Use synthetic or specifically approved records. Compare the process with current manual review; do not assume savings before measuring them.</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endPar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endParaRPr>
          </a:p>
        </p:txBody>
      </p:sp>
      <p:sp>
        <p:nvSpPr>
          <p:cNvPr id="5" name="Google Shape;534;p58">
            <a:extLst>
              <a:ext uri="{FF2B5EF4-FFF2-40B4-BE49-F238E27FC236}">
                <a16:creationId id="{EC39CC4A-7702-F34C-BFC1-C34643FFFDEE}"/>
              </a:ext>
            </a:extLst>
          </p:cNvPr>
          <p:cNvSpPr txBox="1">
            <a:spLocks/>
          </p:cNvSpPr>
          <p:nvPr/>
        </p:nvSpPr>
        <p:spPr>
          <a:xfrm>
            <a:off x="393700" y="1436666"/>
            <a:ext cx="5537200" cy="719318"/>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800"/>
              </a:spcAft>
              <a:buNone/>
            </a:pPr>
            <a:r>
              <a:rPr lang="en-US" sz="2000" dirty="0">
                <a:latin typeface="+mj-lt"/>
                <a:ea typeface="Helvetica Neue" panose="02000503000000020004" pitchFamily="2" charset="0"/>
                <a:cs typeface="Helvetica Neue" panose="02000503000000020004" pitchFamily="2" charset="0"/>
                <a:sym typeface="OpenAI Sans"/>
              </a:rPr>
              <a:t>A 90-day pilot should answer three practical questions:</a:t>
            </a:r>
            <a:r>
              <a:rPr lang="en-US" sz="2000" dirty="0" err="1">
                <a:latin typeface="+mj-lt"/>
                <a:ea typeface="Helvetica Neue" panose="02000503000000020004" pitchFamily="2" charset="0"/>
                <a:cs typeface="Helvetica Neue" panose="02000503000000020004" pitchFamily="2" charset="0"/>
                <a:sym typeface="OpenAI Sans"/>
              </a:rPr>
              <a:t/>
            </a:r>
            <a:r>
              <a:rPr lang="en-US" sz="2000" dirty="0">
                <a:latin typeface="+mj-lt"/>
                <a:ea typeface="Helvetica Neue" panose="02000503000000020004" pitchFamily="2" charset="0"/>
                <a:cs typeface="Helvetica Neue" panose="02000503000000020004" pitchFamily="2" charset="0"/>
                <a:sym typeface="OpenAI Sans"/>
              </a:rPr>
              <a:t/>
            </a:r>
            <a:r>
              <a:rPr lang="en-US" sz="2000" dirty="0" err="1">
                <a:latin typeface="+mj-lt"/>
                <a:ea typeface="Helvetica Neue" panose="02000503000000020004" pitchFamily="2" charset="0"/>
                <a:cs typeface="Helvetica Neue" panose="02000503000000020004" pitchFamily="2" charset="0"/>
                <a:sym typeface="OpenAI Sans"/>
              </a:rPr>
              <a:t/>
            </a:r>
            <a:r>
              <a:rPr lang="en-US" sz="2000" dirty="0">
                <a:latin typeface="+mj-lt"/>
                <a:ea typeface="Helvetica Neue" panose="02000503000000020004" pitchFamily="2" charset="0"/>
                <a:cs typeface="Helvetica Neue" panose="02000503000000020004" pitchFamily="2" charset="0"/>
                <a:sym typeface="OpenAI Sans"/>
              </a:rPr>
              <a:t/>
            </a:r>
            <a:r>
              <a:rPr lang="en-US" sz="2000" dirty="0" err="1">
                <a:latin typeface="+mj-lt"/>
                <a:ea typeface="Helvetica Neue" panose="02000503000000020004" pitchFamily="2" charset="0"/>
                <a:cs typeface="Helvetica Neue" panose="02000503000000020004" pitchFamily="2" charset="0"/>
                <a:sym typeface="OpenAI Sans"/>
              </a:rPr>
              <a:t/>
            </a:r>
            <a:r>
              <a:rPr lang="en-US" sz="2000" dirty="0">
                <a:latin typeface="+mj-lt"/>
                <a:ea typeface="Helvetica Neue" panose="02000503000000020004" pitchFamily="2" charset="0"/>
                <a:cs typeface="Helvetica Neue" panose="02000503000000020004" pitchFamily="2" charset="0"/>
                <a:sym typeface="OpenAI Sans"/>
              </a:rPr>
              <a:t/>
            </a:r>
            <a:r>
              <a:rPr lang="en-US" sz="2000" dirty="0" err="1">
                <a:latin typeface="+mj-lt"/>
                <a:ea typeface="Helvetica Neue" panose="02000503000000020004" pitchFamily="2" charset="0"/>
                <a:cs typeface="Helvetica Neue" panose="02000503000000020004" pitchFamily="2" charset="0"/>
                <a:sym typeface="OpenAI Sans"/>
              </a:rPr>
              <a:t/>
            </a:r>
            <a:r>
              <a:rPr lang="en-US" sz="2000" dirty="0">
                <a:latin typeface="+mj-lt"/>
                <a:ea typeface="Helvetica Neue" panose="02000503000000020004" pitchFamily="2" charset="0"/>
                <a:cs typeface="Helvetica Neue" panose="02000503000000020004" pitchFamily="2" charset="0"/>
                <a:sym typeface="OpenAI Sans"/>
              </a:rPr>
              <a:t/>
            </a:r>
            <a:r>
              <a:rPr lang="en-US" sz="2000" dirty="0" err="1">
                <a:latin typeface="+mj-lt"/>
                <a:ea typeface="Helvetica Neue" panose="02000503000000020004" pitchFamily="2" charset="0"/>
                <a:cs typeface="Helvetica Neue" panose="02000503000000020004" pitchFamily="2" charset="0"/>
                <a:sym typeface="OpenAI Sans"/>
              </a:rPr>
              <a:t/>
            </a:r>
            <a:r>
              <a:rPr lang="en-US" sz="2000" dirty="0">
                <a:latin typeface="+mj-lt"/>
                <a:ea typeface="Helvetica Neue" panose="02000503000000020004" pitchFamily="2" charset="0"/>
                <a:cs typeface="Helvetica Neue" panose="02000503000000020004" pitchFamily="2" charset="0"/>
                <a:sym typeface="OpenAI Sans"/>
              </a:rPr>
              <a:t/>
            </a:r>
            <a:r>
              <a:rPr lang="en-US" sz="2000" dirty="0" err="1">
                <a:latin typeface="+mj-lt"/>
                <a:ea typeface="Helvetica Neue" panose="02000503000000020004" pitchFamily="2" charset="0"/>
                <a:cs typeface="Helvetica Neue" panose="02000503000000020004" pitchFamily="2" charset="0"/>
                <a:sym typeface="OpenAI Sans"/>
              </a:rPr>
              <a:t/>
            </a:r>
            <a:r>
              <a:rPr lang="en-US" sz="2000" dirty="0">
                <a:latin typeface="+mj-lt"/>
                <a:ea typeface="Helvetica Neue" panose="02000503000000020004" pitchFamily="2" charset="0"/>
                <a:cs typeface="Helvetica Neue" panose="02000503000000020004" pitchFamily="2" charset="0"/>
                <a:sym typeface="OpenAI Sans"/>
              </a:rPr>
              <a:t/>
            </a:r>
          </a:p>
        </p:txBody>
      </p:sp>
      <p:sp>
        <p:nvSpPr>
          <p:cNvPr id="27" name="Content Placeholder 10">
            <a:extLst>
              <a:ext uri="{FF2B5EF4-FFF2-40B4-BE49-F238E27FC236}">
                <a16:creationId id="{B4FA777D-1E43-2118-018B-D684DB7EFEF1}"/>
              </a:ext>
            </a:extLst>
          </p:cNvPr>
          <p:cNvSpPr txBox="1">
            <a:spLocks/>
          </p:cNvSpPr>
          <p:nvPr/>
        </p:nvSpPr>
        <p:spPr>
          <a:xfrm>
            <a:off x="6648104" y="2184252"/>
            <a:ext cx="5014766" cy="597539"/>
          </a:xfrm>
          <a:prstGeom prst="rect">
            <a:avLst/>
          </a:prstGeom>
        </p:spPr>
        <p:txBody>
          <a:bodyPr vert="horz" lIns="0" tIns="0" rIns="0" bIns="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300"/>
              </a:spcBef>
              <a:spcAft>
                <a:spcPts val="1300"/>
              </a:spcAft>
              <a:buClrTx/>
              <a:buSzTx/>
              <a:buFontTx/>
              <a:buNone/>
              <a:tabLst/>
              <a:defRPr/>
            </a:pPr>
            <a:r>
              <a:rPr kumimoji="0" lang="en-US" sz="14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Seek 2–3 willing hospital or municipal exercise teams and an evaluator contact.</a:t>
            </a:r>
            <a:r>
              <a:rPr kumimoji="0" lang="en-US" sz="14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p>
        </p:txBody>
      </p:sp>
      <p:sp>
        <p:nvSpPr>
          <p:cNvPr id="28" name="TextBox 27">
            <a:extLst>
              <a:ext uri="{FF2B5EF4-FFF2-40B4-BE49-F238E27FC236}">
                <a16:creationId id="{F2F01BD9-1359-C69B-3F1A-A36534227FFE}"/>
              </a:ext>
            </a:extLst>
          </p:cNvPr>
          <p:cNvSpPr txBox="1"/>
          <p:nvPr/>
        </p:nvSpPr>
        <p:spPr>
          <a:xfrm>
            <a:off x="6644793" y="1813255"/>
            <a:ext cx="5014766" cy="223394"/>
          </a:xfrm>
          <a:prstGeom prst="rect">
            <a:avLst/>
          </a:prstGeom>
          <a:noFill/>
        </p:spPr>
        <p:txBody>
          <a:bodyPr wrap="square" lIns="0" tIns="0" rIns="0" bIns="0">
            <a:spAutoFit/>
          </a:bodyPr>
          <a:lstStyle/>
          <a:p>
            <a:pPr marL="0" marR="0" lvl="0" indent="0" algn="l" defTabSz="914400" rtl="0" eaLnBrk="1" fontAlgn="auto" latinLnBrk="0" hangingPunct="1">
              <a:lnSpc>
                <a:spcPct val="114000"/>
              </a:lnSpc>
              <a:spcBef>
                <a:spcPts val="0"/>
              </a:spcBef>
              <a:spcAft>
                <a:spcPts val="800"/>
              </a:spcAft>
              <a:buClrTx/>
              <a:buSzTx/>
              <a:buFontTx/>
              <a:buNone/>
              <a:tabLst/>
              <a:defRPr/>
            </a:pPr>
            <a:r>
              <a:rPr kumimoji="0" lang="en-US" sz="1400" b="0" i="0" u="none" strike="noStrike" kern="1200" cap="none" spc="0" normalizeH="0" baseline="0" noProof="0" dirty="0">
                <a:ln>
                  <a:noFill/>
                </a:ln>
                <a:solidFill>
                  <a:srgbClr val="3357B8"/>
                </a:solidFill>
                <a:effectLst/>
                <a:uLnTx/>
                <a:uFillTx/>
                <a:latin typeface="Helvetica Neue Medium" panose="02000503000000020004" pitchFamily="2" charset="0"/>
                <a:ea typeface="Helvetica Neue Medium" panose="02000503000000020004" pitchFamily="2" charset="0"/>
                <a:cs typeface="Helvetica Neue Medium" panose="02000503000000020004" pitchFamily="2" charset="0"/>
                <a:sym typeface="OpenAI Sans"/>
              </a:rPr>
              <a:t>Recruit pilot teams</a:t>
            </a:r>
          </a:p>
        </p:txBody>
      </p:sp>
      <p:sp>
        <p:nvSpPr>
          <p:cNvPr id="2" name="Rounded Rectangle 1">
            <a:extLst>
              <a:ext uri="{FF2B5EF4-FFF2-40B4-BE49-F238E27FC236}">
                <a16:creationId id="{3C99D68F-34ED-A722-D7DB-03942B0B77DB}"/>
              </a:ext>
            </a:extLst>
          </p:cNvPr>
          <p:cNvSpPr/>
          <p:nvPr/>
        </p:nvSpPr>
        <p:spPr>
          <a:xfrm>
            <a:off x="6405842" y="1521935"/>
            <a:ext cx="5394187" cy="1393857"/>
          </a:xfrm>
          <a:prstGeom prst="roundRect">
            <a:avLst>
              <a:gd name="adj" fmla="val 3585"/>
            </a:avLst>
          </a:prstGeom>
          <a:noFill/>
          <a:ln w="127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4" name="Content Placeholder 10">
            <a:extLst>
              <a:ext uri="{FF2B5EF4-FFF2-40B4-BE49-F238E27FC236}">
                <a16:creationId id="{32674159-B6E6-B9EF-D753-5EF1E687140B}"/>
              </a:ext>
            </a:extLst>
          </p:cNvPr>
          <p:cNvSpPr txBox="1">
            <a:spLocks/>
          </p:cNvSpPr>
          <p:nvPr/>
        </p:nvSpPr>
        <p:spPr>
          <a:xfrm>
            <a:off x="6648104" y="3693012"/>
            <a:ext cx="5014766" cy="597539"/>
          </a:xfrm>
          <a:prstGeom prst="rect">
            <a:avLst/>
          </a:prstGeom>
        </p:spPr>
        <p:txBody>
          <a:bodyPr vert="horz" lIns="0" tIns="0" rIns="0" bIns="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300"/>
              </a:spcBef>
              <a:spcAft>
                <a:spcPts val="1300"/>
              </a:spcAft>
              <a:buClrTx/>
              <a:buSzTx/>
              <a:buFontTx/>
              <a:buNone/>
              <a:tabLst/>
              <a:defRPr/>
            </a:pPr>
            <a:r>
              <a:rPr kumimoji="0" lang="en-US" sz="14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Time evidence lookup and report drafting; count reviewer edits and citation corrections.</a:t>
            </a:r>
            <a:r>
              <a:rPr kumimoji="0" lang="en-US" sz="14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p>
        </p:txBody>
      </p:sp>
      <p:sp>
        <p:nvSpPr>
          <p:cNvPr id="6" name="TextBox 5">
            <a:extLst>
              <a:ext uri="{FF2B5EF4-FFF2-40B4-BE49-F238E27FC236}">
                <a16:creationId id="{57D84212-7716-6AFC-2CCA-1118E41834EC}"/>
              </a:ext>
            </a:extLst>
          </p:cNvPr>
          <p:cNvSpPr txBox="1"/>
          <p:nvPr/>
        </p:nvSpPr>
        <p:spPr>
          <a:xfrm>
            <a:off x="6644793" y="3322015"/>
            <a:ext cx="5014766" cy="223394"/>
          </a:xfrm>
          <a:prstGeom prst="rect">
            <a:avLst/>
          </a:prstGeom>
          <a:noFill/>
        </p:spPr>
        <p:txBody>
          <a:bodyPr wrap="square" lIns="0" tIns="0" rIns="0" bIns="0">
            <a:spAutoFit/>
          </a:bodyPr>
          <a:lstStyle/>
          <a:p>
            <a:pPr marL="0" marR="0" lvl="0" indent="0" algn="l" defTabSz="914400" rtl="0" eaLnBrk="1" fontAlgn="auto" latinLnBrk="0" hangingPunct="1">
              <a:lnSpc>
                <a:spcPct val="114000"/>
              </a:lnSpc>
              <a:spcBef>
                <a:spcPts val="0"/>
              </a:spcBef>
              <a:spcAft>
                <a:spcPts val="800"/>
              </a:spcAft>
              <a:buClrTx/>
              <a:buSzTx/>
              <a:buFontTx/>
              <a:buNone/>
              <a:tabLst/>
              <a:defRPr/>
            </a:pPr>
            <a:r>
              <a:rPr kumimoji="0" lang="en-US" sz="1400" b="0" i="0" u="none" strike="noStrike" kern="1200" cap="none" spc="0" normalizeH="0" baseline="0" noProof="0" dirty="0">
                <a:ln>
                  <a:noFill/>
                </a:ln>
                <a:solidFill>
                  <a:srgbClr val="3357B8"/>
                </a:solidFill>
                <a:effectLst/>
                <a:uLnTx/>
                <a:uFillTx/>
                <a:latin typeface="Helvetica Neue Medium" panose="02000503000000020004" pitchFamily="2" charset="0"/>
                <a:ea typeface="Helvetica Neue Medium" panose="02000503000000020004" pitchFamily="2" charset="0"/>
                <a:cs typeface="Helvetica Neue Medium" panose="02000503000000020004" pitchFamily="2" charset="0"/>
                <a:sym typeface="OpenAI Sans"/>
              </a:rPr>
              <a:t>Measure review workload</a:t>
            </a:r>
          </a:p>
        </p:txBody>
      </p:sp>
      <p:sp>
        <p:nvSpPr>
          <p:cNvPr id="7" name="Rounded Rectangle 6">
            <a:extLst>
              <a:ext uri="{FF2B5EF4-FFF2-40B4-BE49-F238E27FC236}">
                <a16:creationId id="{520BED9B-3AD0-B986-23FF-346EFF8EE6FA}"/>
              </a:ext>
            </a:extLst>
          </p:cNvPr>
          <p:cNvSpPr/>
          <p:nvPr/>
        </p:nvSpPr>
        <p:spPr>
          <a:xfrm>
            <a:off x="6405842" y="3030695"/>
            <a:ext cx="5394187" cy="1393857"/>
          </a:xfrm>
          <a:prstGeom prst="roundRect">
            <a:avLst>
              <a:gd name="adj" fmla="val 3585"/>
            </a:avLst>
          </a:prstGeom>
          <a:noFill/>
          <a:ln w="127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8" name="Content Placeholder 10">
            <a:extLst>
              <a:ext uri="{FF2B5EF4-FFF2-40B4-BE49-F238E27FC236}">
                <a16:creationId id="{58865802-6967-7210-3371-DEA6828B57A2}"/>
              </a:ext>
            </a:extLst>
          </p:cNvPr>
          <p:cNvSpPr txBox="1">
            <a:spLocks/>
          </p:cNvSpPr>
          <p:nvPr/>
        </p:nvSpPr>
        <p:spPr>
          <a:xfrm>
            <a:off x="6648105" y="5201772"/>
            <a:ext cx="5014766" cy="597539"/>
          </a:xfrm>
          <a:prstGeom prst="rect">
            <a:avLst/>
          </a:prstGeom>
        </p:spPr>
        <p:txBody>
          <a:bodyPr vert="horz" lIns="0" tIns="0" rIns="0" bIns="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300"/>
              </a:spcBef>
              <a:spcAft>
                <a:spcPts val="1300"/>
              </a:spcAft>
              <a:buClrTx/>
              <a:buSzTx/>
              <a:buFontTx/>
              <a:buNone/>
              <a:tabLst/>
              <a:defRPr/>
            </a:pPr>
            <a:r>
              <a:rPr kumimoji="0" lang="en-US" sz="14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Check owners, due dates, completion tests, and reviewer-confirmed closure evidence.</a:t>
            </a:r>
            <a:r>
              <a:rPr kumimoji="0" lang="en-US" sz="14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4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p>
        </p:txBody>
      </p:sp>
      <p:sp>
        <p:nvSpPr>
          <p:cNvPr id="9" name="TextBox 8">
            <a:extLst>
              <a:ext uri="{FF2B5EF4-FFF2-40B4-BE49-F238E27FC236}">
                <a16:creationId id="{DD2FEB2E-B2D7-376B-AFC1-B25E2E37C15B}"/>
              </a:ext>
            </a:extLst>
          </p:cNvPr>
          <p:cNvSpPr txBox="1"/>
          <p:nvPr/>
        </p:nvSpPr>
        <p:spPr>
          <a:xfrm>
            <a:off x="6644794" y="4830775"/>
            <a:ext cx="5014766" cy="223394"/>
          </a:xfrm>
          <a:prstGeom prst="rect">
            <a:avLst/>
          </a:prstGeom>
          <a:noFill/>
        </p:spPr>
        <p:txBody>
          <a:bodyPr wrap="square" lIns="0" tIns="0" rIns="0" bIns="0">
            <a:spAutoFit/>
          </a:bodyPr>
          <a:lstStyle/>
          <a:p>
            <a:pPr marL="0" marR="0" lvl="0" indent="0" algn="l" defTabSz="914400" rtl="0" eaLnBrk="1" fontAlgn="auto" latinLnBrk="0" hangingPunct="1">
              <a:lnSpc>
                <a:spcPct val="114000"/>
              </a:lnSpc>
              <a:spcBef>
                <a:spcPts val="0"/>
              </a:spcBef>
              <a:spcAft>
                <a:spcPts val="800"/>
              </a:spcAft>
              <a:buClrTx/>
              <a:buSzTx/>
              <a:buFontTx/>
              <a:buNone/>
              <a:tabLst/>
              <a:defRPr/>
            </a:pPr>
            <a:r>
              <a:rPr kumimoji="0" lang="en-US" sz="1400" b="0" i="0" u="none" strike="noStrike" kern="1200" cap="none" spc="0" normalizeH="0" baseline="0" noProof="0" dirty="0">
                <a:ln>
                  <a:noFill/>
                </a:ln>
                <a:solidFill>
                  <a:srgbClr val="3357B8"/>
                </a:solidFill>
                <a:effectLst/>
                <a:uLnTx/>
                <a:uFillTx/>
                <a:latin typeface="Helvetica Neue Medium" panose="02000503000000020004" pitchFamily="2" charset="0"/>
                <a:ea typeface="Helvetica Neue Medium" panose="02000503000000020004" pitchFamily="2" charset="0"/>
                <a:cs typeface="Helvetica Neue Medium" panose="02000503000000020004" pitchFamily="2" charset="0"/>
                <a:sym typeface="OpenAI Sans"/>
              </a:rPr>
              <a:t>Verify action closure</a:t>
            </a:r>
          </a:p>
        </p:txBody>
      </p:sp>
      <p:sp>
        <p:nvSpPr>
          <p:cNvPr id="10" name="Rounded Rectangle 9">
            <a:extLst>
              <a:ext uri="{FF2B5EF4-FFF2-40B4-BE49-F238E27FC236}">
                <a16:creationId id="{F95C5540-5014-B354-3651-51BA127570AA}"/>
              </a:ext>
            </a:extLst>
          </p:cNvPr>
          <p:cNvSpPr/>
          <p:nvPr/>
        </p:nvSpPr>
        <p:spPr>
          <a:xfrm>
            <a:off x="6405843" y="4539455"/>
            <a:ext cx="5394187" cy="1393857"/>
          </a:xfrm>
          <a:prstGeom prst="roundRect">
            <a:avLst>
              <a:gd name="adj" fmla="val 3585"/>
            </a:avLst>
          </a:prstGeom>
          <a:noFill/>
          <a:ln w="127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Tree>
    <p:extLst>
      <p:ext uri="{BB962C8B-B14F-4D97-AF65-F5344CB8AC3E}">
        <p14:creationId val="3366140372"/>
      </p:ext>
    </p:extLst>
  </p:cSld>
  <p:clrMapOvr>
    <a:masterClrMapping/>
  </p:clrMapOvr>
</p:sld>
</file>

<file path=ppt/slides/slide6.xml><?xml version="1.0" encoding="utf-8"?>
<p:sld xmlns:a="http://schemas.openxmlformats.org/drawingml/2006/main" xmlns:a16="http://schemas.microsoft.com/office/drawing/2014/main" xmlns:p="http://schemas.openxmlformats.org/presentationml/2006/main" xmlns:p14="http://schemas.microsoft.com/office/powerpoint/2010/main">
  <p:cSld>
    <p:spTree>
      <p:nvGrpSpPr>
        <p:cNvPr id="1" name="Shape 531">
          <a:extLst>
            <a:ext uri="{FF2B5EF4-FFF2-40B4-BE49-F238E27FC236}">
              <a16:creationId id="{4C3029DB-B611-6782-57C9-74AD8C9AF80A}"/>
            </a:ext>
          </a:extLst>
        </p:cNvPr>
        <p:cNvGrpSpPr/>
        <p:nvPr/>
      </p:nvGrpSpPr>
      <p:grpSpPr>
        <a:xfrm>
          <a:off x="0" y="0"/>
          <a:ext cx="0" cy="0"/>
          <a:chOff x="0" y="0"/>
          <a:chExt cx="0" cy="0"/>
        </a:xfrm>
      </p:grpSpPr>
      <p:sp>
        <p:nvSpPr>
          <p:cNvPr id="532" name="Google Shape;532;p58">
            <a:extLst>
              <a:ext uri="{FF2B5EF4-FFF2-40B4-BE49-F238E27FC236}">
                <a16:creationId id="{CCCB27A2-1D9F-6514-0821-C7CC3F675523}"/>
              </a:ext>
            </a:extLst>
          </p:cNvPr>
          <p:cNvSpPr txBox="1">
            <a:spLocks noGrp="1"/>
          </p:cNvSpPr>
          <p:nvPr>
            <p:ph type="sldNum" sz="quarter" idx="4"/>
          </p:nvPr>
        </p:nvSpPr>
        <p:spPr>
          <a:prstGeom prst="rect">
            <a:avLst/>
          </a:prstGeom>
        </p:spPr>
        <p:txBody>
          <a:bodyPr spcFirstLastPara="1" vert="horz" wrap="square" lIns="0" tIns="0" rIns="0" bIns="0" rtlCol="0" anchor="b" anchorCtr="0">
            <a:noAutofit/>
          </a:bodyPr>
          <a:lstStyle/>
          <a:p>
            <a:fld id="{00000000-1234-1234-1234-123412341234}" type="slidenum">
              <a:rPr lang="en">
                <a:sym typeface="OpenAI Sans"/>
              </a:rPr>
              <a:pPr/>
              <a:t>6</a:t>
            </a:fld>
            <a:endParaRPr dirty="0">
              <a:sym typeface="OpenAI Sans"/>
            </a:endParaRPr>
          </a:p>
        </p:txBody>
      </p:sp>
      <p:sp>
        <p:nvSpPr>
          <p:cNvPr id="10" name="Rounded Rectangle 9">
            <a:extLst>
              <a:ext uri="{FF2B5EF4-FFF2-40B4-BE49-F238E27FC236}">
                <a16:creationId id="{8B4C5563-C118-E2D4-2A1A-F84171FF9E48}"/>
              </a:ext>
            </a:extLst>
          </p:cNvPr>
          <p:cNvSpPr/>
          <p:nvPr/>
        </p:nvSpPr>
        <p:spPr>
          <a:xfrm>
            <a:off x="4308953" y="3365501"/>
            <a:ext cx="3568700" cy="2628900"/>
          </a:xfrm>
          <a:prstGeom prst="roundRect">
            <a:avLst>
              <a:gd name="adj" fmla="val 3585"/>
            </a:avLst>
          </a:prstGeom>
          <a:noFill/>
          <a:ln w="127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1" name="Rounded Rectangle 10">
            <a:extLst>
              <a:ext uri="{FF2B5EF4-FFF2-40B4-BE49-F238E27FC236}">
                <a16:creationId id="{87EC77EB-07E7-2818-9132-6416EC5EFF5D}"/>
              </a:ext>
            </a:extLst>
          </p:cNvPr>
          <p:cNvSpPr/>
          <p:nvPr/>
        </p:nvSpPr>
        <p:spPr>
          <a:xfrm>
            <a:off x="8229600" y="3365501"/>
            <a:ext cx="3568700" cy="2628900"/>
          </a:xfrm>
          <a:prstGeom prst="roundRect">
            <a:avLst>
              <a:gd name="adj" fmla="val 3585"/>
            </a:avLst>
          </a:prstGeom>
          <a:noFill/>
          <a:ln w="127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12" name="Content Placeholder 9">
            <a:extLst>
              <a:ext uri="{FF2B5EF4-FFF2-40B4-BE49-F238E27FC236}">
                <a16:creationId id="{14F9DBD7-0427-326B-17D5-5DD215C447E9}"/>
              </a:ext>
            </a:extLst>
          </p:cNvPr>
          <p:cNvSpPr txBox="1">
            <a:spLocks/>
          </p:cNvSpPr>
          <p:nvPr/>
        </p:nvSpPr>
        <p:spPr>
          <a:xfrm>
            <a:off x="4621821" y="4146160"/>
            <a:ext cx="2949339" cy="1432877"/>
          </a:xfrm>
          <a:prstGeom prst="rect">
            <a:avLst/>
          </a:prstGeom>
        </p:spPr>
        <p:txBody>
          <a:bodyPr lIns="0" tIns="0" rIns="0" bIns="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800"/>
              </a:spcAft>
              <a:buNone/>
              <a:defRPr/>
            </a:pPr>
            <a:r>
              <a:rPr lang="en-US" sz="1600" dirty="0">
                <a:solidFill>
                  <a:schemeClr val="accent1"/>
                </a:solidFill>
                <a:latin typeface="Roboto Medium" panose="02000000000000000000" pitchFamily="2" charset="0"/>
                <a:ea typeface="Roboto Medium" panose="02000000000000000000" pitchFamily="2" charset="0"/>
                <a:cs typeface="Helvetica Neue" panose="02000503000000020004" pitchFamily="2" charset="0"/>
                <a:sym typeface="OpenAI Sans"/>
              </a:rPr>
              <a:t>Human review</a:t>
            </a:r>
          </a:p>
          <a:p>
            <a:pPr marL="0" indent="0">
              <a:lnSpc>
                <a:spcPct val="114000"/>
              </a:lnSpc>
              <a:spcBef>
                <a:spcPts val="0"/>
              </a:spcBef>
              <a:spcAft>
                <a:spcPts val="800"/>
              </a:spcAft>
              <a:buFont typeface="Arial" panose="020B0604020202020204" pitchFamily="34" charset="0"/>
              <a:buNone/>
              <a:defRPr/>
            </a:pPr>
            <a:r>
              <a:rPr lang="en-US" sz="1600" dirty="0">
                <a:solidFill>
                  <a:prstClr val="black"/>
                </a:solidFill>
                <a:ea typeface="Helvetica Neue" panose="02000503000000020004" pitchFamily="2" charset="0"/>
                <a:cs typeface="Helvetica Neue" panose="02000503000000020004" pitchFamily="2" charset="0"/>
                <a:sym typeface="OpenAI Sans"/>
              </a:rPr>
              <a:t>Keep each draft pending until an authorized evaluator approves or rejects it.</a:t>
            </a:r>
            <a:r>
              <a:rPr lang="en-US" sz="1600" dirty="0" err="1">
                <a:solidFill>
                  <a:prstClr val="black"/>
                </a:solidFill>
                <a:ea typeface="Helvetica Neue" panose="02000503000000020004" pitchFamily="2" charset="0"/>
                <a:cs typeface="Helvetica Neue" panose="02000503000000020004" pitchFamily="2" charset="0"/>
                <a:sym typeface="OpenAI Sans"/>
              </a:rPr>
              <a:t/>
            </a:r>
            <a:r>
              <a:rPr lang="en-US" sz="1600" dirty="0">
                <a:solidFill>
                  <a:prstClr val="black"/>
                </a:solidFill>
                <a:ea typeface="Helvetica Neue" panose="02000503000000020004" pitchFamily="2" charset="0"/>
                <a:cs typeface="Helvetica Neue" panose="02000503000000020004" pitchFamily="2" charset="0"/>
                <a:sym typeface="OpenAI Sans"/>
              </a:rPr>
              <a:t/>
            </a:r>
            <a:r>
              <a:rPr lang="en-US" sz="1600" dirty="0" err="1">
                <a:solidFill>
                  <a:prstClr val="black"/>
                </a:solidFill>
                <a:ea typeface="Helvetica Neue" panose="02000503000000020004" pitchFamily="2" charset="0"/>
                <a:cs typeface="Helvetica Neue" panose="02000503000000020004" pitchFamily="2" charset="0"/>
                <a:sym typeface="OpenAI Sans"/>
              </a:rPr>
              <a:t/>
            </a:r>
            <a:r>
              <a:rPr lang="en-US" sz="1600" dirty="0">
                <a:solidFill>
                  <a:prstClr val="black"/>
                </a:solidFill>
                <a:ea typeface="Helvetica Neue" panose="02000503000000020004" pitchFamily="2" charset="0"/>
                <a:cs typeface="Helvetica Neue" panose="02000503000000020004" pitchFamily="2" charset="0"/>
                <a:sym typeface="OpenAI Sans"/>
              </a:rPr>
              <a:t/>
            </a:r>
            <a:r>
              <a:rPr lang="en-US" sz="1600" dirty="0" err="1">
                <a:solidFill>
                  <a:prstClr val="black"/>
                </a:solidFill>
                <a:ea typeface="Helvetica Neue" panose="02000503000000020004" pitchFamily="2" charset="0"/>
                <a:cs typeface="Helvetica Neue" panose="02000503000000020004" pitchFamily="2" charset="0"/>
                <a:sym typeface="OpenAI Sans"/>
              </a:rPr>
              <a:t/>
            </a:r>
            <a:r>
              <a:rPr lang="en-US" sz="1600" dirty="0">
                <a:solidFill>
                  <a:prstClr val="black"/>
                </a:solidFill>
                <a:ea typeface="Helvetica Neue" panose="02000503000000020004" pitchFamily="2" charset="0"/>
                <a:cs typeface="Helvetica Neue" panose="02000503000000020004" pitchFamily="2" charset="0"/>
                <a:sym typeface="OpenAI Sans"/>
              </a:rPr>
              <a:t/>
            </a:r>
            <a:r>
              <a:rPr lang="en-US" sz="1600" dirty="0" err="1">
                <a:solidFill>
                  <a:prstClr val="black"/>
                </a:solidFill>
                <a:ea typeface="Helvetica Neue" panose="02000503000000020004" pitchFamily="2" charset="0"/>
                <a:cs typeface="Helvetica Neue" panose="02000503000000020004" pitchFamily="2" charset="0"/>
                <a:sym typeface="OpenAI Sans"/>
              </a:rPr>
              <a:t/>
            </a:r>
            <a:r>
              <a:rPr lang="en-US" sz="1600" dirty="0">
                <a:solidFill>
                  <a:prstClr val="black"/>
                </a:solidFill>
                <a:ea typeface="Helvetica Neue" panose="02000503000000020004" pitchFamily="2" charset="0"/>
                <a:cs typeface="Helvetica Neue" panose="02000503000000020004" pitchFamily="2" charset="0"/>
                <a:sym typeface="OpenAI Sans"/>
              </a:rPr>
              <a:t/>
            </a:r>
            <a:r>
              <a:rPr lang="en-US" sz="1600" dirty="0" err="1">
                <a:solidFill>
                  <a:prstClr val="black"/>
                </a:solidFill>
                <a:ea typeface="Helvetica Neue" panose="02000503000000020004" pitchFamily="2" charset="0"/>
                <a:cs typeface="Helvetica Neue" panose="02000503000000020004" pitchFamily="2" charset="0"/>
                <a:sym typeface="OpenAI Sans"/>
              </a:rPr>
              <a:t/>
            </a:r>
            <a:r>
              <a:rPr lang="en-US" sz="1600" dirty="0">
                <a:solidFill>
                  <a:prstClr val="black"/>
                </a:solidFill>
                <a:ea typeface="Helvetica Neue" panose="02000503000000020004" pitchFamily="2" charset="0"/>
                <a:cs typeface="Helvetica Neue" panose="02000503000000020004" pitchFamily="2" charset="0"/>
                <a:sym typeface="OpenAI Sans"/>
              </a:rPr>
              <a:t/>
            </a:r>
            <a:r>
              <a:rPr lang="en-US" sz="1600" dirty="0" err="1">
                <a:solidFill>
                  <a:prstClr val="black"/>
                </a:solidFill>
                <a:ea typeface="Helvetica Neue" panose="02000503000000020004" pitchFamily="2" charset="0"/>
                <a:cs typeface="Helvetica Neue" panose="02000503000000020004" pitchFamily="2" charset="0"/>
                <a:sym typeface="OpenAI Sans"/>
              </a:rPr>
              <a:t/>
            </a:r>
            <a:r>
              <a:rPr lang="en-US" sz="1600" dirty="0">
                <a:solidFill>
                  <a:prstClr val="black"/>
                </a:solidFill>
                <a:ea typeface="Helvetica Neue" panose="02000503000000020004" pitchFamily="2" charset="0"/>
                <a:cs typeface="Helvetica Neue" panose="02000503000000020004" pitchFamily="2" charset="0"/>
                <a:sym typeface="OpenAI Sans"/>
              </a:rPr>
              <a:t/>
            </a:r>
            <a:r>
              <a:rPr lang="en-US" sz="1600" dirty="0" err="1">
                <a:solidFill>
                  <a:prstClr val="black"/>
                </a:solidFill>
                <a:ea typeface="Helvetica Neue" panose="02000503000000020004" pitchFamily="2" charset="0"/>
                <a:cs typeface="Helvetica Neue" panose="02000503000000020004" pitchFamily="2" charset="0"/>
                <a:sym typeface="OpenAI Sans"/>
              </a:rPr>
              <a:t/>
            </a:r>
            <a:r>
              <a:rPr lang="en-US" sz="1600" dirty="0">
                <a:solidFill>
                  <a:prstClr val="black"/>
                </a:solidFill>
                <a:ea typeface="Helvetica Neue" panose="02000503000000020004" pitchFamily="2" charset="0"/>
                <a:cs typeface="Helvetica Neue" panose="02000503000000020004" pitchFamily="2" charset="0"/>
                <a:sym typeface="OpenAI Sans"/>
              </a:rPr>
              <a:t/>
            </a:r>
            <a:r>
              <a:rPr lang="en-US" sz="1600" dirty="0" err="1">
                <a:solidFill>
                  <a:prstClr val="black"/>
                </a:solidFill>
                <a:ea typeface="Helvetica Neue" panose="02000503000000020004" pitchFamily="2" charset="0"/>
                <a:cs typeface="Helvetica Neue" panose="02000503000000020004" pitchFamily="2" charset="0"/>
                <a:sym typeface="OpenAI Sans"/>
              </a:rPr>
              <a:t/>
            </a:r>
            <a:r>
              <a:rPr lang="en-US" sz="1600" dirty="0">
                <a:solidFill>
                  <a:prstClr val="black"/>
                </a:solidFill>
                <a:ea typeface="Helvetica Neue" panose="02000503000000020004" pitchFamily="2" charset="0"/>
                <a:cs typeface="Helvetica Neue" panose="02000503000000020004" pitchFamily="2" charset="0"/>
                <a:sym typeface="OpenAI Sans"/>
              </a:rPr>
              <a:t/>
            </a:r>
            <a:r>
              <a:rPr lang="en-US" sz="1600" dirty="0" err="1">
                <a:solidFill>
                  <a:prstClr val="black"/>
                </a:solidFill>
                <a:ea typeface="Helvetica Neue" panose="02000503000000020004" pitchFamily="2" charset="0"/>
                <a:cs typeface="Helvetica Neue" panose="02000503000000020004" pitchFamily="2" charset="0"/>
                <a:sym typeface="OpenAI Sans"/>
              </a:rPr>
              <a:t/>
            </a:r>
            <a:r>
              <a:rPr lang="en-US" sz="1600" dirty="0">
                <a:solidFill>
                  <a:prstClr val="black"/>
                </a:solidFill>
                <a:ea typeface="Helvetica Neue" panose="02000503000000020004" pitchFamily="2" charset="0"/>
                <a:cs typeface="Helvetica Neue" panose="02000503000000020004" pitchFamily="2" charset="0"/>
                <a:sym typeface="OpenAI Sans"/>
              </a:rPr>
              <a:t/>
            </a:r>
            <a:r>
              <a:rPr lang="en-US" sz="1600" dirty="0" err="1">
                <a:solidFill>
                  <a:prstClr val="black"/>
                </a:solidFill>
                <a:ea typeface="Helvetica Neue" panose="02000503000000020004" pitchFamily="2" charset="0"/>
                <a:cs typeface="Helvetica Neue" panose="02000503000000020004" pitchFamily="2" charset="0"/>
                <a:sym typeface="OpenAI Sans"/>
              </a:rPr>
              <a:t/>
            </a:r>
            <a:r>
              <a:rPr lang="en-US" sz="1600" dirty="0">
                <a:solidFill>
                  <a:prstClr val="black"/>
                </a:solidFill>
                <a:ea typeface="Helvetica Neue" panose="02000503000000020004" pitchFamily="2" charset="0"/>
                <a:cs typeface="Helvetica Neue" panose="02000503000000020004" pitchFamily="2" charset="0"/>
                <a:sym typeface="OpenAI Sans"/>
              </a:rPr>
              <a:t/>
            </a:r>
            <a:endParaRPr lang="en-US" sz="1600" dirty="0"/>
          </a:p>
        </p:txBody>
      </p:sp>
      <p:sp>
        <p:nvSpPr>
          <p:cNvPr id="13" name="Content Placeholder 10">
            <a:extLst>
              <a:ext uri="{FF2B5EF4-FFF2-40B4-BE49-F238E27FC236}">
                <a16:creationId id="{A81FFF27-06E1-B925-B772-E8C07A029EE7}"/>
              </a:ext>
            </a:extLst>
          </p:cNvPr>
          <p:cNvSpPr txBox="1">
            <a:spLocks/>
          </p:cNvSpPr>
          <p:nvPr/>
        </p:nvSpPr>
        <p:spPr>
          <a:xfrm>
            <a:off x="8536094" y="4146160"/>
            <a:ext cx="2949339" cy="1432877"/>
          </a:xfrm>
          <a:prstGeom prst="rect">
            <a:avLst/>
          </a:prstGeom>
        </p:spPr>
        <p:txBody>
          <a:bodyPr lIns="0" tIns="0" rIns="0" bIns="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800"/>
              </a:spcAft>
              <a:buNone/>
              <a:defRPr/>
            </a:pPr>
            <a:r>
              <a:rPr lang="en-US" sz="1600" dirty="0">
                <a:solidFill>
                  <a:schemeClr val="accent1"/>
                </a:solidFill>
                <a:latin typeface="Roboto Medium" panose="02000000000000000000" pitchFamily="2" charset="0"/>
                <a:ea typeface="Roboto Medium" panose="02000000000000000000" pitchFamily="2" charset="0"/>
                <a:cs typeface="Helvetica Neue" panose="02000503000000020004" pitchFamily="2" charset="0"/>
                <a:sym typeface="OpenAI Sans"/>
              </a:rPr>
              <a:t>Verified follow-through</a:t>
            </a:r>
          </a:p>
          <a:p>
            <a:pPr marL="0" indent="0">
              <a:lnSpc>
                <a:spcPct val="114000"/>
              </a:lnSpc>
              <a:spcBef>
                <a:spcPts val="0"/>
              </a:spcBef>
              <a:spcAft>
                <a:spcPts val="800"/>
              </a:spcAft>
              <a:buFont typeface="Arial" panose="020B0604020202020204" pitchFamily="34" charset="0"/>
              <a:buNone/>
              <a:defRPr/>
            </a:pPr>
            <a:r>
              <a:rPr lang="en-US" sz="1600" dirty="0">
                <a:solidFill>
                  <a:prstClr val="black"/>
                </a:solidFill>
                <a:ea typeface="Helvetica Neue" panose="02000503000000020004" pitchFamily="2" charset="0"/>
                <a:cs typeface="Helvetica Neue" panose="02000503000000020004" pitchFamily="2" charset="0"/>
                <a:sym typeface="OpenAI Sans"/>
              </a:rPr>
              <a:t>Track the owner and due date; close only after a reviewer checks completion proof.</a:t>
            </a:r>
            <a:r>
              <a:rPr lang="en-US" sz="1600" dirty="0" err="1">
                <a:solidFill>
                  <a:prstClr val="black"/>
                </a:solidFill>
                <a:ea typeface="Helvetica Neue" panose="02000503000000020004" pitchFamily="2" charset="0"/>
                <a:cs typeface="Helvetica Neue" panose="02000503000000020004" pitchFamily="2" charset="0"/>
                <a:sym typeface="OpenAI Sans"/>
              </a:rPr>
              <a:t/>
            </a:r>
            <a:r>
              <a:rPr lang="en-US" sz="1600" dirty="0">
                <a:solidFill>
                  <a:prstClr val="black"/>
                </a:solidFill>
                <a:ea typeface="Helvetica Neue" panose="02000503000000020004" pitchFamily="2" charset="0"/>
                <a:cs typeface="Helvetica Neue" panose="02000503000000020004" pitchFamily="2" charset="0"/>
                <a:sym typeface="OpenAI Sans"/>
              </a:rPr>
              <a:t/>
            </a:r>
            <a:r>
              <a:rPr lang="en-US" sz="1600" dirty="0" err="1">
                <a:solidFill>
                  <a:prstClr val="black"/>
                </a:solidFill>
                <a:ea typeface="Helvetica Neue" panose="02000503000000020004" pitchFamily="2" charset="0"/>
                <a:cs typeface="Helvetica Neue" panose="02000503000000020004" pitchFamily="2" charset="0"/>
                <a:sym typeface="OpenAI Sans"/>
              </a:rPr>
              <a:t/>
            </a:r>
            <a:r>
              <a:rPr lang="en-US" sz="1600" dirty="0">
                <a:solidFill>
                  <a:prstClr val="black"/>
                </a:solidFill>
                <a:ea typeface="Helvetica Neue" panose="02000503000000020004" pitchFamily="2" charset="0"/>
                <a:cs typeface="Helvetica Neue" panose="02000503000000020004" pitchFamily="2" charset="0"/>
                <a:sym typeface="OpenAI Sans"/>
              </a:rPr>
              <a:t/>
            </a:r>
            <a:r>
              <a:rPr lang="en-US" sz="1600" dirty="0" err="1">
                <a:solidFill>
                  <a:prstClr val="black"/>
                </a:solidFill>
                <a:ea typeface="Helvetica Neue" panose="02000503000000020004" pitchFamily="2" charset="0"/>
                <a:cs typeface="Helvetica Neue" panose="02000503000000020004" pitchFamily="2" charset="0"/>
                <a:sym typeface="OpenAI Sans"/>
              </a:rPr>
              <a:t/>
            </a:r>
            <a:r>
              <a:rPr lang="en-US" sz="1600" dirty="0">
                <a:solidFill>
                  <a:prstClr val="black"/>
                </a:solidFill>
                <a:ea typeface="Helvetica Neue" panose="02000503000000020004" pitchFamily="2" charset="0"/>
                <a:cs typeface="Helvetica Neue" panose="02000503000000020004" pitchFamily="2" charset="0"/>
                <a:sym typeface="OpenAI Sans"/>
              </a:rPr>
              <a:t/>
            </a:r>
            <a:r>
              <a:rPr lang="en-US" sz="1600" dirty="0" err="1">
                <a:solidFill>
                  <a:prstClr val="black"/>
                </a:solidFill>
                <a:ea typeface="Helvetica Neue" panose="02000503000000020004" pitchFamily="2" charset="0"/>
                <a:cs typeface="Helvetica Neue" panose="02000503000000020004" pitchFamily="2" charset="0"/>
                <a:sym typeface="OpenAI Sans"/>
              </a:rPr>
              <a:t/>
            </a:r>
            <a:r>
              <a:rPr lang="en-US" sz="1600" dirty="0">
                <a:solidFill>
                  <a:prstClr val="black"/>
                </a:solidFill>
                <a:ea typeface="Helvetica Neue" panose="02000503000000020004" pitchFamily="2" charset="0"/>
                <a:cs typeface="Helvetica Neue" panose="02000503000000020004" pitchFamily="2" charset="0"/>
                <a:sym typeface="OpenAI Sans"/>
              </a:rPr>
              <a:t/>
            </a:r>
            <a:r>
              <a:rPr lang="en-US" sz="1600" dirty="0" err="1">
                <a:solidFill>
                  <a:prstClr val="black"/>
                </a:solidFill>
                <a:ea typeface="Helvetica Neue" panose="02000503000000020004" pitchFamily="2" charset="0"/>
                <a:cs typeface="Helvetica Neue" panose="02000503000000020004" pitchFamily="2" charset="0"/>
                <a:sym typeface="OpenAI Sans"/>
              </a:rPr>
              <a:t/>
            </a:r>
            <a:r>
              <a:rPr lang="en-US" sz="1600" dirty="0">
                <a:solidFill>
                  <a:prstClr val="black"/>
                </a:solidFill>
                <a:ea typeface="Helvetica Neue" panose="02000503000000020004" pitchFamily="2" charset="0"/>
                <a:cs typeface="Helvetica Neue" panose="02000503000000020004" pitchFamily="2" charset="0"/>
                <a:sym typeface="OpenAI Sans"/>
              </a:rPr>
              <a:t/>
            </a:r>
            <a:r>
              <a:rPr lang="en-US" sz="1600" dirty="0" err="1">
                <a:solidFill>
                  <a:prstClr val="black"/>
                </a:solidFill>
                <a:ea typeface="Helvetica Neue" panose="02000503000000020004" pitchFamily="2" charset="0"/>
                <a:cs typeface="Helvetica Neue" panose="02000503000000020004" pitchFamily="2" charset="0"/>
                <a:sym typeface="OpenAI Sans"/>
              </a:rPr>
              <a:t/>
            </a:r>
            <a:r>
              <a:rPr lang="en-US" sz="1600" dirty="0">
                <a:solidFill>
                  <a:prstClr val="black"/>
                </a:solidFill>
                <a:ea typeface="Helvetica Neue" panose="02000503000000020004" pitchFamily="2" charset="0"/>
                <a:cs typeface="Helvetica Neue" panose="02000503000000020004" pitchFamily="2" charset="0"/>
                <a:sym typeface="OpenAI Sans"/>
              </a:rPr>
              <a:t/>
            </a:r>
            <a:r>
              <a:rPr lang="en-US" sz="1600" dirty="0" err="1">
                <a:solidFill>
                  <a:prstClr val="black"/>
                </a:solidFill>
                <a:ea typeface="Helvetica Neue" panose="02000503000000020004" pitchFamily="2" charset="0"/>
                <a:cs typeface="Helvetica Neue" panose="02000503000000020004" pitchFamily="2" charset="0"/>
                <a:sym typeface="OpenAI Sans"/>
              </a:rPr>
              <a:t/>
            </a:r>
            <a:r>
              <a:rPr lang="en-US" sz="1600" dirty="0">
                <a:solidFill>
                  <a:prstClr val="black"/>
                </a:solidFill>
                <a:ea typeface="Helvetica Neue" panose="02000503000000020004" pitchFamily="2" charset="0"/>
                <a:cs typeface="Helvetica Neue" panose="02000503000000020004" pitchFamily="2" charset="0"/>
                <a:sym typeface="OpenAI Sans"/>
              </a:rPr>
              <a:t/>
            </a:r>
            <a:r>
              <a:rPr lang="en-US" sz="1600" dirty="0" err="1">
                <a:solidFill>
                  <a:prstClr val="black"/>
                </a:solidFill>
                <a:ea typeface="Helvetica Neue" panose="02000503000000020004" pitchFamily="2" charset="0"/>
                <a:cs typeface="Helvetica Neue" panose="02000503000000020004" pitchFamily="2" charset="0"/>
                <a:sym typeface="OpenAI Sans"/>
              </a:rPr>
              <a:t/>
            </a:r>
            <a:r>
              <a:rPr lang="en-US" sz="1600" dirty="0">
                <a:solidFill>
                  <a:prstClr val="black"/>
                </a:solidFill>
                <a:ea typeface="Helvetica Neue" panose="02000503000000020004" pitchFamily="2" charset="0"/>
                <a:cs typeface="Helvetica Neue" panose="02000503000000020004" pitchFamily="2" charset="0"/>
                <a:sym typeface="OpenAI Sans"/>
              </a:rPr>
              <a:t/>
            </a:r>
            <a:r>
              <a:rPr lang="en-US" sz="1600" dirty="0" err="1">
                <a:solidFill>
                  <a:prstClr val="black"/>
                </a:solidFill>
                <a:ea typeface="Helvetica Neue" panose="02000503000000020004" pitchFamily="2" charset="0"/>
                <a:cs typeface="Helvetica Neue" panose="02000503000000020004" pitchFamily="2" charset="0"/>
                <a:sym typeface="OpenAI Sans"/>
              </a:rPr>
              <a:t/>
            </a:r>
            <a:r>
              <a:rPr lang="en-US" sz="1600" dirty="0">
                <a:solidFill>
                  <a:prstClr val="black"/>
                </a:solidFill>
                <a:ea typeface="Helvetica Neue" panose="02000503000000020004" pitchFamily="2" charset="0"/>
                <a:cs typeface="Helvetica Neue" panose="02000503000000020004" pitchFamily="2" charset="0"/>
                <a:sym typeface="OpenAI Sans"/>
              </a:rPr>
              <a:t/>
            </a:r>
            <a:r>
              <a:rPr lang="en-US" sz="1600" dirty="0" err="1">
                <a:solidFill>
                  <a:prstClr val="black"/>
                </a:solidFill>
                <a:ea typeface="Helvetica Neue" panose="02000503000000020004" pitchFamily="2" charset="0"/>
                <a:cs typeface="Helvetica Neue" panose="02000503000000020004" pitchFamily="2" charset="0"/>
                <a:sym typeface="OpenAI Sans"/>
              </a:rPr>
              <a:t/>
            </a:r>
            <a:r>
              <a:rPr lang="en-US" sz="1600" dirty="0">
                <a:solidFill>
                  <a:prstClr val="black"/>
                </a:solidFill>
                <a:ea typeface="Helvetica Neue" panose="02000503000000020004" pitchFamily="2" charset="0"/>
                <a:cs typeface="Helvetica Neue" panose="02000503000000020004" pitchFamily="2" charset="0"/>
                <a:sym typeface="OpenAI Sans"/>
              </a:rPr>
              <a:t/>
            </a:r>
            <a:endParaRPr lang="en-US" sz="1600" dirty="0"/>
          </a:p>
        </p:txBody>
      </p:sp>
      <p:sp>
        <p:nvSpPr>
          <p:cNvPr id="14" name="Google Shape;340;p61">
            <a:extLst>
              <a:ext uri="{FF2B5EF4-FFF2-40B4-BE49-F238E27FC236}">
                <a16:creationId id="{D182FC54-B4D0-2FD9-7909-F4321F70186F}"/>
              </a:ext>
            </a:extLst>
          </p:cNvPr>
          <p:cNvSpPr/>
          <p:nvPr/>
        </p:nvSpPr>
        <p:spPr>
          <a:xfrm>
            <a:off x="4627645" y="3694101"/>
            <a:ext cx="233806" cy="233717"/>
          </a:xfrm>
          <a:custGeom>
            <a:avLst/>
            <a:gdLst/>
            <a:ahLst/>
            <a:cxnLst/>
            <a:rect l="l" t="t" r="r" b="b"/>
            <a:pathLst>
              <a:path w="21600" h="21600" extrusionOk="0">
                <a:moveTo>
                  <a:pt x="10800" y="2160"/>
                </a:moveTo>
                <a:cubicBezTo>
                  <a:pt x="6029" y="2160"/>
                  <a:pt x="2160" y="6029"/>
                  <a:pt x="2160" y="10800"/>
                </a:cubicBezTo>
                <a:cubicBezTo>
                  <a:pt x="2160" y="15571"/>
                  <a:pt x="6029" y="19440"/>
                  <a:pt x="10800" y="19440"/>
                </a:cubicBezTo>
                <a:cubicBezTo>
                  <a:pt x="15571" y="19440"/>
                  <a:pt x="19440" y="15571"/>
                  <a:pt x="19440" y="10800"/>
                </a:cubicBezTo>
                <a:cubicBezTo>
                  <a:pt x="19440" y="6029"/>
                  <a:pt x="15571" y="2160"/>
                  <a:pt x="10800" y="2160"/>
                </a:cubicBezTo>
                <a:close/>
                <a:moveTo>
                  <a:pt x="0" y="10800"/>
                </a:moveTo>
                <a:cubicBezTo>
                  <a:pt x="0" y="4835"/>
                  <a:pt x="4835" y="0"/>
                  <a:pt x="10800" y="0"/>
                </a:cubicBezTo>
                <a:cubicBezTo>
                  <a:pt x="16765" y="0"/>
                  <a:pt x="21600" y="4835"/>
                  <a:pt x="21600" y="10800"/>
                </a:cubicBezTo>
                <a:cubicBezTo>
                  <a:pt x="21600" y="16765"/>
                  <a:pt x="16765" y="21600"/>
                  <a:pt x="10800" y="21600"/>
                </a:cubicBezTo>
                <a:cubicBezTo>
                  <a:pt x="4835" y="21600"/>
                  <a:pt x="0" y="16765"/>
                  <a:pt x="0" y="10800"/>
                </a:cubicBezTo>
                <a:close/>
                <a:moveTo>
                  <a:pt x="15201" y="6407"/>
                </a:moveTo>
                <a:cubicBezTo>
                  <a:pt x="15689" y="6750"/>
                  <a:pt x="15807" y="7424"/>
                  <a:pt x="15463" y="7911"/>
                </a:cubicBezTo>
                <a:lnTo>
                  <a:pt x="10333" y="15201"/>
                </a:lnTo>
                <a:cubicBezTo>
                  <a:pt x="10144" y="15470"/>
                  <a:pt x="9844" y="15637"/>
                  <a:pt x="9517" y="15658"/>
                </a:cubicBezTo>
                <a:cubicBezTo>
                  <a:pt x="9190" y="15678"/>
                  <a:pt x="8871" y="15549"/>
                  <a:pt x="8651" y="15307"/>
                </a:cubicBezTo>
                <a:lnTo>
                  <a:pt x="5951" y="12337"/>
                </a:lnTo>
                <a:cubicBezTo>
                  <a:pt x="5550" y="11895"/>
                  <a:pt x="5583" y="11213"/>
                  <a:pt x="6023" y="10811"/>
                </a:cubicBezTo>
                <a:cubicBezTo>
                  <a:pt x="6465" y="10410"/>
                  <a:pt x="7147" y="10443"/>
                  <a:pt x="7549" y="10883"/>
                </a:cubicBezTo>
                <a:lnTo>
                  <a:pt x="9342" y="12856"/>
                </a:lnTo>
                <a:lnTo>
                  <a:pt x="13697" y="6669"/>
                </a:lnTo>
                <a:cubicBezTo>
                  <a:pt x="14040" y="6181"/>
                  <a:pt x="14714" y="6063"/>
                  <a:pt x="15201" y="6407"/>
                </a:cubicBezTo>
                <a:close/>
              </a:path>
            </a:pathLst>
          </a:custGeom>
          <a:solidFill>
            <a:schemeClr val="accent1"/>
          </a:solidFill>
          <a:ln>
            <a:noFill/>
          </a:ln>
        </p:spPr>
        <p:txBody>
          <a:bodyPr spcFirstLastPara="1" wrap="square" lIns="38100" tIns="38100" rIns="38100" bIns="38100" anchor="ctr" anchorCtr="0">
            <a:noAutofit/>
          </a:bodyPr>
          <a:lstStyle/>
          <a:p>
            <a:pPr algn="ctr">
              <a:buClr>
                <a:srgbClr val="FFFFFF"/>
              </a:buClr>
              <a:buSzPts val="2400"/>
            </a:pPr>
            <a:endParaRPr sz="2400">
              <a:solidFill>
                <a:srgbClr val="FFFFFF"/>
              </a:solidFill>
              <a:latin typeface="Helvetica Neue"/>
              <a:ea typeface="Helvetica Neue"/>
              <a:cs typeface="Helvetica Neue"/>
              <a:sym typeface="Helvetica Neue"/>
            </a:endParaRPr>
          </a:p>
        </p:txBody>
      </p:sp>
      <p:sp>
        <p:nvSpPr>
          <p:cNvPr id="15" name="Google Shape;340;p61">
            <a:extLst>
              <a:ext uri="{FF2B5EF4-FFF2-40B4-BE49-F238E27FC236}">
                <a16:creationId id="{12304657-C94E-6AEC-95B3-FF04FD52D51C}"/>
              </a:ext>
            </a:extLst>
          </p:cNvPr>
          <p:cNvSpPr/>
          <p:nvPr/>
        </p:nvSpPr>
        <p:spPr>
          <a:xfrm>
            <a:off x="8533270" y="3694102"/>
            <a:ext cx="233806" cy="233717"/>
          </a:xfrm>
          <a:custGeom>
            <a:avLst/>
            <a:gdLst/>
            <a:ahLst/>
            <a:cxnLst/>
            <a:rect l="l" t="t" r="r" b="b"/>
            <a:pathLst>
              <a:path w="21600" h="21600" extrusionOk="0">
                <a:moveTo>
                  <a:pt x="10800" y="2160"/>
                </a:moveTo>
                <a:cubicBezTo>
                  <a:pt x="6029" y="2160"/>
                  <a:pt x="2160" y="6029"/>
                  <a:pt x="2160" y="10800"/>
                </a:cubicBezTo>
                <a:cubicBezTo>
                  <a:pt x="2160" y="15571"/>
                  <a:pt x="6029" y="19440"/>
                  <a:pt x="10800" y="19440"/>
                </a:cubicBezTo>
                <a:cubicBezTo>
                  <a:pt x="15571" y="19440"/>
                  <a:pt x="19440" y="15571"/>
                  <a:pt x="19440" y="10800"/>
                </a:cubicBezTo>
                <a:cubicBezTo>
                  <a:pt x="19440" y="6029"/>
                  <a:pt x="15571" y="2160"/>
                  <a:pt x="10800" y="2160"/>
                </a:cubicBezTo>
                <a:close/>
                <a:moveTo>
                  <a:pt x="0" y="10800"/>
                </a:moveTo>
                <a:cubicBezTo>
                  <a:pt x="0" y="4835"/>
                  <a:pt x="4835" y="0"/>
                  <a:pt x="10800" y="0"/>
                </a:cubicBezTo>
                <a:cubicBezTo>
                  <a:pt x="16765" y="0"/>
                  <a:pt x="21600" y="4835"/>
                  <a:pt x="21600" y="10800"/>
                </a:cubicBezTo>
                <a:cubicBezTo>
                  <a:pt x="21600" y="16765"/>
                  <a:pt x="16765" y="21600"/>
                  <a:pt x="10800" y="21600"/>
                </a:cubicBezTo>
                <a:cubicBezTo>
                  <a:pt x="4835" y="21600"/>
                  <a:pt x="0" y="16765"/>
                  <a:pt x="0" y="10800"/>
                </a:cubicBezTo>
                <a:close/>
                <a:moveTo>
                  <a:pt x="15201" y="6407"/>
                </a:moveTo>
                <a:cubicBezTo>
                  <a:pt x="15689" y="6750"/>
                  <a:pt x="15807" y="7424"/>
                  <a:pt x="15463" y="7911"/>
                </a:cubicBezTo>
                <a:lnTo>
                  <a:pt x="10333" y="15201"/>
                </a:lnTo>
                <a:cubicBezTo>
                  <a:pt x="10144" y="15470"/>
                  <a:pt x="9844" y="15637"/>
                  <a:pt x="9517" y="15658"/>
                </a:cubicBezTo>
                <a:cubicBezTo>
                  <a:pt x="9190" y="15678"/>
                  <a:pt x="8871" y="15549"/>
                  <a:pt x="8651" y="15307"/>
                </a:cubicBezTo>
                <a:lnTo>
                  <a:pt x="5951" y="12337"/>
                </a:lnTo>
                <a:cubicBezTo>
                  <a:pt x="5550" y="11895"/>
                  <a:pt x="5583" y="11213"/>
                  <a:pt x="6023" y="10811"/>
                </a:cubicBezTo>
                <a:cubicBezTo>
                  <a:pt x="6465" y="10410"/>
                  <a:pt x="7147" y="10443"/>
                  <a:pt x="7549" y="10883"/>
                </a:cubicBezTo>
                <a:lnTo>
                  <a:pt x="9342" y="12856"/>
                </a:lnTo>
                <a:lnTo>
                  <a:pt x="13697" y="6669"/>
                </a:lnTo>
                <a:cubicBezTo>
                  <a:pt x="14040" y="6181"/>
                  <a:pt x="14714" y="6063"/>
                  <a:pt x="15201" y="6407"/>
                </a:cubicBezTo>
                <a:close/>
              </a:path>
            </a:pathLst>
          </a:custGeom>
          <a:solidFill>
            <a:schemeClr val="accent1"/>
          </a:solidFill>
          <a:ln>
            <a:noFill/>
          </a:ln>
        </p:spPr>
        <p:txBody>
          <a:bodyPr spcFirstLastPara="1" wrap="square" lIns="38100" tIns="38100" rIns="38100" bIns="38100" anchor="ctr" anchorCtr="0">
            <a:noAutofit/>
          </a:bodyPr>
          <a:lstStyle/>
          <a:p>
            <a:pPr algn="ctr">
              <a:buClr>
                <a:srgbClr val="FFFFFF"/>
              </a:buClr>
              <a:buSzPts val="2400"/>
            </a:pPr>
            <a:endParaRPr sz="2400">
              <a:solidFill>
                <a:srgbClr val="FFFFFF"/>
              </a:solidFill>
              <a:latin typeface="Helvetica Neue"/>
              <a:ea typeface="Helvetica Neue"/>
              <a:cs typeface="Helvetica Neue"/>
              <a:sym typeface="Helvetica Neue"/>
            </a:endParaRPr>
          </a:p>
        </p:txBody>
      </p:sp>
      <p:sp>
        <p:nvSpPr>
          <p:cNvPr id="2" name="Footer Placeholder 1">
            <a:extLst>
              <a:ext uri="{FF2B5EF4-FFF2-40B4-BE49-F238E27FC236}">
                <a16:creationId id="{7FAC9A03-119F-393D-2295-2587BE7C4F73}"/>
              </a:ext>
            </a:extLst>
          </p:cNvPr>
          <p:cNvSpPr>
            <a:spLocks noGrp="1"/>
          </p:cNvSpPr>
          <p:nvPr>
            <p:ph type="ftr" sz="quarter" idx="3"/>
          </p:nvPr>
        </p:nvSpPr>
        <p:spPr/>
        <p:txBody>
          <a:bodyPr/>
          <a:lstStyle/>
          <a:p>
            <a:endParaRPr lang="en-US" sz="1100" dirty="0"/>
          </a:p>
        </p:txBody>
      </p:sp>
      <p:sp>
        <p:nvSpPr>
          <p:cNvPr id="4" name="Title 3">
            <a:extLst>
              <a:ext uri="{FF2B5EF4-FFF2-40B4-BE49-F238E27FC236}">
                <a16:creationId id="{2F7C895E-DE9C-ED5D-5936-715D047B60E4}"/>
              </a:ext>
            </a:extLst>
          </p:cNvPr>
          <p:cNvSpPr>
            <a:spLocks noGrp="1"/>
          </p:cNvSpPr>
          <p:nvPr>
            <p:ph type="title"/>
          </p:nvPr>
        </p:nvSpPr>
        <p:spPr>
          <a:xfrm>
            <a:off x="393700" y="344008"/>
            <a:ext cx="11404600" cy="755665"/>
          </a:xfrm>
        </p:spPr>
        <p:txBody>
          <a:bodyPr/>
          <a:lstStyle/>
          <a:p>
            <a:r>
              <a:rPr lang="en-US" dirty="0">
                <a:solidFill>
                  <a:schemeClr val="accent1"/>
                </a:solidFill>
              </a:rPr>
              <a:t>Value hypotheses to test</a:t>
            </a:r>
          </a:p>
        </p:txBody>
      </p:sp>
      <p:sp>
        <p:nvSpPr>
          <p:cNvPr id="5" name="Rounded Rectangle 4">
            <a:extLst>
              <a:ext uri="{FF2B5EF4-FFF2-40B4-BE49-F238E27FC236}">
                <a16:creationId id="{E49F3E50-E7DD-037F-1687-7A3A08473928}"/>
              </a:ext>
            </a:extLst>
          </p:cNvPr>
          <p:cNvSpPr/>
          <p:nvPr/>
        </p:nvSpPr>
        <p:spPr>
          <a:xfrm>
            <a:off x="422753" y="3365501"/>
            <a:ext cx="3568700" cy="2628900"/>
          </a:xfrm>
          <a:prstGeom prst="roundRect">
            <a:avLst>
              <a:gd name="adj" fmla="val 3585"/>
            </a:avLst>
          </a:prstGeom>
          <a:noFill/>
          <a:ln w="127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6" name="Content Placeholder 9">
            <a:extLst>
              <a:ext uri="{FF2B5EF4-FFF2-40B4-BE49-F238E27FC236}">
                <a16:creationId id="{895137EF-1168-9543-8134-200AA74D8FBB}"/>
              </a:ext>
            </a:extLst>
          </p:cNvPr>
          <p:cNvSpPr txBox="1">
            <a:spLocks/>
          </p:cNvSpPr>
          <p:nvPr/>
        </p:nvSpPr>
        <p:spPr>
          <a:xfrm>
            <a:off x="735621" y="4146160"/>
            <a:ext cx="2949339" cy="1432877"/>
          </a:xfrm>
          <a:prstGeom prst="rect">
            <a:avLst/>
          </a:prstGeom>
        </p:spPr>
        <p:txBody>
          <a:bodyPr lIns="0" tIns="0" rIns="0" bIns="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800"/>
              </a:spcAft>
              <a:buFont typeface="Arial" panose="020B0604020202020204" pitchFamily="34" charset="0"/>
              <a:buNone/>
              <a:defRPr/>
            </a:pPr>
            <a:r>
              <a:rPr lang="en-US" sz="1600" dirty="0">
                <a:solidFill>
                  <a:schemeClr val="accent1"/>
                </a:solidFill>
                <a:latin typeface="Roboto Medium" panose="02000000000000000000" pitchFamily="2" charset="0"/>
                <a:ea typeface="Roboto Medium" panose="02000000000000000000" pitchFamily="2" charset="0"/>
                <a:cs typeface="Helvetica Neue" panose="02000503000000020004" pitchFamily="2" charset="0"/>
                <a:sym typeface="OpenAI Sans"/>
              </a:rPr>
              <a:t>Evidence trace</a:t>
            </a:r>
          </a:p>
          <a:p>
            <a:pPr marL="0" indent="0">
              <a:lnSpc>
                <a:spcPct val="114000"/>
              </a:lnSpc>
              <a:spcBef>
                <a:spcPts val="0"/>
              </a:spcBef>
              <a:spcAft>
                <a:spcPts val="800"/>
              </a:spcAft>
              <a:buFont typeface="Arial" panose="020B0604020202020204" pitchFamily="34" charset="0"/>
              <a:buNone/>
              <a:defRPr/>
            </a:pPr>
            <a:r>
              <a:rPr lang="en-US" sz="1600" dirty="0">
                <a:solidFill>
                  <a:prstClr val="black"/>
                </a:solidFill>
                <a:ea typeface="Helvetica Neue" panose="02000503000000020004" pitchFamily="2" charset="0"/>
                <a:cs typeface="Helvetica Neue" panose="02000503000000020004" pitchFamily="2" charset="0"/>
                <a:sym typeface="OpenAI Sans"/>
              </a:rPr>
              <a:t>Open the source row, note line, or transcript segment behind a proposed claim.</a:t>
            </a:r>
            <a:r>
              <a:rPr lang="en-US" sz="1600" dirty="0" err="1">
                <a:solidFill>
                  <a:prstClr val="black"/>
                </a:solidFill>
                <a:ea typeface="Helvetica Neue" panose="02000503000000020004" pitchFamily="2" charset="0"/>
                <a:cs typeface="Helvetica Neue" panose="02000503000000020004" pitchFamily="2" charset="0"/>
                <a:sym typeface="OpenAI Sans"/>
              </a:rPr>
              <a:t/>
            </a:r>
            <a:r>
              <a:rPr lang="en-US" sz="1600" dirty="0">
                <a:solidFill>
                  <a:prstClr val="black"/>
                </a:solidFill>
                <a:ea typeface="Helvetica Neue" panose="02000503000000020004" pitchFamily="2" charset="0"/>
                <a:cs typeface="Helvetica Neue" panose="02000503000000020004" pitchFamily="2" charset="0"/>
                <a:sym typeface="OpenAI Sans"/>
              </a:rPr>
              <a:t/>
            </a:r>
            <a:r>
              <a:rPr lang="en-US" sz="1600" dirty="0" err="1">
                <a:solidFill>
                  <a:prstClr val="black"/>
                </a:solidFill>
                <a:ea typeface="Helvetica Neue" panose="02000503000000020004" pitchFamily="2" charset="0"/>
                <a:cs typeface="Helvetica Neue" panose="02000503000000020004" pitchFamily="2" charset="0"/>
                <a:sym typeface="OpenAI Sans"/>
              </a:rPr>
              <a:t/>
            </a:r>
            <a:r>
              <a:rPr lang="en-US" sz="1600" dirty="0">
                <a:solidFill>
                  <a:prstClr val="black"/>
                </a:solidFill>
                <a:ea typeface="Helvetica Neue" panose="02000503000000020004" pitchFamily="2" charset="0"/>
                <a:cs typeface="Helvetica Neue" panose="02000503000000020004" pitchFamily="2" charset="0"/>
                <a:sym typeface="OpenAI Sans"/>
              </a:rPr>
              <a:t/>
            </a:r>
            <a:r>
              <a:rPr lang="en-US" sz="1600" dirty="0" err="1">
                <a:solidFill>
                  <a:prstClr val="black"/>
                </a:solidFill>
                <a:ea typeface="Helvetica Neue" panose="02000503000000020004" pitchFamily="2" charset="0"/>
                <a:cs typeface="Helvetica Neue" panose="02000503000000020004" pitchFamily="2" charset="0"/>
                <a:sym typeface="OpenAI Sans"/>
              </a:rPr>
              <a:t/>
            </a:r>
            <a:r>
              <a:rPr lang="en-US" sz="1600" dirty="0">
                <a:solidFill>
                  <a:prstClr val="black"/>
                </a:solidFill>
                <a:ea typeface="Helvetica Neue" panose="02000503000000020004" pitchFamily="2" charset="0"/>
                <a:cs typeface="Helvetica Neue" panose="02000503000000020004" pitchFamily="2" charset="0"/>
                <a:sym typeface="OpenAI Sans"/>
              </a:rPr>
              <a:t/>
            </a:r>
            <a:r>
              <a:rPr lang="en-US" sz="1600" dirty="0" err="1">
                <a:solidFill>
                  <a:prstClr val="black"/>
                </a:solidFill>
                <a:ea typeface="Helvetica Neue" panose="02000503000000020004" pitchFamily="2" charset="0"/>
                <a:cs typeface="Helvetica Neue" panose="02000503000000020004" pitchFamily="2" charset="0"/>
                <a:sym typeface="OpenAI Sans"/>
              </a:rPr>
              <a:t/>
            </a:r>
            <a:r>
              <a:rPr lang="en-US" sz="1600" dirty="0">
                <a:solidFill>
                  <a:prstClr val="black"/>
                </a:solidFill>
                <a:ea typeface="Helvetica Neue" panose="02000503000000020004" pitchFamily="2" charset="0"/>
                <a:cs typeface="Helvetica Neue" panose="02000503000000020004" pitchFamily="2" charset="0"/>
                <a:sym typeface="OpenAI Sans"/>
              </a:rPr>
              <a:t/>
            </a:r>
            <a:r>
              <a:rPr lang="en-US" sz="1600" dirty="0" err="1">
                <a:solidFill>
                  <a:prstClr val="black"/>
                </a:solidFill>
                <a:ea typeface="Helvetica Neue" panose="02000503000000020004" pitchFamily="2" charset="0"/>
                <a:cs typeface="Helvetica Neue" panose="02000503000000020004" pitchFamily="2" charset="0"/>
                <a:sym typeface="OpenAI Sans"/>
              </a:rPr>
              <a:t/>
            </a:r>
            <a:r>
              <a:rPr lang="en-US" sz="1600" dirty="0">
                <a:solidFill>
                  <a:prstClr val="black"/>
                </a:solidFill>
                <a:ea typeface="Helvetica Neue" panose="02000503000000020004" pitchFamily="2" charset="0"/>
                <a:cs typeface="Helvetica Neue" panose="02000503000000020004" pitchFamily="2" charset="0"/>
                <a:sym typeface="OpenAI Sans"/>
              </a:rPr>
              <a:t/>
            </a:r>
            <a:r>
              <a:rPr lang="en-US" sz="1600" dirty="0" err="1">
                <a:solidFill>
                  <a:prstClr val="black"/>
                </a:solidFill>
                <a:ea typeface="Helvetica Neue" panose="02000503000000020004" pitchFamily="2" charset="0"/>
                <a:cs typeface="Helvetica Neue" panose="02000503000000020004" pitchFamily="2" charset="0"/>
                <a:sym typeface="OpenAI Sans"/>
              </a:rPr>
              <a:t/>
            </a:r>
            <a:r>
              <a:rPr lang="en-US" sz="1600" dirty="0">
                <a:solidFill>
                  <a:prstClr val="black"/>
                </a:solidFill>
                <a:ea typeface="Helvetica Neue" panose="02000503000000020004" pitchFamily="2" charset="0"/>
                <a:cs typeface="Helvetica Neue" panose="02000503000000020004" pitchFamily="2" charset="0"/>
                <a:sym typeface="OpenAI Sans"/>
              </a:rPr>
              <a:t/>
            </a:r>
            <a:r>
              <a:rPr lang="en-US" sz="1600" dirty="0" err="1">
                <a:solidFill>
                  <a:prstClr val="black"/>
                </a:solidFill>
                <a:ea typeface="Helvetica Neue" panose="02000503000000020004" pitchFamily="2" charset="0"/>
                <a:cs typeface="Helvetica Neue" panose="02000503000000020004" pitchFamily="2" charset="0"/>
                <a:sym typeface="OpenAI Sans"/>
              </a:rPr>
              <a:t/>
            </a:r>
            <a:r>
              <a:rPr lang="en-US" sz="1600" dirty="0">
                <a:solidFill>
                  <a:prstClr val="black"/>
                </a:solidFill>
                <a:ea typeface="Helvetica Neue" panose="02000503000000020004" pitchFamily="2" charset="0"/>
                <a:cs typeface="Helvetica Neue" panose="02000503000000020004" pitchFamily="2" charset="0"/>
                <a:sym typeface="OpenAI Sans"/>
              </a:rPr>
              <a:t/>
            </a:r>
            <a:r>
              <a:rPr lang="en-US" sz="1600" dirty="0" err="1">
                <a:solidFill>
                  <a:prstClr val="black"/>
                </a:solidFill>
                <a:ea typeface="Helvetica Neue" panose="02000503000000020004" pitchFamily="2" charset="0"/>
                <a:cs typeface="Helvetica Neue" panose="02000503000000020004" pitchFamily="2" charset="0"/>
                <a:sym typeface="OpenAI Sans"/>
              </a:rPr>
              <a:t/>
            </a:r>
            <a:r>
              <a:rPr lang="en-US" sz="1600" dirty="0">
                <a:solidFill>
                  <a:prstClr val="black"/>
                </a:solidFill>
                <a:ea typeface="Helvetica Neue" panose="02000503000000020004" pitchFamily="2" charset="0"/>
                <a:cs typeface="Helvetica Neue" panose="02000503000000020004" pitchFamily="2" charset="0"/>
                <a:sym typeface="OpenAI Sans"/>
              </a:rPr>
              <a:t/>
            </a:r>
            <a:r>
              <a:rPr lang="en-US" sz="1600" dirty="0" err="1">
                <a:solidFill>
                  <a:prstClr val="black"/>
                </a:solidFill>
                <a:ea typeface="Helvetica Neue" panose="02000503000000020004" pitchFamily="2" charset="0"/>
                <a:cs typeface="Helvetica Neue" panose="02000503000000020004" pitchFamily="2" charset="0"/>
                <a:sym typeface="OpenAI Sans"/>
              </a:rPr>
              <a:t/>
            </a:r>
            <a:r>
              <a:rPr lang="en-US" sz="1600" dirty="0">
                <a:solidFill>
                  <a:prstClr val="black"/>
                </a:solidFill>
                <a:ea typeface="Helvetica Neue" panose="02000503000000020004" pitchFamily="2" charset="0"/>
                <a:cs typeface="Helvetica Neue" panose="02000503000000020004" pitchFamily="2" charset="0"/>
                <a:sym typeface="OpenAI Sans"/>
              </a:rPr>
              <a:t/>
            </a:r>
            <a:r>
              <a:rPr lang="en-US" sz="1600" dirty="0" err="1">
                <a:solidFill>
                  <a:prstClr val="black"/>
                </a:solidFill>
                <a:ea typeface="Helvetica Neue" panose="02000503000000020004" pitchFamily="2" charset="0"/>
                <a:cs typeface="Helvetica Neue" panose="02000503000000020004" pitchFamily="2" charset="0"/>
                <a:sym typeface="OpenAI Sans"/>
              </a:rPr>
              <a:t/>
            </a:r>
            <a:r>
              <a:rPr lang="en-US" sz="1600" dirty="0">
                <a:solidFill>
                  <a:prstClr val="black"/>
                </a:solidFill>
                <a:ea typeface="Helvetica Neue" panose="02000503000000020004" pitchFamily="2" charset="0"/>
                <a:cs typeface="Helvetica Neue" panose="02000503000000020004" pitchFamily="2" charset="0"/>
                <a:sym typeface="OpenAI Sans"/>
              </a:rPr>
              <a:t/>
            </a:r>
            <a:endParaRPr lang="en-US" sz="1600" dirty="0"/>
          </a:p>
        </p:txBody>
      </p:sp>
      <p:sp>
        <p:nvSpPr>
          <p:cNvPr id="7" name="Google Shape;340;p61">
            <a:extLst>
              <a:ext uri="{FF2B5EF4-FFF2-40B4-BE49-F238E27FC236}">
                <a16:creationId id="{A926CAA1-5F44-3769-A410-E058BAEE3B13}"/>
              </a:ext>
            </a:extLst>
          </p:cNvPr>
          <p:cNvSpPr/>
          <p:nvPr/>
        </p:nvSpPr>
        <p:spPr>
          <a:xfrm>
            <a:off x="741445" y="3694101"/>
            <a:ext cx="233806" cy="233717"/>
          </a:xfrm>
          <a:custGeom>
            <a:avLst/>
            <a:gdLst/>
            <a:ahLst/>
            <a:cxnLst/>
            <a:rect l="l" t="t" r="r" b="b"/>
            <a:pathLst>
              <a:path w="21600" h="21600" extrusionOk="0">
                <a:moveTo>
                  <a:pt x="10800" y="2160"/>
                </a:moveTo>
                <a:cubicBezTo>
                  <a:pt x="6029" y="2160"/>
                  <a:pt x="2160" y="6029"/>
                  <a:pt x="2160" y="10800"/>
                </a:cubicBezTo>
                <a:cubicBezTo>
                  <a:pt x="2160" y="15571"/>
                  <a:pt x="6029" y="19440"/>
                  <a:pt x="10800" y="19440"/>
                </a:cubicBezTo>
                <a:cubicBezTo>
                  <a:pt x="15571" y="19440"/>
                  <a:pt x="19440" y="15571"/>
                  <a:pt x="19440" y="10800"/>
                </a:cubicBezTo>
                <a:cubicBezTo>
                  <a:pt x="19440" y="6029"/>
                  <a:pt x="15571" y="2160"/>
                  <a:pt x="10800" y="2160"/>
                </a:cubicBezTo>
                <a:close/>
                <a:moveTo>
                  <a:pt x="0" y="10800"/>
                </a:moveTo>
                <a:cubicBezTo>
                  <a:pt x="0" y="4835"/>
                  <a:pt x="4835" y="0"/>
                  <a:pt x="10800" y="0"/>
                </a:cubicBezTo>
                <a:cubicBezTo>
                  <a:pt x="16765" y="0"/>
                  <a:pt x="21600" y="4835"/>
                  <a:pt x="21600" y="10800"/>
                </a:cubicBezTo>
                <a:cubicBezTo>
                  <a:pt x="21600" y="16765"/>
                  <a:pt x="16765" y="21600"/>
                  <a:pt x="10800" y="21600"/>
                </a:cubicBezTo>
                <a:cubicBezTo>
                  <a:pt x="4835" y="21600"/>
                  <a:pt x="0" y="16765"/>
                  <a:pt x="0" y="10800"/>
                </a:cubicBezTo>
                <a:close/>
                <a:moveTo>
                  <a:pt x="15201" y="6407"/>
                </a:moveTo>
                <a:cubicBezTo>
                  <a:pt x="15689" y="6750"/>
                  <a:pt x="15807" y="7424"/>
                  <a:pt x="15463" y="7911"/>
                </a:cubicBezTo>
                <a:lnTo>
                  <a:pt x="10333" y="15201"/>
                </a:lnTo>
                <a:cubicBezTo>
                  <a:pt x="10144" y="15470"/>
                  <a:pt x="9844" y="15637"/>
                  <a:pt x="9517" y="15658"/>
                </a:cubicBezTo>
                <a:cubicBezTo>
                  <a:pt x="9190" y="15678"/>
                  <a:pt x="8871" y="15549"/>
                  <a:pt x="8651" y="15307"/>
                </a:cubicBezTo>
                <a:lnTo>
                  <a:pt x="5951" y="12337"/>
                </a:lnTo>
                <a:cubicBezTo>
                  <a:pt x="5550" y="11895"/>
                  <a:pt x="5583" y="11213"/>
                  <a:pt x="6023" y="10811"/>
                </a:cubicBezTo>
                <a:cubicBezTo>
                  <a:pt x="6465" y="10410"/>
                  <a:pt x="7147" y="10443"/>
                  <a:pt x="7549" y="10883"/>
                </a:cubicBezTo>
                <a:lnTo>
                  <a:pt x="9342" y="12856"/>
                </a:lnTo>
                <a:lnTo>
                  <a:pt x="13697" y="6669"/>
                </a:lnTo>
                <a:cubicBezTo>
                  <a:pt x="14040" y="6181"/>
                  <a:pt x="14714" y="6063"/>
                  <a:pt x="15201" y="6407"/>
                </a:cubicBezTo>
                <a:close/>
              </a:path>
            </a:pathLst>
          </a:custGeom>
          <a:solidFill>
            <a:schemeClr val="accent1"/>
          </a:solidFill>
          <a:ln>
            <a:noFill/>
          </a:ln>
        </p:spPr>
        <p:txBody>
          <a:bodyPr spcFirstLastPara="1" wrap="square" lIns="38100" tIns="38100" rIns="38100" bIns="38100" anchor="ctr" anchorCtr="0">
            <a:noAutofit/>
          </a:bodyPr>
          <a:lstStyle/>
          <a:p>
            <a:pPr algn="ctr">
              <a:buClr>
                <a:srgbClr val="FFFFFF"/>
              </a:buClr>
              <a:buSzPts val="2400"/>
            </a:pPr>
            <a:endParaRPr sz="2400">
              <a:solidFill>
                <a:srgbClr val="FFFFFF"/>
              </a:solidFill>
              <a:latin typeface="Helvetica Neue"/>
              <a:ea typeface="Helvetica Neue"/>
              <a:cs typeface="Helvetica Neue"/>
              <a:sym typeface="Helvetica Neue"/>
            </a:endParaRPr>
          </a:p>
        </p:txBody>
      </p:sp>
      <p:sp>
        <p:nvSpPr>
          <p:cNvPr id="17" name="Google Shape;534;p58">
            <a:extLst>
              <a:ext uri="{FF2B5EF4-FFF2-40B4-BE49-F238E27FC236}">
                <a16:creationId id="{208EF3D1-5C57-8D4F-49C8-21BD74420786}"/>
              </a:ext>
            </a:extLst>
          </p:cNvPr>
          <p:cNvSpPr txBox="1">
            <a:spLocks/>
          </p:cNvSpPr>
          <p:nvPr/>
        </p:nvSpPr>
        <p:spPr>
          <a:xfrm>
            <a:off x="393700" y="1820543"/>
            <a:ext cx="11404600" cy="1326615"/>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800"/>
              </a:spcAft>
              <a:buFont typeface="Arial" panose="020B0604020202020204" pitchFamily="34" charset="0"/>
              <a:buNone/>
            </a:pP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The pilot should test source traceability, reviewer confidence, and action follow-through in existing exercise workflows.</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p>
          <a:p>
            <a:pPr marL="0" indent="0">
              <a:lnSpc>
                <a:spcPct val="114000"/>
              </a:lnSpc>
              <a:spcBef>
                <a:spcPts val="0"/>
              </a:spcBef>
              <a:spcAft>
                <a:spcPts val="800"/>
              </a:spcAft>
              <a:buNone/>
            </a:pP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Existing platforms already offer after-action reports and follow-up tasks. DrillLoop’s positioning hypothesis is the connected trail from claim to source, reviewer decision, and verified closure—not report generation alone.</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err="1">
                <a:latin typeface="Helvetica Neue" panose="02000503000000020004" pitchFamily="2" charset="0"/>
                <a:ea typeface="Helvetica Neue" panose="02000503000000020004" pitchFamily="2" charset="0"/>
                <a:cs typeface="Helvetica Neue" panose="02000503000000020004" pitchFamily="2" charset="0"/>
                <a:sym typeface="OpenAI Sans"/>
              </a:rPr>
              <a:t/>
            </a:r>
            <a:r>
              <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rPr>
              <a:t/>
            </a:r>
          </a:p>
        </p:txBody>
      </p:sp>
      <p:sp>
        <p:nvSpPr>
          <p:cNvPr id="18" name="Google Shape;534;p58">
            <a:extLst>
              <a:ext uri="{FF2B5EF4-FFF2-40B4-BE49-F238E27FC236}">
                <a16:creationId id="{93CCF932-231F-7EA0-6520-FFB192B4EFA5}"/>
              </a:ext>
            </a:extLst>
          </p:cNvPr>
          <p:cNvSpPr txBox="1">
            <a:spLocks/>
          </p:cNvSpPr>
          <p:nvPr/>
        </p:nvSpPr>
        <p:spPr>
          <a:xfrm>
            <a:off x="393699" y="1318016"/>
            <a:ext cx="11404599" cy="402442"/>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800"/>
              </a:spcAft>
              <a:buFont typeface="Arial" panose="020B0604020202020204" pitchFamily="34" charset="0"/>
              <a:buNone/>
            </a:pPr>
            <a:r>
              <a:rPr lang="en-US" sz="2000" dirty="0">
                <a:latin typeface="+mj-lt"/>
                <a:ea typeface="Helvetica Neue" panose="02000503000000020004" pitchFamily="2" charset="0"/>
                <a:cs typeface="Helvetica Neue" panose="02000503000000020004" pitchFamily="2" charset="0"/>
                <a:sym typeface="OpenAI Sans"/>
              </a:rPr>
              <a:t>No savings or willingness to pay have been measured.</a:t>
            </a:r>
            <a:r>
              <a:rPr lang="en-US" sz="2000" dirty="0" err="1">
                <a:latin typeface="+mj-lt"/>
                <a:ea typeface="Helvetica Neue" panose="02000503000000020004" pitchFamily="2" charset="0"/>
                <a:cs typeface="Helvetica Neue" panose="02000503000000020004" pitchFamily="2" charset="0"/>
                <a:sym typeface="OpenAI Sans"/>
              </a:rPr>
              <a:t/>
            </a:r>
            <a:r>
              <a:rPr lang="en-US" sz="2000" dirty="0">
                <a:latin typeface="+mj-lt"/>
                <a:ea typeface="Helvetica Neue" panose="02000503000000020004" pitchFamily="2" charset="0"/>
                <a:cs typeface="Helvetica Neue" panose="02000503000000020004" pitchFamily="2" charset="0"/>
                <a:sym typeface="OpenAI Sans"/>
              </a:rPr>
              <a:t/>
            </a:r>
            <a:r>
              <a:rPr lang="en-US" sz="2000" dirty="0" err="1">
                <a:latin typeface="+mj-lt"/>
                <a:ea typeface="Helvetica Neue" panose="02000503000000020004" pitchFamily="2" charset="0"/>
                <a:cs typeface="Helvetica Neue" panose="02000503000000020004" pitchFamily="2" charset="0"/>
                <a:sym typeface="OpenAI Sans"/>
              </a:rPr>
              <a:t/>
            </a:r>
            <a:r>
              <a:rPr lang="en-US" sz="2000" dirty="0">
                <a:latin typeface="+mj-lt"/>
                <a:ea typeface="Helvetica Neue" panose="02000503000000020004" pitchFamily="2" charset="0"/>
                <a:cs typeface="Helvetica Neue" panose="02000503000000020004" pitchFamily="2" charset="0"/>
                <a:sym typeface="OpenAI Sans"/>
              </a:rPr>
              <a:t/>
            </a:r>
            <a:r>
              <a:rPr lang="en-US" sz="2000" dirty="0" err="1">
                <a:latin typeface="+mj-lt"/>
                <a:ea typeface="Helvetica Neue" panose="02000503000000020004" pitchFamily="2" charset="0"/>
                <a:cs typeface="Helvetica Neue" panose="02000503000000020004" pitchFamily="2" charset="0"/>
                <a:sym typeface="OpenAI Sans"/>
              </a:rPr>
              <a:t/>
            </a:r>
            <a:r>
              <a:rPr lang="en-US" sz="2000" dirty="0">
                <a:latin typeface="+mj-lt"/>
                <a:ea typeface="Helvetica Neue" panose="02000503000000020004" pitchFamily="2" charset="0"/>
                <a:cs typeface="Helvetica Neue" panose="02000503000000020004" pitchFamily="2" charset="0"/>
                <a:sym typeface="OpenAI Sans"/>
              </a:rPr>
              <a:t/>
            </a:r>
            <a:r>
              <a:rPr lang="en-US" sz="2000" dirty="0" err="1">
                <a:latin typeface="+mj-lt"/>
                <a:ea typeface="Helvetica Neue" panose="02000503000000020004" pitchFamily="2" charset="0"/>
                <a:cs typeface="Helvetica Neue" panose="02000503000000020004" pitchFamily="2" charset="0"/>
                <a:sym typeface="OpenAI Sans"/>
              </a:rPr>
              <a:t/>
            </a:r>
            <a:r>
              <a:rPr lang="en-US" sz="2000" dirty="0">
                <a:latin typeface="+mj-lt"/>
                <a:ea typeface="Helvetica Neue" panose="02000503000000020004" pitchFamily="2" charset="0"/>
                <a:cs typeface="Helvetica Neue" panose="02000503000000020004" pitchFamily="2" charset="0"/>
                <a:sym typeface="OpenAI Sans"/>
              </a:rPr>
              <a:t/>
            </a:r>
            <a:endParaRPr lang="en-US" sz="2000" dirty="0">
              <a:latin typeface="+mj-lt"/>
              <a:ea typeface="Helvetica Neue Medium" panose="02000503000000020004" pitchFamily="2" charset="0"/>
              <a:cs typeface="Helvetica Neue Medium" panose="02000503000000020004" pitchFamily="2" charset="0"/>
              <a:sym typeface="OpenAI Sans"/>
            </a:endParaRPr>
          </a:p>
        </p:txBody>
      </p:sp>
    </p:spTree>
    <p:extLst>
      <p:ext uri="{BB962C8B-B14F-4D97-AF65-F5344CB8AC3E}">
        <p14:creationId val="1566183075"/>
      </p:ext>
    </p:extLst>
  </p:cSld>
  <p:clrMapOvr>
    <a:masterClrMapping/>
  </p:clrMapOvr>
</p:sld>
</file>

<file path=ppt/slides/slide7.xml><?xml version="1.0" encoding="utf-8"?>
<p:sld xmlns:a="http://schemas.openxmlformats.org/drawingml/2006/main" xmlns:a16="http://schemas.microsoft.com/office/drawing/2014/main" xmlns:p="http://schemas.openxmlformats.org/presentationml/2006/main" xmlns:p14="http://schemas.microsoft.com/office/powerpoint/2010/main">
  <p:cSld>
    <p:spTree>
      <p:nvGrpSpPr>
        <p:cNvPr id="1" name="Shape 531">
          <a:extLst>
            <a:ext uri="{FF2B5EF4-FFF2-40B4-BE49-F238E27FC236}">
              <a16:creationId id="{955627D7-4531-FF60-E9C2-2F11A6392F36}"/>
            </a:ext>
          </a:extLst>
        </p:cNvPr>
        <p:cNvGrpSpPr/>
        <p:nvPr/>
      </p:nvGrpSpPr>
      <p:grpSpPr>
        <a:xfrm>
          <a:off x="0" y="0"/>
          <a:ext cx="0" cy="0"/>
          <a:chOff x="0" y="0"/>
          <a:chExt cx="0" cy="0"/>
        </a:xfrm>
      </p:grpSpPr>
      <p:sp>
        <p:nvSpPr>
          <p:cNvPr id="534" name="Google Shape;534;p58">
            <a:extLst>
              <a:ext uri="{FF2B5EF4-FFF2-40B4-BE49-F238E27FC236}">
                <a16:creationId id="{C936F667-D10C-5292-AA3B-96BE2CAC84D9}"/>
              </a:ext>
            </a:extLst>
          </p:cNvPr>
          <p:cNvSpPr txBox="1">
            <a:spLocks noGrp="1"/>
          </p:cNvSpPr>
          <p:nvPr>
            <p:ph idx="1"/>
          </p:nvPr>
        </p:nvSpPr>
        <p:spPr>
          <a:xfrm>
            <a:off x="393700" y="2192694"/>
            <a:ext cx="5537200" cy="3801706"/>
          </a:xfrm>
          <a:prstGeom prst="rect">
            <a:avLst/>
          </a:prstGeom>
        </p:spPr>
        <p:txBody>
          <a:bodyPr spcFirstLastPara="1" vert="horz" wrap="square" lIns="0" tIns="0" rIns="0" bIns="0" rtlCol="0" anchor="t" anchorCtr="0">
            <a:noAutofit/>
          </a:bodyPr>
          <a:lstStyle/>
          <a:p>
            <a:pPr marL="0" indent="0">
              <a:lnSpc>
                <a:spcPct val="114000"/>
              </a:lnSpc>
              <a:spcBef>
                <a:spcPts val="0"/>
              </a:spcBef>
              <a:spcAft>
                <a:spcPts val="800"/>
              </a:spcAft>
              <a:buNone/>
            </a:pPr>
            <a:r>
              <a:rPr lang="en-US" sz="1400" dirty="0">
                <a:ea typeface="Helvetica Neue" panose="02000503000000020004" pitchFamily="2" charset="0"/>
                <a:cs typeface="Helvetica Neue" panose="02000503000000020004" pitchFamily="2" charset="0"/>
                <a:sym typeface="OpenAI Sans"/>
              </a:rPr>
              <a:t>The app sets up exercises and accepts evaluator notes, event logs, and readable PDFs. It places recorded events on a timeline, flags conflicting times, and attaches each draft finding to its source.</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p>
          <a:p>
            <a:pPr marL="0" indent="0">
              <a:lnSpc>
                <a:spcPct val="114000"/>
              </a:lnSpc>
              <a:spcBef>
                <a:spcPts val="0"/>
              </a:spcBef>
              <a:spcAft>
                <a:spcPts val="800"/>
              </a:spcAft>
              <a:buNone/>
            </a:pPr>
            <a:r>
              <a:rPr lang="en-US" sz="1400" dirty="0">
                <a:ea typeface="Helvetica Neue" panose="02000503000000020004" pitchFamily="2" charset="0"/>
                <a:cs typeface="Helvetica Neue" panose="02000503000000020004" pitchFamily="2" charset="0"/>
                <a:sym typeface="OpenAI Sans"/>
              </a:rPr>
              <a:t>Reviewers can accept or reject drafts, assign owners and due dates, specify how completion will be checked, record closure proof, and export a report. A simple local database supports the demo; a deployment-ready database option is included.</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p>
          <a:p>
            <a:pPr marL="0" indent="0">
              <a:lnSpc>
                <a:spcPct val="114000"/>
              </a:lnSpc>
              <a:spcBef>
                <a:spcPts val="0"/>
              </a:spcBef>
              <a:spcAft>
                <a:spcPts val="800"/>
              </a:spcAft>
              <a:buNone/>
            </a:pPr>
            <a:r>
              <a:rPr lang="en-US" sz="1400" dirty="0">
                <a:ea typeface="Helvetica Neue" panose="02000503000000020004" pitchFamily="2" charset="0"/>
                <a:cs typeface="Helvetica Neue" panose="02000503000000020004" pitchFamily="2" charset="0"/>
                <a:sym typeface="OpenAI Sans"/>
              </a:rPr>
              <a:t>Optional speech-to-text and text-drafting models can run locally. Neither was used in the reported benchmark.</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p>
        </p:txBody>
      </p:sp>
      <p:sp>
        <p:nvSpPr>
          <p:cNvPr id="532" name="Google Shape;532;p58">
            <a:extLst>
              <a:ext uri="{FF2B5EF4-FFF2-40B4-BE49-F238E27FC236}">
                <a16:creationId id="{C5959EFF-52C4-5B31-3FCE-BFF3A75CF3CF}"/>
              </a:ext>
            </a:extLst>
          </p:cNvPr>
          <p:cNvSpPr txBox="1">
            <a:spLocks noGrp="1"/>
          </p:cNvSpPr>
          <p:nvPr>
            <p:ph type="sldNum" sz="quarter" idx="4"/>
          </p:nvPr>
        </p:nvSpPr>
        <p:spPr>
          <a:prstGeom prst="rect">
            <a:avLst/>
          </a:prstGeom>
        </p:spPr>
        <p:txBody>
          <a:bodyPr spcFirstLastPara="1" vert="horz" wrap="square" lIns="0" tIns="0" rIns="0" bIns="0" rtlCol="0" anchor="b" anchorCtr="0">
            <a:noAutofit/>
          </a:bodyPr>
          <a:lstStyle/>
          <a:p>
            <a:fld id="{00000000-1234-1234-1234-123412341234}" type="slidenum">
              <a:rPr lang="en" smtClean="0">
                <a:sym typeface="OpenAI Sans"/>
              </a:rPr>
              <a:pPr/>
              <a:t>7</a:t>
            </a:fld>
            <a:endParaRPr lang="en" dirty="0">
              <a:sym typeface="OpenAI Sans"/>
            </a:endParaRPr>
          </a:p>
        </p:txBody>
      </p:sp>
      <p:sp>
        <p:nvSpPr>
          <p:cNvPr id="533" name="Google Shape;533;p58">
            <a:extLst>
              <a:ext uri="{FF2B5EF4-FFF2-40B4-BE49-F238E27FC236}">
                <a16:creationId id="{469ED97F-6CDE-1EE8-6602-FE9CC4D732BE}"/>
              </a:ext>
            </a:extLst>
          </p:cNvPr>
          <p:cNvSpPr txBox="1">
            <a:spLocks noGrp="1"/>
          </p:cNvSpPr>
          <p:nvPr>
            <p:ph type="title"/>
          </p:nvPr>
        </p:nvSpPr>
        <p:spPr>
          <a:xfrm>
            <a:off x="393700" y="355026"/>
            <a:ext cx="7835900" cy="1029274"/>
          </a:xfrm>
          <a:prstGeom prst="rect">
            <a:avLst/>
          </a:prstGeom>
        </p:spPr>
        <p:txBody>
          <a:bodyPr spcFirstLastPara="1" vert="horz" wrap="square" lIns="0" tIns="0" rIns="0" bIns="0" rtlCol="0" anchor="t" anchorCtr="0">
            <a:noAutofit/>
          </a:bodyPr>
          <a:lstStyle/>
          <a:p>
            <a:r>
              <a:rPr lang="en-US" dirty="0">
                <a:solidFill>
                  <a:schemeClr val="accent1"/>
                </a:solidFill>
              </a:rPr>
              <a:t>What is delivered—and what remains unproven</a:t>
            </a:r>
          </a:p>
        </p:txBody>
      </p:sp>
      <p:sp>
        <p:nvSpPr>
          <p:cNvPr id="2" name="Google Shape;534;p58">
            <a:extLst>
              <a:ext uri="{FF2B5EF4-FFF2-40B4-BE49-F238E27FC236}">
                <a16:creationId id="{A4A94F3C-B1B2-7289-7098-7C66C8A291D6}"/>
              </a:ext>
            </a:extLst>
          </p:cNvPr>
          <p:cNvSpPr txBox="1">
            <a:spLocks/>
          </p:cNvSpPr>
          <p:nvPr/>
        </p:nvSpPr>
        <p:spPr>
          <a:xfrm>
            <a:off x="6265111" y="2192694"/>
            <a:ext cx="5537200" cy="3801706"/>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800"/>
              </a:spcAft>
              <a:buFont typeface="Arial" panose="020B0604020202020204" pitchFamily="34" charset="0"/>
              <a:buNone/>
            </a:pPr>
            <a:r>
              <a:rPr lang="en-US" sz="1400" dirty="0">
                <a:ea typeface="Helvetica Neue" panose="02000503000000020004" pitchFamily="2" charset="0"/>
                <a:cs typeface="Helvetica Neue" panose="02000503000000020004" pitchFamily="2" charset="0"/>
                <a:sym typeface="OpenAI Sans"/>
              </a:rPr>
              <a:t>Still unproven</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p>
          <a:p>
            <a:pPr marL="0" indent="0">
              <a:lnSpc>
                <a:spcPct val="114000"/>
              </a:lnSpc>
              <a:spcBef>
                <a:spcPts val="0"/>
              </a:spcBef>
              <a:spcAft>
                <a:spcPts val="800"/>
              </a:spcAft>
              <a:buFont typeface="Arial" panose="020B0604020202020204" pitchFamily="34" charset="0"/>
              <a:buNone/>
            </a:pPr>
            <a:r>
              <a:rPr lang="en-US" sz="1400" dirty="0">
                <a:ea typeface="Helvetica Neue" panose="02000503000000020004" pitchFamily="2" charset="0"/>
                <a:cs typeface="Helvetica Neue" panose="02000503000000020004" pitchFamily="2" charset="0"/>
                <a:sym typeface="OpenAI Sans"/>
              </a:rPr>
              <a:t>No customer interviews, paid pilots, manual timing baseline, reviewer correction study, real-audio accuracy, or local-model quality results are available.</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p>
          <a:p>
            <a:pPr marL="0" indent="0">
              <a:lnSpc>
                <a:spcPct val="114000"/>
              </a:lnSpc>
              <a:spcBef>
                <a:spcPts val="0"/>
              </a:spcBef>
              <a:spcAft>
                <a:spcPts val="800"/>
              </a:spcAft>
              <a:buFont typeface="Arial" panose="020B0604020202020204" pitchFamily="34" charset="0"/>
              <a:buNone/>
            </a:pPr>
            <a:r>
              <a:rPr lang="en-US" sz="1400" dirty="0">
                <a:ea typeface="Helvetica Neue" panose="02000503000000020004" pitchFamily="2" charset="0"/>
                <a:cs typeface="Helvetica Neue" panose="02000503000000020004" pitchFamily="2" charset="0"/>
                <a:sym typeface="OpenAI Sans"/>
              </a:rPr>
              <a:t>The perfect fixture scores reflect labels built for one fictional scenario. They do not establish general performance. Enterprise login, role-based access, and buyer demand also need validation.</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p>
        </p:txBody>
      </p:sp>
      <p:sp>
        <p:nvSpPr>
          <p:cNvPr id="6" name="Footer Placeholder 5">
            <a:extLst>
              <a:ext uri="{FF2B5EF4-FFF2-40B4-BE49-F238E27FC236}">
                <a16:creationId id="{43787D66-ADFA-FEAC-9070-B9C216CEFEAB}"/>
              </a:ext>
            </a:extLst>
          </p:cNvPr>
          <p:cNvSpPr>
            <a:spLocks noGrp="1"/>
          </p:cNvSpPr>
          <p:nvPr>
            <p:ph type="ftr" sz="quarter" idx="3"/>
          </p:nvPr>
        </p:nvSpPr>
        <p:spPr/>
        <p:txBody>
          <a:bodyPr/>
          <a:lstStyle/>
          <a:p>
            <a:endParaRPr lang="en-US" sz="1100" dirty="0"/>
          </a:p>
        </p:txBody>
      </p:sp>
      <p:sp>
        <p:nvSpPr>
          <p:cNvPr id="3" name="Google Shape;534;p58">
            <a:extLst>
              <a:ext uri="{FF2B5EF4-FFF2-40B4-BE49-F238E27FC236}">
                <a16:creationId id="{FD46BF2A-8122-2E0A-E8CC-886653CF64DA}"/>
              </a:ext>
            </a:extLst>
          </p:cNvPr>
          <p:cNvSpPr txBox="1">
            <a:spLocks/>
          </p:cNvSpPr>
          <p:nvPr/>
        </p:nvSpPr>
        <p:spPr>
          <a:xfrm>
            <a:off x="393700" y="1310936"/>
            <a:ext cx="5537200" cy="719318"/>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800"/>
              </a:spcAft>
              <a:buNone/>
            </a:pPr>
            <a:r>
              <a:rPr lang="en-US" sz="2000" dirty="0">
                <a:latin typeface="+mj-lt"/>
                <a:ea typeface="Helvetica Neue" panose="02000503000000020004" pitchFamily="2" charset="0"/>
                <a:cs typeface="Helvetica Neue" panose="02000503000000020004" pitchFamily="2" charset="0"/>
                <a:sym typeface="OpenAI Sans"/>
              </a:rPr>
              <a:t>Delivered in the MVP</a:t>
            </a:r>
            <a:r>
              <a:rPr lang="en-US" sz="2000" dirty="0" err="1">
                <a:latin typeface="+mj-lt"/>
                <a:ea typeface="Helvetica Neue" panose="02000503000000020004" pitchFamily="2" charset="0"/>
                <a:cs typeface="Helvetica Neue" panose="02000503000000020004" pitchFamily="2" charset="0"/>
                <a:sym typeface="OpenAI Sans"/>
              </a:rPr>
              <a:t/>
            </a:r>
            <a:r>
              <a:rPr lang="en-US" sz="2000" dirty="0">
                <a:latin typeface="+mj-lt"/>
                <a:ea typeface="Helvetica Neue" panose="02000503000000020004" pitchFamily="2" charset="0"/>
                <a:cs typeface="Helvetica Neue" panose="02000503000000020004" pitchFamily="2" charset="0"/>
                <a:sym typeface="OpenAI Sans"/>
              </a:rPr>
              <a:t/>
            </a:r>
            <a:r>
              <a:rPr lang="en-US" sz="2000" dirty="0" err="1">
                <a:latin typeface="+mj-lt"/>
                <a:ea typeface="Helvetica Neue" panose="02000503000000020004" pitchFamily="2" charset="0"/>
                <a:cs typeface="Helvetica Neue" panose="02000503000000020004" pitchFamily="2" charset="0"/>
                <a:sym typeface="OpenAI Sans"/>
              </a:rPr>
              <a:t/>
            </a:r>
            <a:r>
              <a:rPr lang="en-US" sz="2000" dirty="0">
                <a:latin typeface="+mj-lt"/>
                <a:ea typeface="Helvetica Neue" panose="02000503000000020004" pitchFamily="2" charset="0"/>
                <a:cs typeface="Helvetica Neue" panose="02000503000000020004" pitchFamily="2" charset="0"/>
                <a:sym typeface="OpenAI Sans"/>
              </a:rPr>
              <a:t/>
            </a:r>
            <a:r>
              <a:rPr lang="en-US" sz="2000" dirty="0" err="1">
                <a:latin typeface="+mj-lt"/>
                <a:ea typeface="Helvetica Neue" panose="02000503000000020004" pitchFamily="2" charset="0"/>
                <a:cs typeface="Helvetica Neue" panose="02000503000000020004" pitchFamily="2" charset="0"/>
                <a:sym typeface="OpenAI Sans"/>
              </a:rPr>
              <a:t/>
            </a:r>
            <a:r>
              <a:rPr lang="en-US" sz="2000" dirty="0">
                <a:latin typeface="+mj-lt"/>
                <a:ea typeface="Helvetica Neue" panose="02000503000000020004" pitchFamily="2" charset="0"/>
                <a:cs typeface="Helvetica Neue" panose="02000503000000020004" pitchFamily="2" charset="0"/>
                <a:sym typeface="OpenAI Sans"/>
              </a:rPr>
              <a:t/>
            </a:r>
            <a:r>
              <a:rPr lang="en-US" sz="2000" dirty="0" err="1">
                <a:latin typeface="+mj-lt"/>
                <a:ea typeface="Helvetica Neue" panose="02000503000000020004" pitchFamily="2" charset="0"/>
                <a:cs typeface="Helvetica Neue" panose="02000503000000020004" pitchFamily="2" charset="0"/>
                <a:sym typeface="OpenAI Sans"/>
              </a:rPr>
              <a:t/>
            </a:r>
            <a:r>
              <a:rPr lang="en-US" sz="2000" dirty="0">
                <a:latin typeface="+mj-lt"/>
                <a:ea typeface="Helvetica Neue" panose="02000503000000020004" pitchFamily="2" charset="0"/>
                <a:cs typeface="Helvetica Neue" panose="02000503000000020004" pitchFamily="2" charset="0"/>
                <a:sym typeface="OpenAI Sans"/>
              </a:rPr>
              <a:t/>
            </a:r>
            <a:r>
              <a:rPr lang="en-US" sz="2000" dirty="0" err="1">
                <a:latin typeface="+mj-lt"/>
                <a:ea typeface="Helvetica Neue" panose="02000503000000020004" pitchFamily="2" charset="0"/>
                <a:cs typeface="Helvetica Neue" panose="02000503000000020004" pitchFamily="2" charset="0"/>
                <a:sym typeface="OpenAI Sans"/>
              </a:rPr>
              <a:t/>
            </a:r>
            <a:r>
              <a:rPr lang="en-US" sz="2000" dirty="0">
                <a:latin typeface="+mj-lt"/>
                <a:ea typeface="Helvetica Neue" panose="02000503000000020004" pitchFamily="2" charset="0"/>
                <a:cs typeface="Helvetica Neue" panose="02000503000000020004" pitchFamily="2" charset="0"/>
                <a:sym typeface="OpenAI Sans"/>
              </a:rPr>
              <a:t/>
            </a:r>
            <a:r>
              <a:rPr lang="en-US" sz="2000" dirty="0" err="1">
                <a:latin typeface="+mj-lt"/>
                <a:ea typeface="Helvetica Neue" panose="02000503000000020004" pitchFamily="2" charset="0"/>
                <a:cs typeface="Helvetica Neue" panose="02000503000000020004" pitchFamily="2" charset="0"/>
                <a:sym typeface="OpenAI Sans"/>
              </a:rPr>
              <a:t/>
            </a:r>
            <a:r>
              <a:rPr lang="en-US" sz="2000" dirty="0">
                <a:latin typeface="+mj-lt"/>
                <a:ea typeface="Helvetica Neue" panose="02000503000000020004" pitchFamily="2" charset="0"/>
                <a:cs typeface="Helvetica Neue" panose="02000503000000020004" pitchFamily="2" charset="0"/>
                <a:sym typeface="OpenAI Sans"/>
              </a:rPr>
              <a:t/>
            </a:r>
          </a:p>
        </p:txBody>
      </p:sp>
    </p:spTree>
    <p:extLst>
      <p:ext uri="{BB962C8B-B14F-4D97-AF65-F5344CB8AC3E}">
        <p14:creationId val="546221724"/>
      </p:ext>
    </p:extLst>
  </p:cSld>
  <p:clrMapOvr>
    <a:masterClrMapping/>
  </p:clrMapOvr>
</p:sld>
</file>

<file path=ppt/slides/slide8.xml><?xml version="1.0" encoding="utf-8"?>
<p:sld xmlns:a="http://schemas.openxmlformats.org/drawingml/2006/main" xmlns:a16="http://schemas.microsoft.com/office/drawing/2014/main" xmlns:p="http://schemas.openxmlformats.org/presentationml/2006/main" xmlns:p14="http://schemas.microsoft.com/office/powerpoint/2010/main">
  <p:cSld>
    <p:spTree>
      <p:nvGrpSpPr>
        <p:cNvPr id="1" name="Shape 531">
          <a:extLst>
            <a:ext uri="{FF2B5EF4-FFF2-40B4-BE49-F238E27FC236}">
              <a16:creationId id="{2F4F4A9C-A879-377C-6409-053F582355F7}"/>
            </a:ext>
          </a:extLst>
        </p:cNvPr>
        <p:cNvGrpSpPr/>
        <p:nvPr/>
      </p:nvGrpSpPr>
      <p:grpSpPr>
        <a:xfrm>
          <a:off x="0" y="0"/>
          <a:ext cx="0" cy="0"/>
          <a:chOff x="0" y="0"/>
          <a:chExt cx="0" cy="0"/>
        </a:xfrm>
      </p:grpSpPr>
      <p:sp>
        <p:nvSpPr>
          <p:cNvPr id="532" name="Google Shape;532;p58">
            <a:extLst>
              <a:ext uri="{FF2B5EF4-FFF2-40B4-BE49-F238E27FC236}">
                <a16:creationId id="{CF5D028D-B73B-5BFF-0AA5-65F94FB570F9}"/>
              </a:ext>
            </a:extLst>
          </p:cNvPr>
          <p:cNvSpPr txBox="1">
            <a:spLocks noGrp="1"/>
          </p:cNvSpPr>
          <p:nvPr>
            <p:ph type="sldNum" sz="quarter" idx="4"/>
          </p:nvPr>
        </p:nvSpPr>
        <p:spPr>
          <a:prstGeom prst="rect">
            <a:avLst/>
          </a:prstGeom>
        </p:spPr>
        <p:txBody>
          <a:bodyPr spcFirstLastPara="1" vert="horz" wrap="square" lIns="0" tIns="0" rIns="0" bIns="0" rtlCol="0" anchor="b" anchorCtr="0">
            <a:noAutofit/>
          </a:bodyPr>
          <a:lstStyle/>
          <a:p>
            <a:fld id="{00000000-1234-1234-1234-123412341234}" type="slidenum">
              <a:rPr lang="en">
                <a:sym typeface="OpenAI Sans"/>
              </a:rPr>
              <a:pPr/>
              <a:t>8</a:t>
            </a:fld>
            <a:endParaRPr dirty="0">
              <a:sym typeface="OpenAI Sans"/>
            </a:endParaRPr>
          </a:p>
        </p:txBody>
      </p:sp>
      <p:sp>
        <p:nvSpPr>
          <p:cNvPr id="533" name="Google Shape;533;p58">
            <a:extLst>
              <a:ext uri="{FF2B5EF4-FFF2-40B4-BE49-F238E27FC236}">
                <a16:creationId id="{D035ED81-B82C-6CFE-FAA7-0911E05CDEB2}"/>
              </a:ext>
            </a:extLst>
          </p:cNvPr>
          <p:cNvSpPr txBox="1">
            <a:spLocks noGrp="1"/>
          </p:cNvSpPr>
          <p:nvPr>
            <p:ph type="title"/>
          </p:nvPr>
        </p:nvSpPr>
        <p:spPr>
          <a:xfrm>
            <a:off x="393700" y="1170935"/>
            <a:ext cx="11404600" cy="1797958"/>
          </a:xfrm>
          <a:prstGeom prst="rect">
            <a:avLst/>
          </a:prstGeom>
        </p:spPr>
        <p:txBody>
          <a:bodyPr spcFirstLastPara="1" vert="horz" wrap="square" lIns="0" tIns="0" rIns="0" bIns="0" rtlCol="0" anchor="b" anchorCtr="0">
            <a:noAutofit/>
          </a:bodyPr>
          <a:lstStyle/>
          <a:p>
            <a:pPr algn="ctr"/>
            <a:r>
              <a:rPr lang="en-US" sz="4200" dirty="0">
                <a:solidFill>
                  <a:schemeClr val="accent1"/>
                </a:solidFill>
              </a:rPr>
              <a:t>Target markets are hypotheses, not customers</a:t>
            </a:r>
            <a:br>
              <a:rPr lang="en-US" sz="4200" dirty="0">
                <a:solidFill>
                  <a:schemeClr val="accent1"/>
                </a:solidFill>
              </a:rPr>
            </a:br>
            <a:r>
              <a:rPr lang="en-US" sz="4200" dirty="0">
                <a:solidFill>
                  <a:schemeClr val="accent1"/>
                </a:solidFill>
              </a:rPr>
              <a:t/>
            </a:r>
            <a:endParaRPr sz="4200" dirty="0">
              <a:solidFill>
                <a:schemeClr val="accent1"/>
              </a:solidFill>
            </a:endParaRPr>
          </a:p>
        </p:txBody>
      </p:sp>
      <p:sp>
        <p:nvSpPr>
          <p:cNvPr id="2" name="Footer Placeholder 1">
            <a:extLst>
              <a:ext uri="{FF2B5EF4-FFF2-40B4-BE49-F238E27FC236}">
                <a16:creationId id="{AEFF86C5-A7D2-315F-C644-70488B8E4BC8}"/>
              </a:ext>
            </a:extLst>
          </p:cNvPr>
          <p:cNvSpPr>
            <a:spLocks noGrp="1"/>
          </p:cNvSpPr>
          <p:nvPr>
            <p:ph type="ftr" sz="quarter" idx="3"/>
          </p:nvPr>
        </p:nvSpPr>
        <p:spPr/>
        <p:txBody>
          <a:bodyPr/>
          <a:lstStyle/>
          <a:p>
            <a:endParaRPr lang="en-US" sz="1100" dirty="0"/>
          </a:p>
        </p:txBody>
      </p:sp>
      <p:sp>
        <p:nvSpPr>
          <p:cNvPr id="3" name="Google Shape;534;p58">
            <a:extLst>
              <a:ext uri="{FF2B5EF4-FFF2-40B4-BE49-F238E27FC236}">
                <a16:creationId id="{6730FFED-E57C-67CB-4BAA-568126831AB5}"/>
              </a:ext>
            </a:extLst>
          </p:cNvPr>
          <p:cNvSpPr txBox="1">
            <a:spLocks/>
          </p:cNvSpPr>
          <p:nvPr/>
        </p:nvSpPr>
        <p:spPr>
          <a:xfrm>
            <a:off x="2549677" y="3297710"/>
            <a:ext cx="7092645" cy="1865909"/>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14000"/>
              </a:lnSpc>
              <a:spcBef>
                <a:spcPts val="0"/>
              </a:spcBef>
              <a:spcAft>
                <a:spcPts val="800"/>
              </a:spcAft>
              <a:buFont typeface="Arial" panose="020B0604020202020204" pitchFamily="34" charset="0"/>
              <a:buNone/>
            </a:pPr>
            <a:r>
              <a:rPr lang="en-US" sz="1600">
                <a:latin typeface="Helvetica Neue" panose="02000503000000020004" pitchFamily="2" charset="0"/>
                <a:ea typeface="Helvetica Neue" panose="02000503000000020004" pitchFamily="2" charset="0"/>
                <a:cs typeface="Helvetica Neue" panose="02000503000000020004" pitchFamily="2" charset="0"/>
                <a:sym typeface="OpenAI Sans"/>
              </a:rPr>
              <a:t>Potential segments include hospitals, municipal emergency teams, airports, civil defense and disaster agencies, training providers, defense-support teams, and critical infrastructure operators. No customer list, sales pipeline, market-size estimate, or willingness-to-pay evidence is available. Validate use cases and purchasing paths before forecasting adoption.</a:t>
            </a:r>
          </a:p>
          <a:p>
            <a:pPr marL="0" indent="0" algn="ctr">
              <a:lnSpc>
                <a:spcPct val="114000"/>
              </a:lnSpc>
              <a:spcBef>
                <a:spcPts val="0"/>
              </a:spcBef>
              <a:spcAft>
                <a:spcPts val="800"/>
              </a:spcAft>
              <a:buFont typeface="Arial" panose="020B0604020202020204" pitchFamily="34" charset="0"/>
              <a:buNone/>
            </a:pPr>
            <a:endParaRPr lang="en-US" sz="1600" dirty="0">
              <a:latin typeface="Helvetica Neue" panose="02000503000000020004" pitchFamily="2" charset="0"/>
              <a:ea typeface="Helvetica Neue" panose="02000503000000020004" pitchFamily="2" charset="0"/>
              <a:cs typeface="Helvetica Neue" panose="02000503000000020004" pitchFamily="2" charset="0"/>
              <a:sym typeface="OpenAI Sans"/>
            </a:endParaRPr>
          </a:p>
        </p:txBody>
      </p:sp>
    </p:spTree>
    <p:extLst>
      <p:ext uri="{BB962C8B-B14F-4D97-AF65-F5344CB8AC3E}">
        <p14:creationId val="346614214"/>
      </p:ext>
    </p:extLst>
  </p:cSld>
  <p:clrMapOvr>
    <a:masterClrMapping/>
  </p:clrMapOvr>
</p:sld>
</file>

<file path=ppt/slides/slide9.xml><?xml version="1.0" encoding="utf-8"?>
<p:sld xmlns:a="http://schemas.openxmlformats.org/drawingml/2006/main" xmlns:a16="http://schemas.microsoft.com/office/drawing/2014/main" xmlns:p="http://schemas.openxmlformats.org/presentationml/2006/main" xmlns:p14="http://schemas.microsoft.com/office/powerpoint/2010/main">
  <p:cSld>
    <p:spTree>
      <p:nvGrpSpPr>
        <p:cNvPr id="1" name="Shape 531">
          <a:extLst>
            <a:ext uri="{FF2B5EF4-FFF2-40B4-BE49-F238E27FC236}">
              <a16:creationId id="{8F193B6A-C27E-FD2B-FCAC-CB712B9CC5D0}"/>
            </a:ext>
          </a:extLst>
        </p:cNvPr>
        <p:cNvGrpSpPr/>
        <p:nvPr/>
      </p:nvGrpSpPr>
      <p:grpSpPr>
        <a:xfrm>
          <a:off x="0" y="0"/>
          <a:ext cx="0" cy="0"/>
          <a:chOff x="0" y="0"/>
          <a:chExt cx="0" cy="0"/>
        </a:xfrm>
      </p:grpSpPr>
      <p:sp>
        <p:nvSpPr>
          <p:cNvPr id="532" name="Google Shape;532;p58">
            <a:extLst>
              <a:ext uri="{FF2B5EF4-FFF2-40B4-BE49-F238E27FC236}">
                <a16:creationId id="{C4429360-E0B5-E472-3BCB-2FC70A04DAF5}"/>
              </a:ext>
            </a:extLst>
          </p:cNvPr>
          <p:cNvSpPr txBox="1">
            <a:spLocks noGrp="1"/>
          </p:cNvSpPr>
          <p:nvPr>
            <p:ph type="sldNum" sz="quarter" idx="4"/>
          </p:nvPr>
        </p:nvSpPr>
        <p:spPr>
          <a:prstGeom prst="rect">
            <a:avLst/>
          </a:prstGeom>
        </p:spPr>
        <p:txBody>
          <a:bodyPr spcFirstLastPara="1" vert="horz" wrap="square" lIns="0" tIns="0" rIns="0" bIns="0" rtlCol="0" anchor="b" anchorCtr="0">
            <a:noAutofit/>
          </a:bodyPr>
          <a:lstStyle/>
          <a:p>
            <a:fld id="{00000000-1234-1234-1234-123412341234}" type="slidenum">
              <a:rPr lang="en">
                <a:sym typeface="OpenAI Sans"/>
              </a:rPr>
              <a:pPr/>
              <a:t>9</a:t>
            </a:fld>
            <a:endParaRPr dirty="0">
              <a:sym typeface="OpenAI Sans"/>
            </a:endParaRPr>
          </a:p>
        </p:txBody>
      </p:sp>
      <p:sp>
        <p:nvSpPr>
          <p:cNvPr id="533" name="Google Shape;533;p58">
            <a:extLst>
              <a:ext uri="{FF2B5EF4-FFF2-40B4-BE49-F238E27FC236}">
                <a16:creationId id="{3CD65521-5912-FE80-B7B5-EE9E16A1351B}"/>
              </a:ext>
            </a:extLst>
          </p:cNvPr>
          <p:cNvSpPr txBox="1">
            <a:spLocks noGrp="1"/>
          </p:cNvSpPr>
          <p:nvPr>
            <p:ph type="title"/>
          </p:nvPr>
        </p:nvSpPr>
        <p:spPr>
          <a:xfrm>
            <a:off x="393700" y="344008"/>
            <a:ext cx="7835900" cy="1040291"/>
          </a:xfrm>
          <a:prstGeom prst="rect">
            <a:avLst/>
          </a:prstGeom>
        </p:spPr>
        <p:txBody>
          <a:bodyPr spcFirstLastPara="1" vert="horz" wrap="square" lIns="0" tIns="0" rIns="0" bIns="0" rtlCol="0" anchor="t" anchorCtr="0">
            <a:noAutofit/>
          </a:bodyPr>
          <a:lstStyle/>
          <a:p>
            <a:r>
              <a:rPr lang="en-US" dirty="0">
                <a:solidFill>
                  <a:schemeClr val="accent1"/>
                </a:solidFill>
              </a:rPr>
              <a:t>Synthetic benchmark: what actually matched</a:t>
            </a:r>
            <a:endParaRPr dirty="0">
              <a:solidFill>
                <a:schemeClr val="accent1"/>
              </a:solidFill>
            </a:endParaRPr>
          </a:p>
        </p:txBody>
      </p:sp>
      <p:graphicFrame>
        <p:nvGraphicFramePr>
          <p:cNvPr id="2" name="Google Shape;644;p93">
            <a:extLst>
              <a:ext uri="{FF2B5EF4-FFF2-40B4-BE49-F238E27FC236}">
                <a16:creationId id="{D298816F-C507-1B76-C71B-E5F8461142E6}"/>
              </a:ext>
            </a:extLst>
          </p:cNvPr>
          <p:cNvGraphicFramePr/>
          <p:nvPr>
            <p:extLst>
              <p:ext uri="{D42A27DB-BD31-4B8C-83A1-F6EECF244321}">
                <p14:modId val="657042629"/>
              </p:ext>
            </p:extLst>
          </p:nvPr>
        </p:nvGraphicFramePr>
        <p:xfrm>
          <a:off x="4752742" y="1549337"/>
          <a:ext cx="6778000" cy="4627827"/>
        </p:xfrm>
        <a:graphic>
          <a:graphicData uri="http://schemas.openxmlformats.org/drawingml/2006/table">
            <a:tbl>
              <a:tblPr firstRow="1">
                <a:noFill/>
              </a:tblPr>
              <a:tblGrid>
                <a:gridCol w="1694500">
                  <a:extLst>
                    <a:ext uri="{9D8B030D-6E8A-4147-A177-3AD203B41FA5}">
                      <a16:colId val="20001"/>
                    </a:ext>
                  </a:extLst>
                </a:gridCol>
                <a:gridCol w="1694500">
                  <a:extLst>
                    <a:ext uri="{9D8B030D-6E8A-4147-A177-3AD203B41FA5}">
                      <a16:colId val="20002"/>
                    </a:ext>
                  </a:extLst>
                </a:gridCol>
                <a:gridCol w="1694500">
                  <a:extLst>
                    <a:ext uri="{9D8B030D-6E8A-4147-A177-3AD203B41FA5}">
                      <a16:colId val="20003"/>
                    </a:ext>
                  </a:extLst>
                </a:gridCol>
                <a:gridCol w="1694500">
                  <a:extLst>
                    <a:ext uri="{9D8B030D-6E8A-4147-A177-3AD203B41FA5}">
                      <a16:colId val="20004"/>
                    </a:ext>
                  </a:extLst>
                </a:gridCol>
              </a:tblGrid>
              <a:tr h="558432">
                <a:tc>
                  <a:txBody>
                    <a:bodyPr/>
                    <a:lstStyle/>
                    <a:p>
                      <a:pPr marL="0" lvl="0" indent="0" algn="l" rtl="0">
                        <a:lnSpc>
                          <a:spcPct val="110000"/>
                        </a:lnSpc>
                        <a:spcBef>
                          <a:spcPts val="0"/>
                        </a:spcBef>
                        <a:spcAft>
                          <a:spcPts val="700"/>
                        </a:spcAft>
                        <a:buNone/>
                      </a:pPr>
                      <a:r>
                        <a:rPr lang="en-US" sz="1400" b="1" dirty="0">
                          <a:solidFill>
                            <a:srgbClr val="000000"/>
                          </a:solidFill>
                          <a:latin typeface="+mn-lt"/>
                          <a:ea typeface="OpenAI Sans"/>
                          <a:cs typeface="OpenAI Sans"/>
                          <a:sym typeface="OpenAI Sans"/>
                        </a:rPr>
                        <a:t>Metric</a:t>
                      </a:r>
                      <a:endParaRPr sz="1400" b="1" dirty="0">
                        <a:solidFill>
                          <a:srgbClr val="000000"/>
                        </a:solidFill>
                        <a:latin typeface="+mn-lt"/>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lgn="ctr">
                      <a:solidFill>
                        <a:srgbClr val="D1D2D3">
                          <a:alpha val="0"/>
                        </a:srgbClr>
                      </a:solidFill>
                      <a:prstDash val="solid"/>
                      <a:round/>
                      <a:headEnd type="none" w="sm" len="sm"/>
                      <a:tailEnd type="none" w="sm" len="sm"/>
                    </a:lnB>
                  </a:tcPr>
                </a:tc>
                <a:tc>
                  <a:txBody>
                    <a:bodyPr/>
                    <a:lstStyle/>
                    <a:p>
                      <a:pPr marL="0" lvl="0" indent="0" algn="l" rtl="0">
                        <a:lnSpc>
                          <a:spcPct val="110000"/>
                        </a:lnSpc>
                        <a:spcBef>
                          <a:spcPts val="0"/>
                        </a:spcBef>
                        <a:spcAft>
                          <a:spcPts val="700"/>
                        </a:spcAft>
                        <a:buNone/>
                      </a:pPr>
                      <a:r>
                        <a:rPr lang="en-US" sz="1400" b="1" dirty="0">
                          <a:solidFill>
                            <a:srgbClr val="000000"/>
                          </a:solidFill>
                          <a:latin typeface="+mn-lt"/>
                          <a:ea typeface="OpenAI Sans"/>
                          <a:cs typeface="OpenAI Sans"/>
                          <a:sym typeface="OpenAI Sans"/>
                        </a:rPr>
                        <a:t>Result</a:t>
                      </a:r>
                      <a:endParaRPr sz="1400" b="1" dirty="0">
                        <a:solidFill>
                          <a:srgbClr val="000000"/>
                        </a:solidFill>
                        <a:latin typeface="+mn-lt"/>
                        <a:ea typeface="OpenAI Sans"/>
                        <a:cs typeface="OpenAI Sans"/>
                        <a:sym typeface="OpenAI Sans"/>
                      </a:endParaRPr>
                    </a:p>
                  </a:txBody>
                  <a:tcPr marL="0" marR="0" marT="91425" marB="91425">
                    <a:lnL w="9525" cap="flat" cmpd="sng" algn="ctr">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D1D2D3">
                          <a:alpha val="0"/>
                        </a:srgbClr>
                      </a:solidFill>
                      <a:prstDash val="solid"/>
                      <a:round/>
                      <a:headEnd type="none" w="sm" len="sm"/>
                      <a:tailEnd type="none" w="sm" len="sm"/>
                    </a:lnB>
                  </a:tcPr>
                </a:tc>
                <a:tc>
                  <a:txBody>
                    <a:bodyPr/>
                    <a:lstStyle/>
                    <a:p>
                      <a:pPr marL="0" lvl="0" indent="0" algn="l" rtl="0">
                        <a:lnSpc>
                          <a:spcPct val="110000"/>
                        </a:lnSpc>
                        <a:spcBef>
                          <a:spcPts val="0"/>
                        </a:spcBef>
                        <a:spcAft>
                          <a:spcPts val="700"/>
                        </a:spcAft>
                        <a:buClr>
                          <a:srgbClr val="000000"/>
                        </a:buClr>
                        <a:buSzPts val="1200"/>
                        <a:buFont typeface="Arial"/>
                        <a:buNone/>
                      </a:pPr>
                      <a:r>
                        <a:rPr lang="en-US" sz="1400" b="1">
                          <a:solidFill>
                            <a:srgbClr val="000000"/>
                          </a:solidFill>
                          <a:latin typeface="+mn-lt"/>
                          <a:ea typeface="OpenAI Sans"/>
                          <a:cs typeface="OpenAI Sans"/>
                          <a:sym typeface="OpenAI Sans"/>
                        </a:rPr>
                        <a:t>What it shows</a:t>
                      </a:r>
                      <a:endParaRPr sz="1400" b="1">
                        <a:solidFill>
                          <a:srgbClr val="000000"/>
                        </a:solidFill>
                        <a:latin typeface="+mn-lt"/>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D1D2D3">
                          <a:alpha val="0"/>
                        </a:srgbClr>
                      </a:solidFill>
                      <a:prstDash val="solid"/>
                      <a:round/>
                      <a:headEnd type="none" w="sm" len="sm"/>
                      <a:tailEnd type="none" w="sm" len="sm"/>
                    </a:lnB>
                  </a:tcPr>
                </a:tc>
                <a:tc>
                  <a:txBody>
                    <a:bodyPr/>
                    <a:lstStyle/>
                    <a:p>
                      <a:pPr marL="0" lvl="0" indent="0" algn="l" rtl="0">
                        <a:lnSpc>
                          <a:spcPct val="110000"/>
                        </a:lnSpc>
                        <a:spcBef>
                          <a:spcPts val="0"/>
                        </a:spcBef>
                        <a:spcAft>
                          <a:spcPts val="700"/>
                        </a:spcAft>
                        <a:buClr>
                          <a:srgbClr val="000000"/>
                        </a:buClr>
                        <a:buSzPts val="1200"/>
                        <a:buFont typeface="Arial"/>
                        <a:buNone/>
                      </a:pPr>
                      <a:r>
                        <a:rPr lang="en-US" sz="1400" b="1">
                          <a:solidFill>
                            <a:srgbClr val="000000"/>
                          </a:solidFill>
                          <a:latin typeface="+mn-lt"/>
                          <a:ea typeface="OpenAI Sans"/>
                          <a:cs typeface="OpenAI Sans"/>
                          <a:sym typeface="OpenAI Sans"/>
                        </a:rPr>
                        <a:t>Boundary</a:t>
                      </a:r>
                      <a:endParaRPr sz="1400" b="1">
                        <a:solidFill>
                          <a:srgbClr val="000000"/>
                        </a:solidFill>
                        <a:latin typeface="+mn-lt"/>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D1D2D3">
                          <a:alpha val="0"/>
                        </a:srgbClr>
                      </a:solidFill>
                      <a:prstDash val="solid"/>
                      <a:round/>
                      <a:headEnd type="none" w="sm" len="sm"/>
                      <a:tailEnd type="none" w="sm" len="sm"/>
                    </a:lnB>
                  </a:tcPr>
                </a:tc>
                <a:extLst>
                  <a:ext uri="{0D108BD9-81ED-4DB2-BD59-A6C34878D82A}">
                    <a16:rowId val="10000"/>
                  </a:ext>
                </a:extLst>
              </a:tr>
              <a:tr h="452155">
                <a:tc>
                  <a:txBody>
                    <a:bodyPr/>
                    <a:lstStyle/>
                    <a:p>
                      <a:pPr marL="0" lvl="0" indent="0" algn="l" rtl="0">
                        <a:lnSpc>
                          <a:spcPct val="110000"/>
                        </a:lnSpc>
                        <a:spcBef>
                          <a:spcPts val="0"/>
                        </a:spcBef>
                        <a:spcAft>
                          <a:spcPts val="700"/>
                        </a:spcAft>
                        <a:buNone/>
                      </a:pPr>
                      <a:r>
                        <a:rPr lang="en-US" sz="1400" dirty="0">
                          <a:solidFill>
                            <a:srgbClr val="000000"/>
                          </a:solidFill>
                          <a:latin typeface="+mn-lt"/>
                          <a:ea typeface="OpenAI Sans"/>
                          <a:cs typeface="OpenAI Sans"/>
                          <a:sym typeface="OpenAI Sans"/>
                        </a:rPr>
                        <a:t>Log rows</a:t>
                      </a:r>
                      <a:endParaRPr sz="1400" dirty="0">
                        <a:solidFill>
                          <a:srgbClr val="000000"/>
                        </a:solidFill>
                        <a:latin typeface="+mn-lt"/>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lgn="ctr">
                      <a:solidFill>
                        <a:srgbClr val="D1D2D3">
                          <a:alpha val="0"/>
                        </a:srgbClr>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lvl="0" indent="0" algn="l" rtl="0">
                        <a:lnSpc>
                          <a:spcPct val="110000"/>
                        </a:lnSpc>
                        <a:spcBef>
                          <a:spcPts val="0"/>
                        </a:spcBef>
                        <a:spcAft>
                          <a:spcPts val="700"/>
                        </a:spcAft>
                        <a:buNone/>
                      </a:pPr>
                      <a:r>
                        <a:rPr lang="en-US" sz="1400" dirty="0">
                          <a:solidFill>
                            <a:srgbClr val="000000"/>
                          </a:solidFill>
                          <a:latin typeface="+mn-lt"/>
                          <a:ea typeface="OpenAI Sans"/>
                          <a:cs typeface="OpenAI Sans"/>
                          <a:sym typeface="OpenAI Sans"/>
                        </a:rPr>
                        <a:t>8 / 8</a:t>
                      </a:r>
                      <a:endParaRPr sz="1400" dirty="0">
                        <a:solidFill>
                          <a:srgbClr val="000000"/>
                        </a:solidFill>
                        <a:latin typeface="+mn-lt"/>
                        <a:ea typeface="OpenAI Sans"/>
                        <a:cs typeface="OpenAI Sans"/>
                        <a:sym typeface="OpenAI Sans"/>
                      </a:endParaRPr>
                    </a:p>
                  </a:txBody>
                  <a:tcPr marL="0" marR="0" marT="91425" marB="91425">
                    <a:lnL w="9525" cap="flat" cmpd="sng" algn="ctr">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D1D2D3">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lnSpc>
                          <a:spcPct val="110000"/>
                        </a:lnSpc>
                        <a:spcBef>
                          <a:spcPts val="0"/>
                        </a:spcBef>
                        <a:spcAft>
                          <a:spcPts val="700"/>
                        </a:spcAft>
                        <a:buNone/>
                      </a:pPr>
                      <a:r>
                        <a:rPr lang="en-US" sz="1400">
                          <a:solidFill>
                            <a:srgbClr val="000000"/>
                          </a:solidFill>
                          <a:latin typeface="+mn-lt"/>
                          <a:ea typeface="OpenAI Sans"/>
                          <a:cs typeface="OpenAI Sans"/>
                          <a:sym typeface="OpenAI Sans"/>
                        </a:rPr>
                        <a:t>Expected rows found</a:t>
                      </a:r>
                      <a:endParaRPr sz="1400">
                        <a:solidFill>
                          <a:srgbClr val="000000"/>
                        </a:solidFill>
                        <a:latin typeface="+mn-lt"/>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D1D2D3">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lnSpc>
                          <a:spcPct val="110000"/>
                        </a:lnSpc>
                        <a:spcBef>
                          <a:spcPts val="0"/>
                        </a:spcBef>
                        <a:spcAft>
                          <a:spcPts val="700"/>
                        </a:spcAft>
                        <a:buNone/>
                      </a:pPr>
                      <a:r>
                        <a:rPr lang="en-US" sz="1400">
                          <a:solidFill>
                            <a:srgbClr val="000000"/>
                          </a:solidFill>
                          <a:latin typeface="+mn-lt"/>
                          <a:ea typeface="OpenAI Sans"/>
                          <a:cs typeface="OpenAI Sans"/>
                          <a:sym typeface="OpenAI Sans"/>
                        </a:rPr>
                        <a:t>One fixture</a:t>
                      </a:r>
                      <a:endParaRPr sz="1400">
                        <a:solidFill>
                          <a:srgbClr val="000000"/>
                        </a:solidFill>
                        <a:latin typeface="+mn-lt"/>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D1D2D3">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val="10001"/>
                  </a:ext>
                </a:extLst>
              </a:tr>
              <a:tr h="452155">
                <a:tc>
                  <a:txBody>
                    <a:bodyPr/>
                    <a:lstStyle/>
                    <a:p>
                      <a:pPr marL="0" lvl="0" indent="0" algn="l" rtl="0">
                        <a:lnSpc>
                          <a:spcPct val="110000"/>
                        </a:lnSpc>
                        <a:spcBef>
                          <a:spcPts val="0"/>
                        </a:spcBef>
                        <a:spcAft>
                          <a:spcPts val="700"/>
                        </a:spcAft>
                        <a:buNone/>
                      </a:pPr>
                      <a:r>
                        <a:rPr lang="en-US" sz="1400" dirty="0">
                          <a:solidFill>
                            <a:srgbClr val="000000"/>
                          </a:solidFill>
                          <a:latin typeface="+mn-lt"/>
                          <a:ea typeface="OpenAI Sans"/>
                          <a:cs typeface="OpenAI Sans"/>
                          <a:sym typeface="OpenAI Sans"/>
                        </a:rPr>
                        <a:t>Findings</a:t>
                      </a:r>
                      <a:endParaRPr sz="1400" dirty="0">
                        <a:solidFill>
                          <a:srgbClr val="000000"/>
                        </a:solidFill>
                        <a:latin typeface="+mn-lt"/>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lvl="0" indent="0" algn="l" rtl="0">
                        <a:lnSpc>
                          <a:spcPct val="110000"/>
                        </a:lnSpc>
                        <a:spcBef>
                          <a:spcPts val="0"/>
                        </a:spcBef>
                        <a:spcAft>
                          <a:spcPts val="700"/>
                        </a:spcAft>
                        <a:buNone/>
                      </a:pPr>
                      <a:r>
                        <a:rPr lang="en-US" sz="1400" dirty="0">
                          <a:solidFill>
                            <a:srgbClr val="000000"/>
                          </a:solidFill>
                          <a:latin typeface="+mn-lt"/>
                          <a:ea typeface="OpenAI Sans"/>
                          <a:cs typeface="OpenAI Sans"/>
                          <a:sym typeface="OpenAI Sans"/>
                        </a:rPr>
                        <a:t>5 / 5</a:t>
                      </a:r>
                      <a:endParaRPr sz="1400" dirty="0">
                        <a:solidFill>
                          <a:srgbClr val="000000"/>
                        </a:solidFill>
                        <a:latin typeface="+mn-lt"/>
                        <a:ea typeface="OpenAI Sans"/>
                        <a:cs typeface="OpenAI Sans"/>
                        <a:sym typeface="OpenAI Sans"/>
                      </a:endParaRPr>
                    </a:p>
                  </a:txBody>
                  <a:tcPr marL="0" marR="0" marT="91425" marB="91425">
                    <a:lnL w="9525" cap="flat" cmpd="sng" algn="ctr">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lnSpc>
                          <a:spcPct val="110000"/>
                        </a:lnSpc>
                        <a:spcBef>
                          <a:spcPts val="0"/>
                        </a:spcBef>
                        <a:spcAft>
                          <a:spcPts val="700"/>
                        </a:spcAft>
                        <a:buNone/>
                      </a:pPr>
                      <a:r>
                        <a:rPr lang="en-US" sz="1400">
                          <a:solidFill>
                            <a:srgbClr val="000000"/>
                          </a:solidFill>
                          <a:latin typeface="+mn-lt"/>
                          <a:ea typeface="OpenAI Sans"/>
                          <a:cs typeface="OpenAI Sans"/>
                          <a:sym typeface="OpenAI Sans"/>
                        </a:rPr>
                        <a:t>Expected codes found</a:t>
                      </a:r>
                      <a:endParaRPr sz="1400">
                        <a:solidFill>
                          <a:srgbClr val="000000"/>
                        </a:solidFill>
                        <a:latin typeface="+mn-lt"/>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lnSpc>
                          <a:spcPct val="110000"/>
                        </a:lnSpc>
                        <a:spcBef>
                          <a:spcPts val="0"/>
                        </a:spcBef>
                        <a:spcAft>
                          <a:spcPts val="700"/>
                        </a:spcAft>
                        <a:buNone/>
                      </a:pPr>
                      <a:r>
                        <a:rPr lang="en-US" sz="1400">
                          <a:solidFill>
                            <a:srgbClr val="000000"/>
                          </a:solidFill>
                          <a:latin typeface="+mn-lt"/>
                          <a:ea typeface="OpenAI Sans"/>
                          <a:cs typeface="OpenAI Sans"/>
                          <a:sym typeface="OpenAI Sans"/>
                        </a:rPr>
                        <a:t>One fixture</a:t>
                      </a:r>
                      <a:endParaRPr sz="1400">
                        <a:solidFill>
                          <a:srgbClr val="000000"/>
                        </a:solidFill>
                        <a:latin typeface="+mn-lt"/>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val="10002"/>
                  </a:ext>
                </a:extLst>
              </a:tr>
              <a:tr h="452155">
                <a:tc>
                  <a:txBody>
                    <a:bodyPr/>
                    <a:lstStyle/>
                    <a:p>
                      <a:pPr marL="0" lvl="0" indent="0" algn="l" rtl="0">
                        <a:lnSpc>
                          <a:spcPct val="110000"/>
                        </a:lnSpc>
                        <a:spcBef>
                          <a:spcPts val="0"/>
                        </a:spcBef>
                        <a:spcAft>
                          <a:spcPts val="700"/>
                        </a:spcAft>
                        <a:buNone/>
                      </a:pPr>
                      <a:r>
                        <a:rPr lang="en-US" sz="1400" dirty="0">
                          <a:solidFill>
                            <a:srgbClr val="000000"/>
                          </a:solidFill>
                          <a:latin typeface="+mn-lt"/>
                          <a:ea typeface="OpenAI Sans"/>
                          <a:cs typeface="OpenAI Sans"/>
                          <a:sym typeface="OpenAI Sans"/>
                        </a:rPr>
                        <a:t>Citations</a:t>
                      </a:r>
                      <a:endParaRPr sz="1400" dirty="0">
                        <a:solidFill>
                          <a:srgbClr val="000000"/>
                        </a:solidFill>
                        <a:latin typeface="+mn-lt"/>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lvl="0" indent="0" algn="l" rtl="0">
                        <a:lnSpc>
                          <a:spcPct val="110000"/>
                        </a:lnSpc>
                        <a:spcBef>
                          <a:spcPts val="0"/>
                        </a:spcBef>
                        <a:spcAft>
                          <a:spcPts val="700"/>
                        </a:spcAft>
                        <a:buNone/>
                      </a:pPr>
                      <a:r>
                        <a:rPr lang="en-US" sz="1400" dirty="0">
                          <a:solidFill>
                            <a:srgbClr val="000000"/>
                          </a:solidFill>
                          <a:latin typeface="+mn-lt"/>
                          <a:ea typeface="OpenAI Sans"/>
                          <a:cs typeface="OpenAI Sans"/>
                          <a:sym typeface="OpenAI Sans"/>
                        </a:rPr>
                        <a:t>9 / 9</a:t>
                      </a:r>
                      <a:endParaRPr sz="1400" dirty="0">
                        <a:solidFill>
                          <a:srgbClr val="000000"/>
                        </a:solidFill>
                        <a:latin typeface="+mn-lt"/>
                        <a:ea typeface="OpenAI Sans"/>
                        <a:cs typeface="OpenAI Sans"/>
                        <a:sym typeface="OpenAI Sans"/>
                      </a:endParaRPr>
                    </a:p>
                  </a:txBody>
                  <a:tcPr marL="0" marR="0" marT="91425" marB="91425">
                    <a:lnL w="9525" cap="flat" cmpd="sng" algn="ctr">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lnSpc>
                          <a:spcPct val="110000"/>
                        </a:lnSpc>
                        <a:spcBef>
                          <a:spcPts val="0"/>
                        </a:spcBef>
                        <a:spcAft>
                          <a:spcPts val="700"/>
                        </a:spcAft>
                        <a:buNone/>
                      </a:pPr>
                      <a:r>
                        <a:rPr lang="en-US" sz="1400">
                          <a:solidFill>
                            <a:srgbClr val="000000"/>
                          </a:solidFill>
                          <a:latin typeface="+mn-lt"/>
                          <a:ea typeface="OpenAI Sans"/>
                          <a:cs typeface="OpenAI Sans"/>
                          <a:sym typeface="OpenAI Sans"/>
                        </a:rPr>
                        <a:t>Expected IDs linked</a:t>
                      </a:r>
                      <a:endParaRPr sz="1400">
                        <a:solidFill>
                          <a:srgbClr val="000000"/>
                        </a:solidFill>
                        <a:latin typeface="+mn-lt"/>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lnSpc>
                          <a:spcPct val="110000"/>
                        </a:lnSpc>
                        <a:spcBef>
                          <a:spcPts val="0"/>
                        </a:spcBef>
                        <a:spcAft>
                          <a:spcPts val="700"/>
                        </a:spcAft>
                        <a:buNone/>
                      </a:pPr>
                      <a:r>
                        <a:rPr lang="en-US" sz="1400">
                          <a:solidFill>
                            <a:srgbClr val="000000"/>
                          </a:solidFill>
                          <a:latin typeface="+mn-lt"/>
                          <a:ea typeface="OpenAI Sans"/>
                          <a:cs typeface="OpenAI Sans"/>
                          <a:sym typeface="OpenAI Sans"/>
                        </a:rPr>
                        <a:t>ID only</a:t>
                      </a:r>
                      <a:endParaRPr sz="1400">
                        <a:solidFill>
                          <a:srgbClr val="000000"/>
                        </a:solidFill>
                        <a:latin typeface="+mn-lt"/>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val="10003"/>
                  </a:ext>
                </a:extLst>
              </a:tr>
              <a:tr h="452155">
                <a:tc>
                  <a:txBody>
                    <a:bodyPr/>
                    <a:lstStyle/>
                    <a:p>
                      <a:pPr marL="0" lvl="0" indent="0" algn="l" rtl="0">
                        <a:lnSpc>
                          <a:spcPct val="110000"/>
                        </a:lnSpc>
                        <a:spcBef>
                          <a:spcPts val="0"/>
                        </a:spcBef>
                        <a:spcAft>
                          <a:spcPts val="700"/>
                        </a:spcAft>
                        <a:buNone/>
                      </a:pPr>
                      <a:r>
                        <a:rPr lang="en-US" sz="1400" dirty="0">
                          <a:solidFill>
                            <a:srgbClr val="000000"/>
                          </a:solidFill>
                          <a:latin typeface="+mn-lt"/>
                          <a:ea typeface="OpenAI Sans"/>
                          <a:cs typeface="OpenAI Sans"/>
                          <a:sym typeface="OpenAI Sans"/>
                        </a:rPr>
                        <a:t>Extra codes</a:t>
                      </a:r>
                      <a:endParaRPr sz="1400" dirty="0">
                        <a:solidFill>
                          <a:srgbClr val="000000"/>
                        </a:solidFill>
                        <a:latin typeface="+mn-lt"/>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lvl="0" indent="0" algn="l" rtl="0">
                        <a:lnSpc>
                          <a:spcPct val="110000"/>
                        </a:lnSpc>
                        <a:spcBef>
                          <a:spcPts val="0"/>
                        </a:spcBef>
                        <a:spcAft>
                          <a:spcPts val="700"/>
                        </a:spcAft>
                        <a:buNone/>
                      </a:pPr>
                      <a:r>
                        <a:rPr lang="en-US" sz="1400" dirty="0">
                          <a:solidFill>
                            <a:srgbClr val="000000"/>
                          </a:solidFill>
                          <a:latin typeface="+mn-lt"/>
                          <a:ea typeface="OpenAI Sans"/>
                          <a:cs typeface="OpenAI Sans"/>
                          <a:sym typeface="OpenAI Sans"/>
                        </a:rPr>
                        <a:t>0 / 5</a:t>
                      </a:r>
                      <a:endParaRPr sz="1400" dirty="0">
                        <a:solidFill>
                          <a:srgbClr val="000000"/>
                        </a:solidFill>
                        <a:latin typeface="+mn-lt"/>
                        <a:ea typeface="OpenAI Sans"/>
                        <a:cs typeface="OpenAI Sans"/>
                        <a:sym typeface="OpenAI Sans"/>
                      </a:endParaRPr>
                    </a:p>
                  </a:txBody>
                  <a:tcPr marL="0" marR="0" marT="91425" marB="91425">
                    <a:lnL w="9525" cap="flat" cmpd="sng" algn="ctr">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lnSpc>
                          <a:spcPct val="110000"/>
                        </a:lnSpc>
                        <a:spcBef>
                          <a:spcPts val="0"/>
                        </a:spcBef>
                        <a:spcAft>
                          <a:spcPts val="700"/>
                        </a:spcAft>
                        <a:buNone/>
                      </a:pPr>
                      <a:r>
                        <a:rPr lang="en-US" sz="1400">
                          <a:solidFill>
                            <a:srgbClr val="000000"/>
                          </a:solidFill>
                          <a:latin typeface="+mn-lt"/>
                          <a:ea typeface="OpenAI Sans"/>
                          <a:cs typeface="OpenAI Sans"/>
                          <a:sym typeface="OpenAI Sans"/>
                        </a:rPr>
                        <a:t>No extra labels</a:t>
                      </a:r>
                      <a:endParaRPr sz="1400">
                        <a:solidFill>
                          <a:srgbClr val="000000"/>
                        </a:solidFill>
                        <a:latin typeface="+mn-lt"/>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lnSpc>
                          <a:spcPct val="110000"/>
                        </a:lnSpc>
                        <a:spcBef>
                          <a:spcPts val="0"/>
                        </a:spcBef>
                        <a:spcAft>
                          <a:spcPts val="700"/>
                        </a:spcAft>
                        <a:buNone/>
                      </a:pPr>
                      <a:r>
                        <a:rPr lang="en-US" sz="1400">
                          <a:solidFill>
                            <a:srgbClr val="000000"/>
                          </a:solidFill>
                          <a:latin typeface="+mn-lt"/>
                          <a:ea typeface="OpenAI Sans"/>
                          <a:cs typeface="OpenAI Sans"/>
                          <a:sym typeface="OpenAI Sans"/>
                        </a:rPr>
                        <a:t>Closed set</a:t>
                      </a:r>
                      <a:endParaRPr sz="1400">
                        <a:solidFill>
                          <a:srgbClr val="000000"/>
                        </a:solidFill>
                        <a:latin typeface="+mn-lt"/>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val="10004"/>
                  </a:ext>
                </a:extLst>
              </a:tr>
              <a:tr h="452155">
                <a:tc>
                  <a:txBody>
                    <a:bodyPr/>
                    <a:lstStyle/>
                    <a:p>
                      <a:pPr marL="0" lvl="0" indent="0" algn="l" rtl="0">
                        <a:lnSpc>
                          <a:spcPct val="110000"/>
                        </a:lnSpc>
                        <a:spcBef>
                          <a:spcPts val="0"/>
                        </a:spcBef>
                        <a:spcAft>
                          <a:spcPts val="700"/>
                        </a:spcAft>
                        <a:buNone/>
                      </a:pPr>
                      <a:r>
                        <a:rPr lang="en-US" sz="1400" dirty="0">
                          <a:solidFill>
                            <a:srgbClr val="000000"/>
                          </a:solidFill>
                          <a:latin typeface="+mn-lt"/>
                          <a:ea typeface="OpenAI Sans"/>
                          <a:cs typeface="OpenAI Sans"/>
                          <a:sym typeface="OpenAI Sans"/>
                        </a:rPr>
                        <a:t>Uncited drafts</a:t>
                      </a:r>
                      <a:endParaRPr sz="1400" dirty="0">
                        <a:solidFill>
                          <a:srgbClr val="000000"/>
                        </a:solidFill>
                        <a:latin typeface="+mn-lt"/>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lvl="0" indent="0" algn="l" rtl="0">
                        <a:lnSpc>
                          <a:spcPct val="110000"/>
                        </a:lnSpc>
                        <a:spcBef>
                          <a:spcPts val="0"/>
                        </a:spcBef>
                        <a:spcAft>
                          <a:spcPts val="700"/>
                        </a:spcAft>
                        <a:buNone/>
                      </a:pPr>
                      <a:r>
                        <a:rPr lang="en-US" sz="1400">
                          <a:solidFill>
                            <a:srgbClr val="000000"/>
                          </a:solidFill>
                          <a:latin typeface="+mn-lt"/>
                          <a:ea typeface="OpenAI Sans"/>
                          <a:cs typeface="OpenAI Sans"/>
                          <a:sym typeface="OpenAI Sans"/>
                        </a:rPr>
                        <a:t>0 / 5</a:t>
                      </a:r>
                      <a:endParaRPr sz="1400">
                        <a:solidFill>
                          <a:srgbClr val="000000"/>
                        </a:solidFill>
                        <a:latin typeface="+mn-lt"/>
                        <a:ea typeface="OpenAI Sans"/>
                        <a:cs typeface="OpenAI Sans"/>
                        <a:sym typeface="OpenAI Sans"/>
                      </a:endParaRPr>
                    </a:p>
                  </a:txBody>
                  <a:tcPr marL="0" marR="0" marT="91425" marB="91425">
                    <a:lnL w="9525" cap="flat" cmpd="sng" algn="ctr">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lnSpc>
                          <a:spcPct val="110000"/>
                        </a:lnSpc>
                        <a:spcBef>
                          <a:spcPts val="0"/>
                        </a:spcBef>
                        <a:spcAft>
                          <a:spcPts val="700"/>
                        </a:spcAft>
                        <a:buNone/>
                      </a:pPr>
                      <a:r>
                        <a:rPr lang="en-US" sz="1400">
                          <a:solidFill>
                            <a:srgbClr val="000000"/>
                          </a:solidFill>
                          <a:latin typeface="+mn-lt"/>
                          <a:ea typeface="OpenAI Sans"/>
                          <a:cs typeface="OpenAI Sans"/>
                          <a:sym typeface="OpenAI Sans"/>
                        </a:rPr>
                        <a:t>Each draft linked</a:t>
                      </a:r>
                      <a:endParaRPr sz="1400">
                        <a:solidFill>
                          <a:srgbClr val="000000"/>
                        </a:solidFill>
                        <a:latin typeface="+mn-lt"/>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lnSpc>
                          <a:spcPct val="110000"/>
                        </a:lnSpc>
                        <a:spcBef>
                          <a:spcPts val="0"/>
                        </a:spcBef>
                        <a:spcAft>
                          <a:spcPts val="700"/>
                        </a:spcAft>
                        <a:buNone/>
                      </a:pPr>
                      <a:r>
                        <a:rPr lang="en-US" sz="1400">
                          <a:solidFill>
                            <a:srgbClr val="000000"/>
                          </a:solidFill>
                          <a:latin typeface="+mn-lt"/>
                          <a:ea typeface="OpenAI Sans"/>
                          <a:cs typeface="OpenAI Sans"/>
                          <a:sym typeface="OpenAI Sans"/>
                        </a:rPr>
                        <a:t>ID presence</a:t>
                      </a:r>
                      <a:endParaRPr sz="1400">
                        <a:solidFill>
                          <a:srgbClr val="000000"/>
                        </a:solidFill>
                        <a:latin typeface="+mn-lt"/>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val="10005"/>
                  </a:ext>
                </a:extLst>
              </a:tr>
              <a:tr h="452155">
                <a:tc>
                  <a:txBody>
                    <a:bodyPr/>
                    <a:lstStyle/>
                    <a:p>
                      <a:pPr marL="0" lvl="0" indent="0" algn="l" rtl="0">
                        <a:lnSpc>
                          <a:spcPct val="110000"/>
                        </a:lnSpc>
                        <a:spcBef>
                          <a:spcPts val="0"/>
                        </a:spcBef>
                        <a:spcAft>
                          <a:spcPts val="700"/>
                        </a:spcAft>
                        <a:buNone/>
                      </a:pPr>
                      <a:r>
                        <a:rPr lang="en-US" sz="1400" dirty="0">
                          <a:solidFill>
                            <a:srgbClr val="000000"/>
                          </a:solidFill>
                          <a:latin typeface="+mn-lt"/>
                          <a:ea typeface="OpenAI Sans"/>
                          <a:cs typeface="OpenAI Sans"/>
                          <a:sym typeface="OpenAI Sans"/>
                        </a:rPr>
                        <a:t>Timing</a:t>
                      </a:r>
                      <a:endParaRPr sz="1400" dirty="0">
                        <a:solidFill>
                          <a:srgbClr val="000000"/>
                        </a:solidFill>
                        <a:latin typeface="+mn-lt"/>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lvl="0" indent="0" algn="l" rtl="0">
                        <a:lnSpc>
                          <a:spcPct val="110000"/>
                        </a:lnSpc>
                        <a:spcBef>
                          <a:spcPts val="0"/>
                        </a:spcBef>
                        <a:spcAft>
                          <a:spcPts val="700"/>
                        </a:spcAft>
                        <a:buNone/>
                      </a:pPr>
                      <a:r>
                        <a:rPr lang="en-US" sz="1400" dirty="0">
                          <a:solidFill>
                            <a:srgbClr val="000000"/>
                          </a:solidFill>
                          <a:latin typeface="+mn-lt"/>
                          <a:ea typeface="OpenAI Sans"/>
                          <a:cs typeface="OpenAI Sans"/>
                          <a:sym typeface="OpenAI Sans"/>
                        </a:rPr>
                        <a:t>1 + 1</a:t>
                      </a:r>
                      <a:endParaRPr sz="1400" dirty="0">
                        <a:solidFill>
                          <a:srgbClr val="000000"/>
                        </a:solidFill>
                        <a:latin typeface="+mn-lt"/>
                        <a:ea typeface="OpenAI Sans"/>
                        <a:cs typeface="OpenAI Sans"/>
                        <a:sym typeface="OpenAI Sans"/>
                      </a:endParaRPr>
                    </a:p>
                  </a:txBody>
                  <a:tcPr marL="0" marR="0" marT="91425" marB="91425">
                    <a:lnL w="9525" cap="flat" cmpd="sng" algn="ctr">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lnSpc>
                          <a:spcPct val="110000"/>
                        </a:lnSpc>
                        <a:spcBef>
                          <a:spcPts val="0"/>
                        </a:spcBef>
                        <a:spcAft>
                          <a:spcPts val="700"/>
                        </a:spcAft>
                        <a:buNone/>
                      </a:pPr>
                      <a:r>
                        <a:rPr lang="en-US" sz="1400" dirty="0">
                          <a:solidFill>
                            <a:srgbClr val="000000"/>
                          </a:solidFill>
                          <a:latin typeface="+mn-lt"/>
                          <a:ea typeface="OpenAI Sans"/>
                          <a:cs typeface="OpenAI Sans"/>
                          <a:sym typeface="OpenAI Sans"/>
                        </a:rPr>
                        <a:t>Conflict flagged; note unplaced</a:t>
                      </a:r>
                      <a:endParaRPr sz="1400" dirty="0">
                        <a:solidFill>
                          <a:srgbClr val="000000"/>
                        </a:solidFill>
                        <a:latin typeface="+mn-lt"/>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lnSpc>
                          <a:spcPct val="110000"/>
                        </a:lnSpc>
                        <a:spcBef>
                          <a:spcPts val="0"/>
                        </a:spcBef>
                        <a:spcAft>
                          <a:spcPts val="700"/>
                        </a:spcAft>
                        <a:buNone/>
                      </a:pPr>
                      <a:r>
                        <a:rPr lang="en-US" sz="1400" dirty="0">
                          <a:solidFill>
                            <a:srgbClr val="000000"/>
                          </a:solidFill>
                          <a:latin typeface="+mn-lt"/>
                          <a:ea typeface="OpenAI Sans"/>
                          <a:cs typeface="OpenAI Sans"/>
                          <a:sym typeface="OpenAI Sans"/>
                        </a:rPr>
                        <a:t>One fixture</a:t>
                      </a:r>
                      <a:endParaRPr sz="1400" dirty="0">
                        <a:solidFill>
                          <a:srgbClr val="000000"/>
                        </a:solidFill>
                        <a:latin typeface="+mn-lt"/>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val="10006"/>
                  </a:ext>
                </a:extLst>
              </a:tr>
              <a:tr h="452155">
                <a:tc>
                  <a:txBody>
                    <a:bodyPr/>
                    <a:lstStyle/>
                    <a:p>
                      <a:pPr marL="0" lvl="0" indent="0" algn="l" rtl="0">
                        <a:lnSpc>
                          <a:spcPct val="110000"/>
                        </a:lnSpc>
                        <a:spcBef>
                          <a:spcPts val="0"/>
                        </a:spcBef>
                        <a:spcAft>
                          <a:spcPts val="700"/>
                        </a:spcAft>
                        <a:buNone/>
                      </a:pPr>
                      <a:r>
                        <a:rPr lang="en-US" sz="1400" dirty="0">
                          <a:solidFill>
                            <a:srgbClr val="000000"/>
                          </a:solidFill>
                          <a:latin typeface="+mn-lt"/>
                          <a:ea typeface="OpenAI Sans"/>
                          <a:cs typeface="OpenAI Sans"/>
                          <a:sym typeface="OpenAI Sans"/>
                        </a:rPr>
                        <a:t>Action fields</a:t>
                      </a:r>
                      <a:endParaRPr sz="1400" dirty="0">
                        <a:solidFill>
                          <a:srgbClr val="000000"/>
                        </a:solidFill>
                        <a:latin typeface="+mn-lt"/>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lvl="0" indent="0" algn="l" rtl="0">
                        <a:lnSpc>
                          <a:spcPct val="110000"/>
                        </a:lnSpc>
                        <a:spcBef>
                          <a:spcPts val="0"/>
                        </a:spcBef>
                        <a:spcAft>
                          <a:spcPts val="700"/>
                        </a:spcAft>
                        <a:buNone/>
                      </a:pPr>
                      <a:r>
                        <a:rPr lang="en-US" sz="1400" dirty="0">
                          <a:solidFill>
                            <a:srgbClr val="000000"/>
                          </a:solidFill>
                          <a:latin typeface="+mn-lt"/>
                          <a:ea typeface="OpenAI Sans"/>
                          <a:cs typeface="OpenAI Sans"/>
                          <a:sym typeface="OpenAI Sans"/>
                        </a:rPr>
                        <a:t>31 / 32</a:t>
                      </a:r>
                      <a:endParaRPr sz="1400" dirty="0">
                        <a:solidFill>
                          <a:srgbClr val="000000"/>
                        </a:solidFill>
                        <a:latin typeface="+mn-lt"/>
                        <a:ea typeface="OpenAI Sans"/>
                        <a:cs typeface="OpenAI Sans"/>
                        <a:sym typeface="OpenAI Sans"/>
                      </a:endParaRPr>
                    </a:p>
                  </a:txBody>
                  <a:tcPr marL="0" marR="0" marT="91425" marB="91425">
                    <a:lnL w="9525" cap="flat" cmpd="sng" algn="ctr">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lvl="0" indent="0" algn="l" rtl="0">
                        <a:lnSpc>
                          <a:spcPct val="110000"/>
                        </a:lnSpc>
                        <a:spcBef>
                          <a:spcPts val="0"/>
                        </a:spcBef>
                        <a:spcAft>
                          <a:spcPts val="700"/>
                        </a:spcAft>
                        <a:buNone/>
                      </a:pPr>
                      <a:r>
                        <a:rPr lang="en-US" sz="1400" dirty="0">
                          <a:solidFill>
                            <a:srgbClr val="000000"/>
                          </a:solidFill>
                          <a:latin typeface="+mn-lt"/>
                          <a:ea typeface="OpenAI Sans"/>
                          <a:cs typeface="OpenAI Sans"/>
                          <a:sym typeface="OpenAI Sans"/>
                        </a:rPr>
                        <a:t>One owner blank</a:t>
                      </a:r>
                      <a:endParaRPr sz="1400" dirty="0">
                        <a:solidFill>
                          <a:srgbClr val="000000"/>
                        </a:solidFill>
                        <a:latin typeface="+mn-lt"/>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lvl="0" indent="0" algn="l" rtl="0">
                        <a:lnSpc>
                          <a:spcPct val="110000"/>
                        </a:lnSpc>
                        <a:spcBef>
                          <a:spcPts val="0"/>
                        </a:spcBef>
                        <a:spcAft>
                          <a:spcPts val="700"/>
                        </a:spcAft>
                        <a:buNone/>
                      </a:pPr>
                      <a:r>
                        <a:rPr lang="en-US" sz="1400" dirty="0">
                          <a:solidFill>
                            <a:srgbClr val="000000"/>
                          </a:solidFill>
                          <a:latin typeface="+mn-lt"/>
                          <a:ea typeface="OpenAI Sans"/>
                          <a:cs typeface="OpenAI Sans"/>
                          <a:sym typeface="OpenAI Sans"/>
                        </a:rPr>
                        <a:t>Synthetic data</a:t>
                      </a:r>
                      <a:endParaRPr sz="1400" dirty="0">
                        <a:solidFill>
                          <a:srgbClr val="000000"/>
                        </a:solidFill>
                        <a:latin typeface="+mn-lt"/>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extLst>
                  <a:ext uri="{0D108BD9-81ED-4DB2-BD59-A6C34878D82A}">
                    <a16:rowId val="10007"/>
                  </a:ext>
                </a:extLst>
              </a:tr>
              <a:tr h="452155">
                <a:tc>
                  <a:txBody>
                    <a:bodyPr/>
                    <a:lstStyle/>
                    <a:p>
                      <a:pPr marL="0" lvl="0" indent="0" algn="l" rtl="0">
                        <a:lnSpc>
                          <a:spcPct val="110000"/>
                        </a:lnSpc>
                        <a:spcBef>
                          <a:spcPts val="0"/>
                        </a:spcBef>
                        <a:spcAft>
                          <a:spcPts val="700"/>
                        </a:spcAft>
                        <a:buNone/>
                      </a:pPr>
                      <a:r>
                        <a:rPr lang="en-US" sz="1400" dirty="0">
                          <a:solidFill>
                            <a:srgbClr val="000000"/>
                          </a:solidFill>
                          <a:latin typeface="+mn-lt"/>
                          <a:ea typeface="OpenAI Sans"/>
                          <a:cs typeface="OpenAI Sans"/>
                          <a:sym typeface="OpenAI Sans"/>
                        </a:rPr>
                        <a:t>Rule time</a:t>
                      </a:r>
                      <a:endParaRPr sz="1400" dirty="0">
                        <a:solidFill>
                          <a:srgbClr val="000000"/>
                        </a:solidFill>
                        <a:latin typeface="+mn-lt"/>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lgn="ctr">
                      <a:solidFill>
                        <a:srgbClr val="9E9E9E">
                          <a:alpha val="0"/>
                        </a:srgbClr>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lvl="0" indent="0" algn="l" rtl="0">
                        <a:lnSpc>
                          <a:spcPct val="110000"/>
                        </a:lnSpc>
                        <a:spcBef>
                          <a:spcPts val="0"/>
                        </a:spcBef>
                        <a:spcAft>
                          <a:spcPts val="700"/>
                        </a:spcAft>
                        <a:buNone/>
                      </a:pPr>
                      <a:r>
                        <a:rPr lang="en-US" sz="1400" dirty="0">
                          <a:solidFill>
                            <a:srgbClr val="000000"/>
                          </a:solidFill>
                          <a:latin typeface="+mn-lt"/>
                          <a:ea typeface="OpenAI Sans"/>
                          <a:cs typeface="OpenAI Sans"/>
                          <a:sym typeface="OpenAI Sans"/>
                        </a:rPr>
                        <a:t>4.61 / 9.13 ms</a:t>
                      </a:r>
                      <a:endParaRPr sz="1400" dirty="0">
                        <a:solidFill>
                          <a:srgbClr val="000000"/>
                        </a:solidFill>
                        <a:latin typeface="+mn-lt"/>
                        <a:ea typeface="OpenAI Sans"/>
                        <a:cs typeface="OpenAI Sans"/>
                        <a:sym typeface="OpenAI Sans"/>
                      </a:endParaRPr>
                    </a:p>
                  </a:txBody>
                  <a:tcPr marL="0" marR="0" marT="91425" marB="91425">
                    <a:lnL w="9525" cap="flat" cmpd="sng" algn="ctr">
                      <a:solidFill>
                        <a:srgbClr val="9E9E9E">
                          <a:alpha val="0"/>
                        </a:srgbClr>
                      </a:solidFill>
                      <a:prstDash val="solid"/>
                      <a:round/>
                      <a:headEnd type="none" w="sm" len="sm"/>
                      <a:tailEnd type="none" w="sm" len="sm"/>
                    </a:lnL>
                    <a:lnR w="9525" cap="flat" cmpd="sng" algn="ctr">
                      <a:solidFill>
                        <a:srgbClr val="9E9E9E">
                          <a:alpha val="0"/>
                        </a:srgb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lvl="0" indent="0" algn="l" rtl="0">
                        <a:lnSpc>
                          <a:spcPct val="110000"/>
                        </a:lnSpc>
                        <a:spcBef>
                          <a:spcPts val="0"/>
                        </a:spcBef>
                        <a:spcAft>
                          <a:spcPts val="700"/>
                        </a:spcAft>
                        <a:buNone/>
                      </a:pPr>
                      <a:r>
                        <a:rPr lang="en-US" sz="1400" dirty="0">
                          <a:solidFill>
                            <a:srgbClr val="000000"/>
                          </a:solidFill>
                          <a:latin typeface="+mn-lt"/>
                          <a:ea typeface="OpenAI Sans"/>
                          <a:cs typeface="OpenAI Sans"/>
                          <a:sym typeface="OpenAI Sans"/>
                        </a:rPr>
                        <a:t>Median / 95th percentile</a:t>
                      </a:r>
                      <a:endParaRPr sz="1400" dirty="0">
                        <a:solidFill>
                          <a:srgbClr val="000000"/>
                        </a:solidFill>
                        <a:latin typeface="+mn-lt"/>
                        <a:ea typeface="OpenAI Sans"/>
                        <a:cs typeface="OpenAI Sans"/>
                        <a:sym typeface="OpenAI Sans"/>
                      </a:endParaRPr>
                    </a:p>
                  </a:txBody>
                  <a:tcPr marL="0" marR="0" marT="91425" marB="91425">
                    <a:lnL w="9525" cap="flat" cmpd="sng" algn="ctr">
                      <a:solidFill>
                        <a:srgbClr val="9E9E9E">
                          <a:alpha val="0"/>
                        </a:srgbClr>
                      </a:solidFill>
                      <a:prstDash val="solid"/>
                      <a:round/>
                      <a:headEnd type="none" w="sm" len="sm"/>
                      <a:tailEnd type="none" w="sm" len="sm"/>
                    </a:lnL>
                    <a:lnR w="9525" cap="flat" cmpd="sng" algn="ctr">
                      <a:solidFill>
                        <a:srgbClr val="9E9E9E">
                          <a:alpha val="0"/>
                        </a:srgb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lvl="0" indent="0" algn="l" rtl="0">
                        <a:lnSpc>
                          <a:spcPct val="110000"/>
                        </a:lnSpc>
                        <a:spcBef>
                          <a:spcPts val="0"/>
                        </a:spcBef>
                        <a:spcAft>
                          <a:spcPts val="700"/>
                        </a:spcAft>
                        <a:buNone/>
                      </a:pPr>
                      <a:r>
                        <a:rPr lang="en-US" sz="1400" dirty="0">
                          <a:solidFill>
                            <a:srgbClr val="000000"/>
                          </a:solidFill>
                          <a:latin typeface="+mn-lt"/>
                          <a:ea typeface="OpenAI Sans"/>
                          <a:cs typeface="OpenAI Sans"/>
                          <a:sym typeface="OpenAI Sans"/>
                        </a:rPr>
                        <a:t>12 local calls</a:t>
                      </a:r>
                      <a:endParaRPr sz="1400" dirty="0">
                        <a:solidFill>
                          <a:srgbClr val="000000"/>
                        </a:solidFill>
                        <a:latin typeface="+mn-lt"/>
                        <a:ea typeface="OpenAI Sans"/>
                        <a:cs typeface="OpenAI Sans"/>
                        <a:sym typeface="OpenAI Sans"/>
                      </a:endParaRPr>
                    </a:p>
                  </a:txBody>
                  <a:tcPr marL="0" marR="0" marT="91425" marB="91425">
                    <a:lnL w="9525" cap="flat" cmpd="sng" algn="ctr">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extLst>
                  <a:ext uri="{0D108BD9-81ED-4DB2-BD59-A6C34878D82A}">
                    <a16:rowId val="1377717350"/>
                  </a:ext>
                </a:extLst>
              </a:tr>
              <a:tr h="452155">
                <a:tc>
                  <a:txBody>
                    <a:bodyPr/>
                    <a:lstStyle/>
                    <a:p>
                      <a:pPr marL="0" lvl="0" indent="0" algn="l" rtl="0">
                        <a:lnSpc>
                          <a:spcPct val="110000"/>
                        </a:lnSpc>
                        <a:spcBef>
                          <a:spcPts val="0"/>
                        </a:spcBef>
                        <a:spcAft>
                          <a:spcPts val="700"/>
                        </a:spcAft>
                        <a:buNone/>
                      </a:pPr>
                      <a:r>
                        <a:rPr lang="en-US" sz="1400" dirty="0">
                          <a:solidFill>
                            <a:srgbClr val="000000"/>
                          </a:solidFill>
                          <a:latin typeface="+mn-lt"/>
                          <a:ea typeface="OpenAI Sans"/>
                          <a:cs typeface="OpenAI Sans"/>
                          <a:sym typeface="OpenAI Sans"/>
                        </a:rPr>
                        <a:t>Memory</a:t>
                      </a:r>
                      <a:endParaRPr sz="1400" dirty="0">
                        <a:solidFill>
                          <a:srgbClr val="000000"/>
                        </a:solidFill>
                        <a:latin typeface="+mn-lt"/>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lgn="ctr">
                      <a:solidFill>
                        <a:srgbClr val="9E9E9E">
                          <a:alpha val="0"/>
                        </a:srgbClr>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lnSpc>
                          <a:spcPct val="110000"/>
                        </a:lnSpc>
                        <a:spcBef>
                          <a:spcPts val="0"/>
                        </a:spcBef>
                        <a:spcAft>
                          <a:spcPts val="700"/>
                        </a:spcAft>
                        <a:buNone/>
                      </a:pPr>
                      <a:r>
                        <a:rPr lang="en-US" sz="1400" dirty="0">
                          <a:solidFill>
                            <a:srgbClr val="000000"/>
                          </a:solidFill>
                          <a:latin typeface="+mn-lt"/>
                          <a:ea typeface="OpenAI Sans"/>
                          <a:cs typeface="OpenAI Sans"/>
                          <a:sym typeface="OpenAI Sans"/>
                        </a:rPr>
                        <a:t>78.2 MB</a:t>
                      </a:r>
                      <a:endParaRPr sz="1400" dirty="0">
                        <a:solidFill>
                          <a:srgbClr val="000000"/>
                        </a:solidFill>
                        <a:latin typeface="+mn-lt"/>
                        <a:ea typeface="OpenAI Sans"/>
                        <a:cs typeface="OpenAI Sans"/>
                        <a:sym typeface="OpenAI Sans"/>
                      </a:endParaRPr>
                    </a:p>
                  </a:txBody>
                  <a:tcPr marL="0" marR="0" marT="91425" marB="91425">
                    <a:lnL w="9525" cap="flat" cmpd="sng" algn="ctr">
                      <a:solidFill>
                        <a:srgbClr val="9E9E9E">
                          <a:alpha val="0"/>
                        </a:srgbClr>
                      </a:solidFill>
                      <a:prstDash val="solid"/>
                      <a:round/>
                      <a:headEnd type="none" w="sm" len="sm"/>
                      <a:tailEnd type="none" w="sm" len="sm"/>
                    </a:lnL>
                    <a:lnR w="9525" cap="flat" cmpd="sng" algn="ctr">
                      <a:solidFill>
                        <a:srgbClr val="9E9E9E">
                          <a:alpha val="0"/>
                        </a:srgbClr>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lnSpc>
                          <a:spcPct val="110000"/>
                        </a:lnSpc>
                        <a:spcBef>
                          <a:spcPts val="0"/>
                        </a:spcBef>
                        <a:spcAft>
                          <a:spcPts val="700"/>
                        </a:spcAft>
                        <a:buNone/>
                      </a:pPr>
                      <a:r>
                        <a:rPr lang="en-US" sz="1400" dirty="0">
                          <a:solidFill>
                            <a:srgbClr val="000000"/>
                          </a:solidFill>
                          <a:latin typeface="+mn-lt"/>
                          <a:ea typeface="OpenAI Sans"/>
                          <a:cs typeface="OpenAI Sans"/>
                          <a:sym typeface="OpenAI Sans"/>
                        </a:rPr>
                        <a:t>App and test tools</a:t>
                      </a:r>
                      <a:endParaRPr sz="1400" dirty="0">
                        <a:solidFill>
                          <a:srgbClr val="000000"/>
                        </a:solidFill>
                        <a:latin typeface="+mn-lt"/>
                        <a:ea typeface="OpenAI Sans"/>
                        <a:cs typeface="OpenAI Sans"/>
                        <a:sym typeface="OpenAI Sans"/>
                      </a:endParaRPr>
                    </a:p>
                  </a:txBody>
                  <a:tcPr marL="0" marR="0" marT="91425" marB="91425">
                    <a:lnL w="9525" cap="flat" cmpd="sng" algn="ctr">
                      <a:solidFill>
                        <a:srgbClr val="9E9E9E">
                          <a:alpha val="0"/>
                        </a:srgbClr>
                      </a:solidFill>
                      <a:prstDash val="solid"/>
                      <a:round/>
                      <a:headEnd type="none" w="sm" len="sm"/>
                      <a:tailEnd type="none" w="sm" len="sm"/>
                    </a:lnL>
                    <a:lnR w="9525" cap="flat" cmpd="sng" algn="ctr">
                      <a:solidFill>
                        <a:srgbClr val="9E9E9E">
                          <a:alpha val="0"/>
                        </a:srgbClr>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lnSpc>
                          <a:spcPct val="110000"/>
                        </a:lnSpc>
                        <a:spcBef>
                          <a:spcPts val="0"/>
                        </a:spcBef>
                        <a:spcAft>
                          <a:spcPts val="700"/>
                        </a:spcAft>
                        <a:buNone/>
                      </a:pPr>
                      <a:r>
                        <a:rPr lang="en-US" sz="1400" dirty="0">
                          <a:solidFill>
                            <a:srgbClr val="000000"/>
                          </a:solidFill>
                          <a:latin typeface="+mn-lt"/>
                          <a:ea typeface="OpenAI Sans"/>
                          <a:cs typeface="OpenAI Sans"/>
                          <a:sym typeface="OpenAI Sans"/>
                        </a:rPr>
                        <a:t>No model</a:t>
                      </a:r>
                      <a:endParaRPr sz="1400" dirty="0">
                        <a:solidFill>
                          <a:srgbClr val="000000"/>
                        </a:solidFill>
                        <a:latin typeface="+mn-lt"/>
                        <a:ea typeface="OpenAI Sans"/>
                        <a:cs typeface="OpenAI Sans"/>
                        <a:sym typeface="OpenAI Sans"/>
                      </a:endParaRPr>
                    </a:p>
                  </a:txBody>
                  <a:tcPr marL="0" marR="0" marT="91425" marB="91425">
                    <a:lnL w="9525" cap="flat" cmpd="sng" algn="ctr">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val="306402219"/>
                  </a:ext>
                </a:extLst>
              </a:tr>
            </a:tbl>
          </a:graphicData>
        </a:graphic>
      </p:graphicFrame>
      <p:sp>
        <p:nvSpPr>
          <p:cNvPr id="3" name="Footer Placeholder 2">
            <a:extLst>
              <a:ext uri="{FF2B5EF4-FFF2-40B4-BE49-F238E27FC236}">
                <a16:creationId id="{175B304C-27F3-8A33-E6D7-E2EFCA2F82B2}"/>
              </a:ext>
            </a:extLst>
          </p:cNvPr>
          <p:cNvSpPr>
            <a:spLocks noGrp="1"/>
          </p:cNvSpPr>
          <p:nvPr>
            <p:ph type="ftr" sz="quarter" idx="3"/>
          </p:nvPr>
        </p:nvSpPr>
        <p:spPr/>
        <p:txBody>
          <a:bodyPr/>
          <a:lstStyle/>
          <a:p>
            <a:endParaRPr lang="en-US" sz="1100" dirty="0"/>
          </a:p>
        </p:txBody>
      </p:sp>
      <p:sp>
        <p:nvSpPr>
          <p:cNvPr id="7" name="Google Shape;534;p58">
            <a:extLst>
              <a:ext uri="{FF2B5EF4-FFF2-40B4-BE49-F238E27FC236}">
                <a16:creationId id="{71547039-AB2A-5CA1-49F7-26E9E71601EF}"/>
              </a:ext>
            </a:extLst>
          </p:cNvPr>
          <p:cNvSpPr txBox="1">
            <a:spLocks/>
          </p:cNvSpPr>
          <p:nvPr/>
        </p:nvSpPr>
        <p:spPr>
          <a:xfrm>
            <a:off x="393700" y="2774196"/>
            <a:ext cx="3606800" cy="3220203"/>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800"/>
              </a:spcAft>
              <a:buFont typeface="Arial" panose="020B0604020202020204" pitchFamily="34" charset="0"/>
              <a:buNone/>
            </a:pPr>
            <a:r>
              <a:rPr lang="en-US" sz="1400" dirty="0">
                <a:ea typeface="Helvetica Neue" panose="02000503000000020004" pitchFamily="2" charset="0"/>
                <a:cs typeface="Helvetica Neue" panose="02000503000000020004" pitchFamily="2" charset="0"/>
                <a:sym typeface="OpenAI Sans"/>
              </a:rPr>
              <a:t>The test checks whether expected rows, finding codes, and evidence links are present. A linked record ID does not prove that the source supports the claim.</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p>
          <a:p>
            <a:pPr marL="0" indent="0">
              <a:lnSpc>
                <a:spcPct val="114000"/>
              </a:lnSpc>
              <a:spcBef>
                <a:spcPts val="0"/>
              </a:spcBef>
              <a:spcAft>
                <a:spcPts val="800"/>
              </a:spcAft>
              <a:buFont typeface="Arial" panose="020B0604020202020204" pitchFamily="34" charset="0"/>
              <a:buNone/>
            </a:pPr>
            <a:r>
              <a:rPr lang="en-US" sz="1400" dirty="0">
                <a:ea typeface="Helvetica Neue" panose="02000503000000020004" pitchFamily="2" charset="0"/>
                <a:cs typeface="Helvetica Neue" panose="02000503000000020004" pitchFamily="2" charset="0"/>
                <a:sym typeface="OpenAI Sans"/>
              </a:rPr>
              <a:t>One timing disagreement was flagged and one untimed note stayed unplaced. No human evaluators, real audio, or unseen exercise records were tested.</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r>
              <a:rPr lang="en-US" sz="1400" dirty="0" err="1">
                <a:ea typeface="Helvetica Neue" panose="02000503000000020004" pitchFamily="2" charset="0"/>
                <a:cs typeface="Helvetica Neue" panose="02000503000000020004" pitchFamily="2" charset="0"/>
                <a:sym typeface="OpenAI Sans"/>
              </a:rPr>
              <a:t/>
            </a:r>
            <a:r>
              <a:rPr lang="en-US" sz="1400" dirty="0">
                <a:ea typeface="Helvetica Neue" panose="02000503000000020004" pitchFamily="2" charset="0"/>
                <a:cs typeface="Helvetica Neue" panose="02000503000000020004" pitchFamily="2" charset="0"/>
                <a:sym typeface="OpenAI Sans"/>
              </a:rPr>
              <a:t/>
            </a:r>
          </a:p>
        </p:txBody>
      </p:sp>
      <p:sp>
        <p:nvSpPr>
          <p:cNvPr id="8" name="Google Shape;534;p58">
            <a:extLst>
              <a:ext uri="{FF2B5EF4-FFF2-40B4-BE49-F238E27FC236}">
                <a16:creationId id="{D136FB89-7449-CC90-F061-B6BF578EA25E}"/>
              </a:ext>
            </a:extLst>
          </p:cNvPr>
          <p:cNvSpPr txBox="1">
            <a:spLocks/>
          </p:cNvSpPr>
          <p:nvPr/>
        </p:nvSpPr>
        <p:spPr>
          <a:xfrm>
            <a:off x="393700" y="1564835"/>
            <a:ext cx="3606800" cy="1178365"/>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800"/>
              </a:spcAft>
              <a:buNone/>
            </a:pPr>
            <a:r>
              <a:rPr lang="en-US" sz="2000" dirty="0">
                <a:latin typeface="+mj-lt"/>
                <a:ea typeface="Helvetica Neue" panose="02000503000000020004" pitchFamily="2" charset="0"/>
                <a:cs typeface="Helvetica Neue" panose="02000503000000020004" pitchFamily="2" charset="0"/>
                <a:sym typeface="OpenAI Sans"/>
              </a:rPr>
              <a:t>All perfect matches come from one closed fictional exercise fixture.</a:t>
            </a:r>
            <a:r>
              <a:rPr lang="en-US" sz="2000" dirty="0" err="1">
                <a:latin typeface="+mj-lt"/>
                <a:ea typeface="Helvetica Neue" panose="02000503000000020004" pitchFamily="2" charset="0"/>
                <a:cs typeface="Helvetica Neue" panose="02000503000000020004" pitchFamily="2" charset="0"/>
                <a:sym typeface="OpenAI Sans"/>
              </a:rPr>
              <a:t/>
            </a:r>
            <a:r>
              <a:rPr lang="en-US" sz="2000" dirty="0">
                <a:latin typeface="+mj-lt"/>
                <a:ea typeface="Helvetica Neue" panose="02000503000000020004" pitchFamily="2" charset="0"/>
                <a:cs typeface="Helvetica Neue" panose="02000503000000020004" pitchFamily="2" charset="0"/>
                <a:sym typeface="OpenAI Sans"/>
              </a:rPr>
              <a:t/>
            </a:r>
            <a:r>
              <a:rPr lang="en-US" sz="2000" dirty="0" err="1">
                <a:latin typeface="+mj-lt"/>
                <a:ea typeface="Helvetica Neue" panose="02000503000000020004" pitchFamily="2" charset="0"/>
                <a:cs typeface="Helvetica Neue" panose="02000503000000020004" pitchFamily="2" charset="0"/>
                <a:sym typeface="OpenAI Sans"/>
              </a:rPr>
              <a:t/>
            </a:r>
            <a:r>
              <a:rPr lang="en-US" sz="2000" dirty="0">
                <a:latin typeface="+mj-lt"/>
                <a:ea typeface="Helvetica Neue" panose="02000503000000020004" pitchFamily="2" charset="0"/>
                <a:cs typeface="Helvetica Neue" panose="02000503000000020004" pitchFamily="2" charset="0"/>
                <a:sym typeface="OpenAI Sans"/>
              </a:rPr>
              <a:t/>
            </a:r>
            <a:r>
              <a:rPr lang="en-US" sz="2000" dirty="0" err="1">
                <a:latin typeface="+mj-lt"/>
                <a:ea typeface="Helvetica Neue" panose="02000503000000020004" pitchFamily="2" charset="0"/>
                <a:cs typeface="Helvetica Neue" panose="02000503000000020004" pitchFamily="2" charset="0"/>
                <a:sym typeface="OpenAI Sans"/>
              </a:rPr>
              <a:t/>
            </a:r>
            <a:r>
              <a:rPr lang="en-US" sz="2000" dirty="0">
                <a:latin typeface="+mj-lt"/>
                <a:ea typeface="Helvetica Neue" panose="02000503000000020004" pitchFamily="2" charset="0"/>
                <a:cs typeface="Helvetica Neue" panose="02000503000000020004" pitchFamily="2" charset="0"/>
                <a:sym typeface="OpenAI Sans"/>
              </a:rPr>
              <a:t/>
            </a:r>
            <a:r>
              <a:rPr lang="en-US" sz="2000" dirty="0" err="1">
                <a:latin typeface="+mj-lt"/>
                <a:ea typeface="Helvetica Neue" panose="02000503000000020004" pitchFamily="2" charset="0"/>
                <a:cs typeface="Helvetica Neue" panose="02000503000000020004" pitchFamily="2" charset="0"/>
                <a:sym typeface="OpenAI Sans"/>
              </a:rPr>
              <a:t/>
            </a:r>
            <a:r>
              <a:rPr lang="en-US" sz="2000" dirty="0">
                <a:latin typeface="+mj-lt"/>
                <a:ea typeface="Helvetica Neue" panose="02000503000000020004" pitchFamily="2" charset="0"/>
                <a:cs typeface="Helvetica Neue" panose="02000503000000020004" pitchFamily="2" charset="0"/>
                <a:sym typeface="OpenAI Sans"/>
              </a:rPr>
              <a:t/>
            </a:r>
            <a:r>
              <a:rPr lang="en-US" sz="2000" dirty="0" err="1">
                <a:latin typeface="+mj-lt"/>
                <a:ea typeface="Helvetica Neue" panose="02000503000000020004" pitchFamily="2" charset="0"/>
                <a:cs typeface="Helvetica Neue" panose="02000503000000020004" pitchFamily="2" charset="0"/>
                <a:sym typeface="OpenAI Sans"/>
              </a:rPr>
              <a:t/>
            </a:r>
            <a:r>
              <a:rPr lang="en-US" sz="2000" dirty="0">
                <a:latin typeface="+mj-lt"/>
                <a:ea typeface="Helvetica Neue" panose="02000503000000020004" pitchFamily="2" charset="0"/>
                <a:cs typeface="Helvetica Neue" panose="02000503000000020004" pitchFamily="2" charset="0"/>
                <a:sym typeface="OpenAI Sans"/>
              </a:rPr>
              <a:t/>
            </a:r>
            <a:r>
              <a:rPr lang="en-US" sz="2000" dirty="0" err="1">
                <a:latin typeface="+mj-lt"/>
                <a:ea typeface="Helvetica Neue" panose="02000503000000020004" pitchFamily="2" charset="0"/>
                <a:cs typeface="Helvetica Neue" panose="02000503000000020004" pitchFamily="2" charset="0"/>
                <a:sym typeface="OpenAI Sans"/>
              </a:rPr>
              <a:t/>
            </a:r>
            <a:r>
              <a:rPr lang="en-US" sz="2000" dirty="0">
                <a:latin typeface="+mj-lt"/>
                <a:ea typeface="Helvetica Neue" panose="02000503000000020004" pitchFamily="2" charset="0"/>
                <a:cs typeface="Helvetica Neue" panose="02000503000000020004" pitchFamily="2" charset="0"/>
                <a:sym typeface="OpenAI Sans"/>
              </a:rPr>
              <a:t/>
            </a:r>
          </a:p>
        </p:txBody>
      </p:sp>
    </p:spTree>
    <p:extLst>
      <p:ext uri="{BB962C8B-B14F-4D97-AF65-F5344CB8AC3E}">
        <p14:creationId val="2553894934"/>
      </p:ext>
    </p:extLst>
  </p:cSld>
  <p:clrMapOvr>
    <a:masterClrMapping/>
  </p:clrMapOvr>
</p:sld>
</file>

<file path=ppt/slides/slide10.xml><?xml version="1.0" encoding="utf-8"?>
<p:sld xmlns:a="http://schemas.openxmlformats.org/drawingml/2006/main" xmlns:a16="http://schemas.microsoft.com/office/drawing/2014/main" xmlns:c="http://schemas.openxmlformats.org/drawingml/2006/chart" xmlns:p="http://schemas.openxmlformats.org/presentationml/2006/main" xmlns:p14="http://schemas.microsoft.com/office/powerpoint/2010/main" xmlns:r="http://schemas.openxmlformats.org/officeDocument/2006/relationships">
  <p:cSld>
    <p:spTree>
      <p:nvGrpSpPr>
        <p:cNvPr id="1" name="Shape 531">
          <a:extLst>
            <a:ext uri="{FF2B5EF4-FFF2-40B4-BE49-F238E27FC236}">
              <a16:creationId id="{0CA52547-020D-99FE-7808-E009E93F50A1}"/>
            </a:ext>
          </a:extLst>
        </p:cNvPr>
        <p:cNvGrpSpPr/>
        <p:nvPr/>
      </p:nvGrpSpPr>
      <p:grpSpPr>
        <a:xfrm>
          <a:off x="0" y="0"/>
          <a:ext cx="0" cy="0"/>
          <a:chOff x="0" y="0"/>
          <a:chExt cx="0" cy="0"/>
        </a:xfrm>
      </p:grpSpPr>
      <p:sp>
        <p:nvSpPr>
          <p:cNvPr id="532" name="Google Shape;532;p58">
            <a:extLst>
              <a:ext uri="{FF2B5EF4-FFF2-40B4-BE49-F238E27FC236}">
                <a16:creationId id="{F29587C6-818E-614C-4E8F-CD264BB5DD41}"/>
              </a:ext>
            </a:extLst>
          </p:cNvPr>
          <p:cNvSpPr txBox="1">
            <a:spLocks noGrp="1"/>
          </p:cNvSpPr>
          <p:nvPr>
            <p:ph type="sldNum" sz="quarter" idx="4"/>
          </p:nvPr>
        </p:nvSpPr>
        <p:spPr>
          <a:prstGeom prst="rect">
            <a:avLst/>
          </a:prstGeom>
        </p:spPr>
        <p:txBody>
          <a:bodyPr spcFirstLastPara="1" vert="horz" wrap="square" lIns="0" tIns="0" rIns="0" bIns="0" rtlCol="0" anchor="b" anchorCtr="0">
            <a:noAutofit/>
          </a:bodyPr>
          <a:lstStyle/>
          <a:p>
            <a:fld id="{00000000-1234-1234-1234-123412341234}" type="slidenum">
              <a:rPr lang="en">
                <a:sym typeface="OpenAI Sans"/>
              </a:rPr>
              <a:pPr/>
              <a:t>10</a:t>
            </a:fld>
            <a:endParaRPr dirty="0">
              <a:sym typeface="OpenAI Sans"/>
            </a:endParaRPr>
          </a:p>
        </p:txBody>
      </p:sp>
      <p:sp>
        <p:nvSpPr>
          <p:cNvPr id="533" name="Google Shape;533;p58">
            <a:extLst>
              <a:ext uri="{FF2B5EF4-FFF2-40B4-BE49-F238E27FC236}">
                <a16:creationId id="{E3FE1DBC-074A-B31C-7363-7F3B84443707}"/>
              </a:ext>
            </a:extLst>
          </p:cNvPr>
          <p:cNvSpPr txBox="1">
            <a:spLocks noGrp="1"/>
          </p:cNvSpPr>
          <p:nvPr>
            <p:ph type="title"/>
          </p:nvPr>
        </p:nvSpPr>
        <p:spPr>
          <a:xfrm>
            <a:off x="393700" y="344008"/>
            <a:ext cx="5549230" cy="697392"/>
          </a:xfrm>
          <a:prstGeom prst="rect">
            <a:avLst/>
          </a:prstGeom>
        </p:spPr>
        <p:txBody>
          <a:bodyPr spcFirstLastPara="1" vert="horz" wrap="square" lIns="0" tIns="0" rIns="0" bIns="0" rtlCol="0" anchor="t" anchorCtr="0">
            <a:noAutofit/>
          </a:bodyPr>
          <a:lstStyle/>
          <a:p>
            <a:r>
              <a:rPr lang="en-US" dirty="0">
                <a:solidFill>
                  <a:schemeClr val="accent1"/>
                </a:solidFill>
              </a:rPr>
              <a:t>Synthetic fixture counts</a:t>
            </a:r>
            <a:endParaRPr dirty="0">
              <a:solidFill>
                <a:schemeClr val="accent1"/>
              </a:solidFill>
            </a:endParaRPr>
          </a:p>
        </p:txBody>
      </p:sp>
      <p:graphicFrame>
        <p:nvGraphicFramePr>
          <p:cNvPr id="4" name="Chart 3">
            <a:extLst>
              <a:ext uri="{FF2B5EF4-FFF2-40B4-BE49-F238E27FC236}">
                <a16:creationId id="{892A243F-0816-2E7E-47DA-72090C074831}"/>
              </a:ext>
            </a:extLst>
          </p:cNvPr>
          <p:cNvGraphicFramePr/>
          <p:nvPr>
            <p:extLst>
              <p:ext uri="{D42A27DB-BD31-4B8C-83A1-F6EECF244321}">
                <p14:modId val="3139987496"/>
              </p:ext>
            </p:extLst>
          </p:nvPr>
        </p:nvGraphicFramePr>
        <p:xfrm>
          <a:off x="408690" y="1023105"/>
          <a:ext cx="5124182" cy="5225194"/>
        </p:xfrm>
        <a:graphic>
          <a:graphicData uri="http://schemas.openxmlformats.org/drawingml/2006/chart">
            <c:chart r:id="rId3"/>
          </a:graphicData>
        </a:graphic>
      </p:graphicFrame>
      <p:sp>
        <p:nvSpPr>
          <p:cNvPr id="5" name="Footer Placeholder 4">
            <a:extLst>
              <a:ext uri="{FF2B5EF4-FFF2-40B4-BE49-F238E27FC236}">
                <a16:creationId id="{41655C29-3D04-D88C-395C-E6000B5894F9}"/>
              </a:ext>
            </a:extLst>
          </p:cNvPr>
          <p:cNvSpPr>
            <a:spLocks noGrp="1"/>
          </p:cNvSpPr>
          <p:nvPr>
            <p:ph type="ftr" sz="quarter" idx="3"/>
          </p:nvPr>
        </p:nvSpPr>
        <p:spPr/>
        <p:txBody>
          <a:bodyPr/>
          <a:lstStyle/>
          <a:p>
            <a:endParaRPr lang="en-US" sz="1100" dirty="0"/>
          </a:p>
        </p:txBody>
      </p:sp>
      <p:sp>
        <p:nvSpPr>
          <p:cNvPr id="6" name="Rounded Rectangle 5">
            <a:extLst>
              <a:ext uri="{FF2B5EF4-FFF2-40B4-BE49-F238E27FC236}">
                <a16:creationId id="{DEFFCFBF-F669-9423-2DB8-D166659E1B79}"/>
              </a:ext>
            </a:extLst>
          </p:cNvPr>
          <p:cNvSpPr/>
          <p:nvPr/>
        </p:nvSpPr>
        <p:spPr>
          <a:xfrm>
            <a:off x="6264412" y="2374900"/>
            <a:ext cx="5533887" cy="1638300"/>
          </a:xfrm>
          <a:prstGeom prst="roundRect">
            <a:avLst>
              <a:gd name="adj" fmla="val 3585"/>
            </a:avLst>
          </a:prstGeom>
          <a:noFill/>
          <a:ln w="127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1" name="Rounded Rectangle 10">
            <a:extLst>
              <a:ext uri="{FF2B5EF4-FFF2-40B4-BE49-F238E27FC236}">
                <a16:creationId id="{2B25D3D5-48E8-D985-A4A9-9DA67A423BF8}"/>
              </a:ext>
            </a:extLst>
          </p:cNvPr>
          <p:cNvSpPr/>
          <p:nvPr/>
        </p:nvSpPr>
        <p:spPr>
          <a:xfrm>
            <a:off x="6264412" y="4370106"/>
            <a:ext cx="5533887" cy="1638300"/>
          </a:xfrm>
          <a:prstGeom prst="roundRect">
            <a:avLst>
              <a:gd name="adj" fmla="val 3585"/>
            </a:avLst>
          </a:prstGeom>
          <a:noFill/>
          <a:ln w="127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2" name="Content Placeholder 10">
            <a:extLst>
              <a:ext uri="{FF2B5EF4-FFF2-40B4-BE49-F238E27FC236}">
                <a16:creationId id="{993A9C42-081B-E830-D8CB-13511AF87915}"/>
              </a:ext>
            </a:extLst>
          </p:cNvPr>
          <p:cNvSpPr txBox="1">
            <a:spLocks/>
          </p:cNvSpPr>
          <p:nvPr/>
        </p:nvSpPr>
        <p:spPr>
          <a:xfrm>
            <a:off x="6558438" y="3088295"/>
            <a:ext cx="4986886" cy="597539"/>
          </a:xfrm>
          <a:prstGeom prst="rect">
            <a:avLst/>
          </a:prstGeom>
        </p:spPr>
        <p:txBody>
          <a:bodyPr vert="horz" lIns="0" tIns="0" rIns="0" bIns="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300"/>
              </a:spcBef>
              <a:spcAft>
                <a:spcPts val="1300"/>
              </a:spcAft>
              <a:buClrTx/>
              <a:buSzTx/>
              <a:buFontTx/>
              <a:buNone/>
              <a:tabLst/>
              <a:defRPr/>
            </a:pP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All 5 expected finding codes were proposed.</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p>
        </p:txBody>
      </p:sp>
      <p:sp>
        <p:nvSpPr>
          <p:cNvPr id="13" name="TextBox 12">
            <a:extLst>
              <a:ext uri="{FF2B5EF4-FFF2-40B4-BE49-F238E27FC236}">
                <a16:creationId id="{F3899B51-315F-2B69-8DFE-6F0EE585DE74}"/>
              </a:ext>
            </a:extLst>
          </p:cNvPr>
          <p:cNvSpPr txBox="1"/>
          <p:nvPr/>
        </p:nvSpPr>
        <p:spPr>
          <a:xfrm>
            <a:off x="6555127" y="2631212"/>
            <a:ext cx="4986886" cy="287258"/>
          </a:xfrm>
          <a:prstGeom prst="rect">
            <a:avLst/>
          </a:prstGeom>
          <a:noFill/>
        </p:spPr>
        <p:txBody>
          <a:bodyPr wrap="square" lIns="0" tIns="0" rIns="0" bIns="0">
            <a:spAutoFit/>
          </a:bodyPr>
          <a:lstStyle/>
          <a:p>
            <a:pPr marL="0" marR="0" lvl="0" indent="0" algn="l" defTabSz="914400" rtl="0" eaLnBrk="1" fontAlgn="auto" latinLnBrk="0" hangingPunct="1">
              <a:lnSpc>
                <a:spcPct val="114000"/>
              </a:lnSpc>
              <a:spcBef>
                <a:spcPts val="0"/>
              </a:spcBef>
              <a:spcAft>
                <a:spcPts val="800"/>
              </a:spcAft>
              <a:buClrTx/>
              <a:buSzTx/>
              <a:buFontTx/>
              <a:buNone/>
              <a:tabLst/>
              <a:defRPr/>
            </a:pPr>
            <a:r>
              <a:rPr kumimoji="0" lang="en-US" sz="1800" b="0" i="0" u="none" strike="noStrike" kern="1200" cap="none" spc="0" normalizeH="0" baseline="0" noProof="0" dirty="0">
                <a:ln>
                  <a:noFill/>
                </a:ln>
                <a:solidFill>
                  <a:srgbClr val="3357B8"/>
                </a:solidFill>
                <a:effectLst/>
                <a:uLnTx/>
                <a:uFillTx/>
                <a:latin typeface="Helvetica Neue Medium" panose="02000503000000020004" pitchFamily="2" charset="0"/>
                <a:ea typeface="Helvetica Neue Medium" panose="02000503000000020004" pitchFamily="2" charset="0"/>
                <a:cs typeface="Helvetica Neue Medium" panose="02000503000000020004" pitchFamily="2" charset="0"/>
                <a:sym typeface="OpenAI Sans"/>
              </a:rPr>
              <a:t>Finding codes</a:t>
            </a:r>
          </a:p>
        </p:txBody>
      </p:sp>
      <p:sp>
        <p:nvSpPr>
          <p:cNvPr id="14" name="Content Placeholder 10">
            <a:extLst>
              <a:ext uri="{FF2B5EF4-FFF2-40B4-BE49-F238E27FC236}">
                <a16:creationId id="{DBE99E9C-A611-68DB-873D-1306B6DA4538}"/>
              </a:ext>
            </a:extLst>
          </p:cNvPr>
          <p:cNvSpPr txBox="1">
            <a:spLocks/>
          </p:cNvSpPr>
          <p:nvPr/>
        </p:nvSpPr>
        <p:spPr>
          <a:xfrm>
            <a:off x="6558438" y="5094931"/>
            <a:ext cx="4986886" cy="597539"/>
          </a:xfrm>
          <a:prstGeom prst="rect">
            <a:avLst/>
          </a:prstGeom>
        </p:spPr>
        <p:txBody>
          <a:bodyPr vert="horz" lIns="0" tIns="0" rIns="0" bIns="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300"/>
              </a:spcBef>
              <a:spcAft>
                <a:spcPts val="1300"/>
              </a:spcAft>
              <a:buClrTx/>
              <a:buSzTx/>
              <a:buFontTx/>
              <a:buNone/>
              <a:tabLst/>
              <a:defRPr/>
            </a:pP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3 of 4 have owners; one is intentionally blank.</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p>
        </p:txBody>
      </p:sp>
      <p:sp>
        <p:nvSpPr>
          <p:cNvPr id="15" name="TextBox 14">
            <a:extLst>
              <a:ext uri="{FF2B5EF4-FFF2-40B4-BE49-F238E27FC236}">
                <a16:creationId id="{5A7172E7-1168-69D9-D755-CC735D3A9194}"/>
              </a:ext>
            </a:extLst>
          </p:cNvPr>
          <p:cNvSpPr txBox="1"/>
          <p:nvPr/>
        </p:nvSpPr>
        <p:spPr>
          <a:xfrm>
            <a:off x="6555127" y="4637848"/>
            <a:ext cx="4986886" cy="287258"/>
          </a:xfrm>
          <a:prstGeom prst="rect">
            <a:avLst/>
          </a:prstGeom>
          <a:noFill/>
        </p:spPr>
        <p:txBody>
          <a:bodyPr wrap="square" lIns="0" tIns="0" rIns="0" bIns="0">
            <a:spAutoFit/>
          </a:bodyPr>
          <a:lstStyle/>
          <a:p>
            <a:pPr marL="0" marR="0" lvl="0" indent="0" algn="l" defTabSz="914400" rtl="0" eaLnBrk="1" fontAlgn="auto" latinLnBrk="0" hangingPunct="1">
              <a:lnSpc>
                <a:spcPct val="114000"/>
              </a:lnSpc>
              <a:spcBef>
                <a:spcPts val="0"/>
              </a:spcBef>
              <a:spcAft>
                <a:spcPts val="800"/>
              </a:spcAft>
              <a:buClrTx/>
              <a:buSzTx/>
              <a:buFontTx/>
              <a:buNone/>
              <a:tabLst/>
              <a:defRPr/>
            </a:pPr>
            <a:r>
              <a:rPr kumimoji="0" lang="en-US" sz="1800" b="0" i="0" u="none" strike="noStrike" kern="1200" cap="none" spc="0" normalizeH="0" baseline="0" noProof="0" dirty="0">
                <a:ln>
                  <a:noFill/>
                </a:ln>
                <a:solidFill>
                  <a:srgbClr val="3357B8"/>
                </a:solidFill>
                <a:effectLst/>
                <a:uLnTx/>
                <a:uFillTx/>
                <a:latin typeface="Helvetica Neue Medium" panose="02000503000000020004" pitchFamily="2" charset="0"/>
                <a:ea typeface="Helvetica Neue Medium" panose="02000503000000020004" pitchFamily="2" charset="0"/>
                <a:cs typeface="Helvetica Neue Medium" panose="02000503000000020004" pitchFamily="2" charset="0"/>
                <a:sym typeface="OpenAI Sans"/>
              </a:rPr>
              <a:t>Action owners</a:t>
            </a:r>
          </a:p>
        </p:txBody>
      </p:sp>
      <p:sp>
        <p:nvSpPr>
          <p:cNvPr id="16" name="Rounded Rectangle 15">
            <a:extLst>
              <a:ext uri="{FF2B5EF4-FFF2-40B4-BE49-F238E27FC236}">
                <a16:creationId id="{B252D751-7B28-98E9-CF7E-0EB98657E0AF}"/>
              </a:ext>
            </a:extLst>
          </p:cNvPr>
          <p:cNvSpPr/>
          <p:nvPr/>
        </p:nvSpPr>
        <p:spPr>
          <a:xfrm>
            <a:off x="6264412" y="391117"/>
            <a:ext cx="5533887" cy="1638300"/>
          </a:xfrm>
          <a:prstGeom prst="roundRect">
            <a:avLst>
              <a:gd name="adj" fmla="val 3585"/>
            </a:avLst>
          </a:prstGeom>
          <a:noFill/>
          <a:ln w="127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7" name="Content Placeholder 10">
            <a:extLst>
              <a:ext uri="{FF2B5EF4-FFF2-40B4-BE49-F238E27FC236}">
                <a16:creationId id="{07D94FB0-B75A-4229-2FD1-CA1FAAC57998}"/>
              </a:ext>
            </a:extLst>
          </p:cNvPr>
          <p:cNvSpPr txBox="1">
            <a:spLocks/>
          </p:cNvSpPr>
          <p:nvPr/>
        </p:nvSpPr>
        <p:spPr>
          <a:xfrm>
            <a:off x="6558438" y="1104512"/>
            <a:ext cx="4986886" cy="597539"/>
          </a:xfrm>
          <a:prstGeom prst="rect">
            <a:avLst/>
          </a:prstGeom>
        </p:spPr>
        <p:txBody>
          <a:bodyPr vert="horz" lIns="0" tIns="0" rIns="0" bIns="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300"/>
              </a:spcBef>
              <a:spcAft>
                <a:spcPts val="1300"/>
              </a:spcAft>
              <a:buClrTx/>
              <a:buSzTx/>
              <a:buFontTx/>
              <a:buNone/>
              <a:tabLst/>
              <a:defRPr/>
            </a:pP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8 of 8 expected log rows were found.</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effectLst/>
                <a:uLnTx/>
                <a:uFillTx/>
                <a:latin typeface="Helvetica Neue" panose="02000503000000020004" pitchFamily="2" charset="0"/>
                <a:ea typeface="Helvetica Neue" panose="02000503000000020004" pitchFamily="2" charset="0"/>
                <a:cs typeface="Helvetica Neue" panose="02000503000000020004" pitchFamily="2" charset="0"/>
                <a:sym typeface="OpenAI Sans"/>
              </a:rPr>
              <a:t/>
            </a:r>
          </a:p>
        </p:txBody>
      </p:sp>
      <p:sp>
        <p:nvSpPr>
          <p:cNvPr id="18" name="TextBox 17">
            <a:extLst>
              <a:ext uri="{FF2B5EF4-FFF2-40B4-BE49-F238E27FC236}">
                <a16:creationId id="{20D1D081-A168-A031-F892-8E2476A4AF34}"/>
              </a:ext>
            </a:extLst>
          </p:cNvPr>
          <p:cNvSpPr txBox="1"/>
          <p:nvPr/>
        </p:nvSpPr>
        <p:spPr>
          <a:xfrm>
            <a:off x="6555127" y="647429"/>
            <a:ext cx="4986886" cy="287258"/>
          </a:xfrm>
          <a:prstGeom prst="rect">
            <a:avLst/>
          </a:prstGeom>
          <a:noFill/>
        </p:spPr>
        <p:txBody>
          <a:bodyPr wrap="square" lIns="0" tIns="0" rIns="0" bIns="0">
            <a:spAutoFit/>
          </a:bodyPr>
          <a:lstStyle/>
          <a:p>
            <a:pPr marL="0" marR="0" lvl="0" indent="0" algn="l" defTabSz="914400" rtl="0" eaLnBrk="1" fontAlgn="auto" latinLnBrk="0" hangingPunct="1">
              <a:lnSpc>
                <a:spcPct val="114000"/>
              </a:lnSpc>
              <a:spcBef>
                <a:spcPts val="0"/>
              </a:spcBef>
              <a:spcAft>
                <a:spcPts val="800"/>
              </a:spcAft>
              <a:buClrTx/>
              <a:buSzTx/>
              <a:buFontTx/>
              <a:buNone/>
              <a:tabLst/>
              <a:defRPr/>
            </a:pPr>
            <a:r>
              <a:rPr kumimoji="0" lang="en-US" sz="1800" b="0" i="0" u="none" strike="noStrike" kern="1200" cap="none" spc="0" normalizeH="0" baseline="0" noProof="0" dirty="0">
                <a:ln>
                  <a:noFill/>
                </a:ln>
                <a:solidFill>
                  <a:srgbClr val="3357B8"/>
                </a:solidFill>
                <a:effectLst/>
                <a:uLnTx/>
                <a:uFillTx/>
                <a:latin typeface="Helvetica Neue Medium" panose="02000503000000020004" pitchFamily="2" charset="0"/>
                <a:ea typeface="Helvetica Neue Medium" panose="02000503000000020004" pitchFamily="2" charset="0"/>
                <a:cs typeface="Helvetica Neue Medium" panose="02000503000000020004" pitchFamily="2" charset="0"/>
                <a:sym typeface="OpenAI Sans"/>
              </a:rPr>
              <a:t>Event rows</a:t>
            </a:r>
          </a:p>
        </p:txBody>
      </p:sp>
    </p:spTree>
    <p:extLst>
      <p:ext uri="{BB962C8B-B14F-4D97-AF65-F5344CB8AC3E}">
        <p14:creationId val="3145975295"/>
      </p:ext>
    </p:extLst>
  </p:cSld>
  <p:clrMapOvr>
    <a:masterClrMapping/>
  </p:clrMapOvr>
</p:sld>
</file>

<file path=ppt/slides/slide11.xml><?xml version="1.0" encoding="utf-8"?>
<p:sld xmlns:a="http://schemas.openxmlformats.org/drawingml/2006/main" xmlns:a16="http://schemas.microsoft.com/office/drawing/2014/main" xmlns:c="http://schemas.openxmlformats.org/drawingml/2006/chart" xmlns:p="http://schemas.openxmlformats.org/presentationml/2006/main" xmlns:p14="http://schemas.microsoft.com/office/powerpoint/2010/main" xmlns:r="http://schemas.openxmlformats.org/officeDocument/2006/relationships">
  <p:cSld>
    <p:spTree>
      <p:nvGrpSpPr>
        <p:cNvPr id="1" name="Shape 531">
          <a:extLst>
            <a:ext uri="{FF2B5EF4-FFF2-40B4-BE49-F238E27FC236}">
              <a16:creationId id="{1A03D60E-5DAA-16C1-57A8-527A813C058D}"/>
            </a:ext>
          </a:extLst>
        </p:cNvPr>
        <p:cNvGrpSpPr/>
        <p:nvPr/>
      </p:nvGrpSpPr>
      <p:grpSpPr>
        <a:xfrm>
          <a:off x="0" y="0"/>
          <a:ext cx="0" cy="0"/>
          <a:chOff x="0" y="0"/>
          <a:chExt cx="0" cy="0"/>
        </a:xfrm>
      </p:grpSpPr>
      <p:sp>
        <p:nvSpPr>
          <p:cNvPr id="532" name="Google Shape;532;p58">
            <a:extLst>
              <a:ext uri="{FF2B5EF4-FFF2-40B4-BE49-F238E27FC236}">
                <a16:creationId id="{95E36811-4D7D-1AF4-2047-7797FCF55465}"/>
              </a:ext>
            </a:extLst>
          </p:cNvPr>
          <p:cNvSpPr txBox="1">
            <a:spLocks noGrp="1"/>
          </p:cNvSpPr>
          <p:nvPr>
            <p:ph type="sldNum" sz="quarter" idx="4"/>
          </p:nvPr>
        </p:nvSpPr>
        <p:spPr>
          <a:prstGeom prst="rect">
            <a:avLst/>
          </a:prstGeom>
        </p:spPr>
        <p:txBody>
          <a:bodyPr spcFirstLastPara="1" vert="horz" wrap="square" lIns="0" tIns="0" rIns="0" bIns="0" rtlCol="0" anchor="b" anchorCtr="0">
            <a:noAutofit/>
          </a:bodyPr>
          <a:lstStyle/>
          <a:p>
            <a:fld id="{00000000-1234-1234-1234-123412341234}" type="slidenum">
              <a:rPr lang="en">
                <a:sym typeface="OpenAI Sans"/>
              </a:rPr>
              <a:pPr/>
              <a:t>11</a:t>
            </a:fld>
            <a:endParaRPr dirty="0">
              <a:sym typeface="OpenAI Sans"/>
            </a:endParaRPr>
          </a:p>
        </p:txBody>
      </p:sp>
      <p:sp>
        <p:nvSpPr>
          <p:cNvPr id="533" name="Google Shape;533;p58">
            <a:extLst>
              <a:ext uri="{FF2B5EF4-FFF2-40B4-BE49-F238E27FC236}">
                <a16:creationId id="{0619161C-354F-15D6-9579-085F52D7C5B2}"/>
              </a:ext>
            </a:extLst>
          </p:cNvPr>
          <p:cNvSpPr txBox="1">
            <a:spLocks noGrp="1"/>
          </p:cNvSpPr>
          <p:nvPr>
            <p:ph type="title"/>
          </p:nvPr>
        </p:nvSpPr>
        <p:spPr>
          <a:xfrm>
            <a:off x="393700" y="344008"/>
            <a:ext cx="5549230" cy="697392"/>
          </a:xfrm>
          <a:prstGeom prst="rect">
            <a:avLst/>
          </a:prstGeom>
        </p:spPr>
        <p:txBody>
          <a:bodyPr spcFirstLastPara="1" vert="horz" wrap="square" lIns="0" tIns="0" rIns="0" bIns="0" rtlCol="0" anchor="t" anchorCtr="0">
            <a:noAutofit/>
          </a:bodyPr>
          <a:lstStyle/>
          <a:p>
            <a:r>
              <a:rPr lang="en-US" dirty="0">
                <a:solidFill>
                  <a:schemeClr val="accent1"/>
                </a:solidFill>
              </a:rPr>
              <a:t>Annual USD cases ($000)</a:t>
            </a:r>
            <a:endParaRPr dirty="0">
              <a:solidFill>
                <a:schemeClr val="accent1"/>
              </a:solidFill>
            </a:endParaRPr>
          </a:p>
        </p:txBody>
      </p:sp>
      <p:graphicFrame>
        <p:nvGraphicFramePr>
          <p:cNvPr id="4" name="Chart 3">
            <a:extLst>
              <a:ext uri="{FF2B5EF4-FFF2-40B4-BE49-F238E27FC236}">
                <a16:creationId id="{F9ECF619-B138-985C-78A5-B4A36DC109EB}"/>
              </a:ext>
            </a:extLst>
          </p:cNvPr>
          <p:cNvGraphicFramePr/>
          <p:nvPr/>
        </p:nvGraphicFramePr>
        <p:xfrm>
          <a:off x="408690" y="1023105"/>
          <a:ext cx="5124182" cy="5225194"/>
        </p:xfrm>
        <a:graphic>
          <a:graphicData uri="http://schemas.openxmlformats.org/drawingml/2006/chart">
            <c:chart r:id="rId3"/>
          </a:graphicData>
        </a:graphic>
      </p:graphicFrame>
      <p:sp>
        <p:nvSpPr>
          <p:cNvPr id="5" name="Footer Placeholder 4">
            <a:extLst>
              <a:ext uri="{FF2B5EF4-FFF2-40B4-BE49-F238E27FC236}">
                <a16:creationId id="{28BED08C-D3A0-E23F-F823-E34BEC6E5268}"/>
              </a:ext>
            </a:extLst>
          </p:cNvPr>
          <p:cNvSpPr>
            <a:spLocks noGrp="1"/>
          </p:cNvSpPr>
          <p:nvPr>
            <p:ph type="ftr" sz="quarter" idx="3"/>
          </p:nvPr>
        </p:nvSpPr>
        <p:spPr/>
        <p:txBody>
          <a:bodyPr/>
          <a:lstStyle/>
          <a:p>
            <a:endParaRPr lang="en-US" sz="1100" dirty="0"/>
          </a:p>
        </p:txBody>
      </p:sp>
      <p:sp>
        <p:nvSpPr>
          <p:cNvPr id="2" name="Rounded Rectangle 1">
            <a:extLst>
              <a:ext uri="{FF2B5EF4-FFF2-40B4-BE49-F238E27FC236}">
                <a16:creationId id="{C1DC18F5-97D1-0F9E-AF97-E39D1D597D57}"/>
              </a:ext>
            </a:extLst>
          </p:cNvPr>
          <p:cNvSpPr/>
          <p:nvPr/>
        </p:nvSpPr>
        <p:spPr>
          <a:xfrm>
            <a:off x="6271986" y="2032000"/>
            <a:ext cx="2581975" cy="2656541"/>
          </a:xfrm>
          <a:prstGeom prst="roundRect">
            <a:avLst>
              <a:gd name="adj" fmla="val 3602"/>
            </a:avLst>
          </a:prstGeom>
          <a:noFill/>
          <a:ln w="127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3" name="Content Placeholder 9">
            <a:extLst>
              <a:ext uri="{FF2B5EF4-FFF2-40B4-BE49-F238E27FC236}">
                <a16:creationId id="{90C522A2-2174-5AFA-9A00-7E4BBCEB22B0}"/>
              </a:ext>
            </a:extLst>
          </p:cNvPr>
          <p:cNvSpPr txBox="1">
            <a:spLocks/>
          </p:cNvSpPr>
          <p:nvPr/>
        </p:nvSpPr>
        <p:spPr>
          <a:xfrm>
            <a:off x="6494348" y="2356820"/>
            <a:ext cx="2133315" cy="903750"/>
          </a:xfrm>
          <a:prstGeom prst="rect">
            <a:avLst/>
          </a:prstGeom>
        </p:spPr>
        <p:txBody>
          <a:bodyPr vert="horz" lIns="0" tIns="0" rIns="0" bIns="0" rtlCol="0" anchor="b">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540" marR="0" lvl="0" indent="0" algn="l" defTabSz="914400" rtl="0" eaLnBrk="1" fontAlgn="auto" latinLnBrk="0" hangingPunct="1">
              <a:lnSpc>
                <a:spcPct val="110000"/>
              </a:lnSpc>
              <a:spcBef>
                <a:spcPts val="0"/>
              </a:spcBef>
              <a:spcAft>
                <a:spcPts val="0"/>
              </a:spcAft>
              <a:buClr>
                <a:prstClr val="black"/>
              </a:buClr>
              <a:buSzPts val="1400"/>
              <a:buNone/>
              <a:tabLst/>
              <a:defRPr/>
            </a:pPr>
            <a:r>
              <a:rPr kumimoji="0" lang="en-US" sz="6200" u="none" strike="noStrike" kern="1200" cap="none" spc="0" normalizeH="0" baseline="0" noProof="0" dirty="0">
                <a:ln>
                  <a:noFill/>
                </a:ln>
                <a:solidFill>
                  <a:schemeClr val="accent1"/>
                </a:solidFill>
                <a:effectLst/>
                <a:uLnTx/>
                <a:uFillTx/>
                <a:latin typeface="Roboto Medium" panose="02000000000000000000" pitchFamily="2" charset="0"/>
                <a:ea typeface="Roboto Medium" panose="02000000000000000000" pitchFamily="2" charset="0"/>
                <a:cs typeface="Helvetica Neue" panose="02000503000000020004" pitchFamily="2" charset="0"/>
                <a:sym typeface="OpenAI Sans"/>
              </a:rPr>
              <a:t>$488k</a:t>
            </a:r>
            <a:endParaRPr lang="en-US" sz="6200" dirty="0">
              <a:solidFill>
                <a:schemeClr val="accent1"/>
              </a:solidFill>
              <a:latin typeface="Roboto Medium" panose="02000000000000000000" pitchFamily="2" charset="0"/>
              <a:ea typeface="Roboto Medium" panose="02000000000000000000" pitchFamily="2" charset="0"/>
              <a:cs typeface="Helvetica Neue" panose="02000503000000020004" pitchFamily="2" charset="0"/>
            </a:endParaRPr>
          </a:p>
        </p:txBody>
      </p:sp>
      <p:sp>
        <p:nvSpPr>
          <p:cNvPr id="7" name="Content Placeholder 15">
            <a:extLst>
              <a:ext uri="{FF2B5EF4-FFF2-40B4-BE49-F238E27FC236}">
                <a16:creationId id="{3859261F-DEEB-D3E4-08EA-A3B8D1EB0F8B}"/>
              </a:ext>
            </a:extLst>
          </p:cNvPr>
          <p:cNvSpPr txBox="1">
            <a:spLocks/>
          </p:cNvSpPr>
          <p:nvPr/>
        </p:nvSpPr>
        <p:spPr>
          <a:xfrm>
            <a:off x="6560966" y="3529296"/>
            <a:ext cx="2066698" cy="615950"/>
          </a:xfrm>
          <a:prstGeom prst="rect">
            <a:avLst/>
          </a:prstGeom>
        </p:spPr>
        <p:txBody>
          <a:bodyPr vert="horz" lIns="0" tIns="0" rIns="0" bIns="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800"/>
              </a:spcAft>
              <a:buFont typeface="Arial" panose="020B0604020202020204" pitchFamily="34" charset="0"/>
              <a:buNone/>
            </a:pPr>
            <a:r>
              <a:rPr lang="en-US" sz="1600" dirty="0">
                <a:ea typeface="Helvetica Neue" panose="02000503000000020004" pitchFamily="2" charset="0"/>
                <a:cs typeface="Helvetica Neue" panose="02000503000000020004" pitchFamily="2" charset="0"/>
                <a:sym typeface="OpenAI Sans"/>
              </a:rPr>
              <a:t>Base-case revenue under listed assumptions.</a:t>
            </a:r>
            <a:br>
              <a:rPr lang="en-US" sz="1600" dirty="0">
                <a:ea typeface="Helvetica Neue" panose="02000503000000020004" pitchFamily="2" charset="0"/>
                <a:cs typeface="Helvetica Neue" panose="02000503000000020004" pitchFamily="2" charset="0"/>
                <a:sym typeface="OpenAI Sans"/>
              </a:rPr>
            </a:br>
            <a:r>
              <a:rPr lang="en-US" sz="1600" dirty="0">
                <a:ea typeface="Helvetica Neue" panose="02000503000000020004" pitchFamily="2" charset="0"/>
                <a:cs typeface="Helvetica Neue" panose="02000503000000020004" pitchFamily="2" charset="0"/>
                <a:sym typeface="OpenAI Sans"/>
              </a:rPr>
              <a:t/>
            </a:r>
            <a:r>
              <a:rPr lang="en-US" sz="1600" dirty="0" err="1">
                <a:ea typeface="Helvetica Neue" panose="02000503000000020004" pitchFamily="2" charset="0"/>
                <a:cs typeface="Helvetica Neue" panose="02000503000000020004" pitchFamily="2" charset="0"/>
                <a:sym typeface="OpenAI Sans"/>
              </a:rPr>
              <a:t/>
            </a:r>
            <a:r>
              <a:rPr lang="en-US" sz="1600" dirty="0">
                <a:ea typeface="Helvetica Neue" panose="02000503000000020004" pitchFamily="2" charset="0"/>
                <a:cs typeface="Helvetica Neue" panose="02000503000000020004" pitchFamily="2" charset="0"/>
                <a:sym typeface="OpenAI Sans"/>
              </a:rPr>
              <a:t/>
            </a:r>
            <a:r>
              <a:rPr lang="en-US" sz="1600" dirty="0" err="1">
                <a:ea typeface="Helvetica Neue" panose="02000503000000020004" pitchFamily="2" charset="0"/>
                <a:cs typeface="Helvetica Neue" panose="02000503000000020004" pitchFamily="2" charset="0"/>
                <a:sym typeface="OpenAI Sans"/>
              </a:rPr>
              <a:t/>
            </a:r>
            <a:endParaRPr lang="en-US" sz="1600" dirty="0">
              <a:ea typeface="Helvetica Neue" panose="02000503000000020004" pitchFamily="2" charset="0"/>
              <a:cs typeface="Helvetica Neue" panose="02000503000000020004" pitchFamily="2" charset="0"/>
              <a:sym typeface="OpenAI Sans"/>
            </a:endParaRPr>
          </a:p>
        </p:txBody>
      </p:sp>
      <p:sp>
        <p:nvSpPr>
          <p:cNvPr id="8" name="Rounded Rectangle 7">
            <a:extLst>
              <a:ext uri="{FF2B5EF4-FFF2-40B4-BE49-F238E27FC236}">
                <a16:creationId id="{46A67EF5-6C28-37C0-A44F-C89DA6A63CE8}"/>
              </a:ext>
            </a:extLst>
          </p:cNvPr>
          <p:cNvSpPr/>
          <p:nvPr/>
        </p:nvSpPr>
        <p:spPr>
          <a:xfrm>
            <a:off x="9224191" y="2032000"/>
            <a:ext cx="2581975" cy="2656541"/>
          </a:xfrm>
          <a:prstGeom prst="roundRect">
            <a:avLst>
              <a:gd name="adj" fmla="val 3602"/>
            </a:avLst>
          </a:prstGeom>
          <a:noFill/>
          <a:ln w="127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9" name="Content Placeholder 9">
            <a:extLst>
              <a:ext uri="{FF2B5EF4-FFF2-40B4-BE49-F238E27FC236}">
                <a16:creationId id="{C1178A3C-CA3E-3A18-E320-61DF2ABD5D3C}"/>
              </a:ext>
            </a:extLst>
          </p:cNvPr>
          <p:cNvSpPr txBox="1">
            <a:spLocks/>
          </p:cNvSpPr>
          <p:nvPr/>
        </p:nvSpPr>
        <p:spPr>
          <a:xfrm>
            <a:off x="9446553" y="2356820"/>
            <a:ext cx="2133315" cy="903750"/>
          </a:xfrm>
          <a:prstGeom prst="rect">
            <a:avLst/>
          </a:prstGeom>
        </p:spPr>
        <p:txBody>
          <a:bodyPr vert="horz" lIns="0" tIns="0" rIns="0" bIns="0" rtlCol="0" anchor="b">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540" marR="0" lvl="0" indent="0" algn="l" defTabSz="914400" rtl="0" eaLnBrk="1" fontAlgn="auto" latinLnBrk="0" hangingPunct="1">
              <a:lnSpc>
                <a:spcPct val="110000"/>
              </a:lnSpc>
              <a:spcBef>
                <a:spcPts val="0"/>
              </a:spcBef>
              <a:spcAft>
                <a:spcPts val="0"/>
              </a:spcAft>
              <a:buClr>
                <a:prstClr val="black"/>
              </a:buClr>
              <a:buSzPts val="1400"/>
              <a:buNone/>
              <a:tabLst/>
              <a:defRPr/>
            </a:pPr>
            <a:r>
              <a:rPr kumimoji="0" lang="en-US" sz="6200" u="none" strike="noStrike" kern="1200" cap="none" spc="0" normalizeH="0" baseline="0" noProof="0" dirty="0">
                <a:ln>
                  <a:noFill/>
                </a:ln>
                <a:solidFill>
                  <a:schemeClr val="accent1"/>
                </a:solidFill>
                <a:effectLst/>
                <a:uLnTx/>
                <a:uFillTx/>
                <a:latin typeface="Roboto Medium" panose="02000000000000000000" pitchFamily="2" charset="0"/>
                <a:ea typeface="Roboto Medium" panose="02000000000000000000" pitchFamily="2" charset="0"/>
                <a:cs typeface="Helvetica Neue" panose="02000503000000020004" pitchFamily="2" charset="0"/>
                <a:sym typeface="OpenAI Sans"/>
              </a:rPr>
              <a:t>Loss</a:t>
            </a:r>
            <a:endParaRPr lang="en-US" sz="6200" dirty="0">
              <a:solidFill>
                <a:schemeClr val="accent1"/>
              </a:solidFill>
              <a:latin typeface="Roboto Medium" panose="02000000000000000000" pitchFamily="2" charset="0"/>
              <a:ea typeface="Roboto Medium" panose="02000000000000000000" pitchFamily="2" charset="0"/>
              <a:cs typeface="Helvetica Neue" panose="02000503000000020004" pitchFamily="2" charset="0"/>
            </a:endParaRPr>
          </a:p>
        </p:txBody>
      </p:sp>
      <p:sp>
        <p:nvSpPr>
          <p:cNvPr id="10" name="Content Placeholder 15">
            <a:extLst>
              <a:ext uri="{FF2B5EF4-FFF2-40B4-BE49-F238E27FC236}">
                <a16:creationId id="{9A0C1C6C-0D79-048C-2E65-5A332ED31144}"/>
              </a:ext>
            </a:extLst>
          </p:cNvPr>
          <p:cNvSpPr txBox="1">
            <a:spLocks/>
          </p:cNvSpPr>
          <p:nvPr/>
        </p:nvSpPr>
        <p:spPr>
          <a:xfrm>
            <a:off x="9513171" y="3529296"/>
            <a:ext cx="2066698" cy="615950"/>
          </a:xfrm>
          <a:prstGeom prst="rect">
            <a:avLst/>
          </a:prstGeom>
        </p:spPr>
        <p:txBody>
          <a:bodyPr vert="horz" lIns="0" tIns="0" rIns="0" bIns="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800"/>
              </a:spcAft>
              <a:buFont typeface="Arial" panose="020B0604020202020204" pitchFamily="34" charset="0"/>
              <a:buNone/>
            </a:pPr>
            <a:r>
              <a:rPr lang="en-US" sz="1600" dirty="0">
                <a:ea typeface="Helvetica Neue" panose="02000503000000020004" pitchFamily="2" charset="0"/>
                <a:cs typeface="Helvetica Neue" panose="02000503000000020004" pitchFamily="2" charset="0"/>
                <a:sym typeface="OpenAI Sans"/>
              </a:rPr>
              <a:t>$157k shortfall after costs; not net profit.</a:t>
            </a:r>
            <a:br>
              <a:rPr lang="en-US" sz="1600" dirty="0">
                <a:ea typeface="Helvetica Neue" panose="02000503000000020004" pitchFamily="2" charset="0"/>
                <a:cs typeface="Helvetica Neue" panose="02000503000000020004" pitchFamily="2" charset="0"/>
                <a:sym typeface="OpenAI Sans"/>
              </a:rPr>
            </a:br>
            <a:r>
              <a:rPr lang="en-US" sz="1600" dirty="0">
                <a:ea typeface="Helvetica Neue" panose="02000503000000020004" pitchFamily="2" charset="0"/>
                <a:cs typeface="Helvetica Neue" panose="02000503000000020004" pitchFamily="2" charset="0"/>
                <a:sym typeface="OpenAI Sans"/>
              </a:rPr>
              <a:t/>
            </a:r>
            <a:r>
              <a:rPr lang="en-US" sz="1600" dirty="0" err="1">
                <a:ea typeface="Helvetica Neue" panose="02000503000000020004" pitchFamily="2" charset="0"/>
                <a:cs typeface="Helvetica Neue" panose="02000503000000020004" pitchFamily="2" charset="0"/>
                <a:sym typeface="OpenAI Sans"/>
              </a:rPr>
              <a:t/>
            </a:r>
            <a:r>
              <a:rPr lang="en-US" sz="1600" dirty="0">
                <a:ea typeface="Helvetica Neue" panose="02000503000000020004" pitchFamily="2" charset="0"/>
                <a:cs typeface="Helvetica Neue" panose="02000503000000020004" pitchFamily="2" charset="0"/>
                <a:sym typeface="OpenAI Sans"/>
              </a:rPr>
              <a:t/>
            </a:r>
            <a:r>
              <a:rPr lang="en-US" sz="1600" dirty="0" err="1">
                <a:ea typeface="Helvetica Neue" panose="02000503000000020004" pitchFamily="2" charset="0"/>
                <a:cs typeface="Helvetica Neue" panose="02000503000000020004" pitchFamily="2" charset="0"/>
                <a:sym typeface="OpenAI Sans"/>
              </a:rPr>
              <a:t/>
            </a:r>
            <a:endParaRPr lang="en-US" sz="1600" dirty="0">
              <a:ea typeface="Helvetica Neue" panose="02000503000000020004" pitchFamily="2" charset="0"/>
              <a:cs typeface="Helvetica Neue" panose="02000503000000020004" pitchFamily="2" charset="0"/>
              <a:sym typeface="OpenAI Sans"/>
            </a:endParaRPr>
          </a:p>
        </p:txBody>
      </p:sp>
      <p:sp>
        <p:nvSpPr>
          <p:cNvPr id="19" name="Content Placeholder 2">
            <a:extLst>
              <a:ext uri="{FF2B5EF4-FFF2-40B4-BE49-F238E27FC236}">
                <a16:creationId id="{A1ADE962-9ED7-3644-FA2A-7A64E19E9545}"/>
              </a:ext>
            </a:extLst>
          </p:cNvPr>
          <p:cNvSpPr txBox="1">
            <a:spLocks/>
          </p:cNvSpPr>
          <p:nvPr/>
        </p:nvSpPr>
        <p:spPr>
          <a:xfrm>
            <a:off x="6258427" y="4971337"/>
            <a:ext cx="5539873" cy="990600"/>
          </a:xfrm>
          <a:prstGeom prst="rect">
            <a:avLst/>
          </a:prstGeom>
        </p:spPr>
        <p:txBody>
          <a:bodyPr lIns="0" tIns="0" rIns="0" bIns="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800"/>
              </a:spcAft>
              <a:buFont typeface="Arial" panose="020B0604020202020204" pitchFamily="34" charset="0"/>
              <a:buNone/>
            </a:pPr>
            <a:r>
              <a:rPr lang="en-US" sz="1600" dirty="0">
                <a:ea typeface="Helvetica Neue" panose="02000503000000020004" pitchFamily="2" charset="0"/>
                <a:cs typeface="Helvetica Neue" panose="02000503000000020004" pitchFamily="2" charset="0"/>
                <a:sym typeface="OpenAI Sans"/>
              </a:rPr>
              <a:t>Base case: 15 annual plans, 40 exercises, one private deployment, eight templates, and 30 support days. Revenue / listed costs: conservative $177k / $385k; base $488k / $645k; high scale $2.05m / $1.87m. Planning assumptions, not a forecast; excludes tax and cash timing.</a:t>
            </a:r>
            <a:r>
              <a:rPr lang="en-US" sz="1600" dirty="0" err="1">
                <a:ea typeface="Helvetica Neue" panose="02000503000000020004" pitchFamily="2" charset="0"/>
                <a:cs typeface="Helvetica Neue" panose="02000503000000020004" pitchFamily="2" charset="0"/>
                <a:sym typeface="OpenAI Sans"/>
              </a:rPr>
              <a:t/>
            </a:r>
            <a:r>
              <a:rPr lang="en-US" sz="1600" dirty="0">
                <a:ea typeface="Helvetica Neue" panose="02000503000000020004" pitchFamily="2" charset="0"/>
                <a:cs typeface="Helvetica Neue" panose="02000503000000020004" pitchFamily="2" charset="0"/>
                <a:sym typeface="OpenAI Sans"/>
              </a:rPr>
              <a:t/>
            </a:r>
            <a:r>
              <a:rPr lang="en-US" sz="1600" dirty="0" err="1">
                <a:ea typeface="Helvetica Neue" panose="02000503000000020004" pitchFamily="2" charset="0"/>
                <a:cs typeface="Helvetica Neue" panose="02000503000000020004" pitchFamily="2" charset="0"/>
                <a:sym typeface="OpenAI Sans"/>
              </a:rPr>
              <a:t/>
            </a:r>
            <a:r>
              <a:rPr lang="en-US" sz="1600" dirty="0">
                <a:ea typeface="Helvetica Neue" panose="02000503000000020004" pitchFamily="2" charset="0"/>
                <a:cs typeface="Helvetica Neue" panose="02000503000000020004" pitchFamily="2" charset="0"/>
                <a:sym typeface="OpenAI Sans"/>
              </a:rPr>
              <a:t/>
            </a:r>
            <a:r>
              <a:rPr lang="en-US" sz="1600" dirty="0" err="1">
                <a:ea typeface="Helvetica Neue" panose="02000503000000020004" pitchFamily="2" charset="0"/>
                <a:cs typeface="Helvetica Neue" panose="02000503000000020004" pitchFamily="2" charset="0"/>
                <a:sym typeface="OpenAI Sans"/>
              </a:rPr>
              <a:t/>
            </a:r>
            <a:r>
              <a:rPr lang="en-US" sz="1600" dirty="0">
                <a:ea typeface="Helvetica Neue" panose="02000503000000020004" pitchFamily="2" charset="0"/>
                <a:cs typeface="Helvetica Neue" panose="02000503000000020004" pitchFamily="2" charset="0"/>
                <a:sym typeface="OpenAI Sans"/>
              </a:rPr>
              <a:t/>
            </a:r>
            <a:r>
              <a:rPr lang="en-US" sz="1600" dirty="0" err="1">
                <a:ea typeface="Helvetica Neue" panose="02000503000000020004" pitchFamily="2" charset="0"/>
                <a:cs typeface="Helvetica Neue" panose="02000503000000020004" pitchFamily="2" charset="0"/>
                <a:sym typeface="OpenAI Sans"/>
              </a:rPr>
              <a:t/>
            </a:r>
            <a:r>
              <a:rPr lang="en-US" sz="1600" dirty="0">
                <a:ea typeface="Helvetica Neue" panose="02000503000000020004" pitchFamily="2" charset="0"/>
                <a:cs typeface="Helvetica Neue" panose="02000503000000020004" pitchFamily="2" charset="0"/>
                <a:sym typeface="OpenAI Sans"/>
              </a:rPr>
              <a:t/>
            </a:r>
            <a:r>
              <a:rPr lang="en-US" sz="1600" dirty="0" err="1">
                <a:ea typeface="Helvetica Neue" panose="02000503000000020004" pitchFamily="2" charset="0"/>
                <a:cs typeface="Helvetica Neue" panose="02000503000000020004" pitchFamily="2" charset="0"/>
                <a:sym typeface="OpenAI Sans"/>
              </a:rPr>
              <a:t/>
            </a:r>
            <a:r>
              <a:rPr lang="en-US" sz="1600" dirty="0">
                <a:ea typeface="Helvetica Neue" panose="02000503000000020004" pitchFamily="2" charset="0"/>
                <a:cs typeface="Helvetica Neue" panose="02000503000000020004" pitchFamily="2" charset="0"/>
                <a:sym typeface="OpenAI Sans"/>
              </a:rPr>
              <a:t/>
            </a:r>
            <a:r>
              <a:rPr lang="en-US" sz="1600" dirty="0" err="1">
                <a:ea typeface="Helvetica Neue" panose="02000503000000020004" pitchFamily="2" charset="0"/>
                <a:cs typeface="Helvetica Neue" panose="02000503000000020004" pitchFamily="2" charset="0"/>
                <a:sym typeface="OpenAI Sans"/>
              </a:rPr>
              <a:t/>
            </a:r>
            <a:r>
              <a:rPr lang="en-US" sz="1600" dirty="0">
                <a:ea typeface="Helvetica Neue" panose="02000503000000020004" pitchFamily="2" charset="0"/>
                <a:cs typeface="Helvetica Neue" panose="02000503000000020004" pitchFamily="2" charset="0"/>
                <a:sym typeface="OpenAI Sans"/>
              </a:rPr>
              <a:t/>
            </a:r>
            <a:r>
              <a:rPr lang="en-US" sz="1600" dirty="0" err="1">
                <a:ea typeface="Helvetica Neue" panose="02000503000000020004" pitchFamily="2" charset="0"/>
                <a:cs typeface="Helvetica Neue" panose="02000503000000020004" pitchFamily="2" charset="0"/>
                <a:sym typeface="OpenAI Sans"/>
              </a:rPr>
              <a:t/>
            </a:r>
            <a:r>
              <a:rPr lang="en-US" sz="1600" dirty="0">
                <a:ea typeface="Helvetica Neue" panose="02000503000000020004" pitchFamily="2" charset="0"/>
                <a:cs typeface="Helvetica Neue" panose="02000503000000020004" pitchFamily="2" charset="0"/>
                <a:sym typeface="OpenAI Sans"/>
              </a:rPr>
              <a:t/>
            </a:r>
            <a:r>
              <a:rPr lang="en-US" sz="1600" dirty="0" err="1">
                <a:ea typeface="Helvetica Neue" panose="02000503000000020004" pitchFamily="2" charset="0"/>
                <a:cs typeface="Helvetica Neue" panose="02000503000000020004" pitchFamily="2" charset="0"/>
                <a:sym typeface="OpenAI Sans"/>
              </a:rPr>
              <a:t/>
            </a:r>
            <a:r>
              <a:rPr lang="en-US" sz="1600" dirty="0">
                <a:ea typeface="Helvetica Neue" panose="02000503000000020004" pitchFamily="2" charset="0"/>
                <a:cs typeface="Helvetica Neue" panose="02000503000000020004" pitchFamily="2" charset="0"/>
                <a:sym typeface="OpenAI Sans"/>
              </a:rPr>
              <a:t/>
            </a:r>
            <a:r>
              <a:rPr lang="en-US" sz="1600" dirty="0" err="1">
                <a:ea typeface="Helvetica Neue" panose="02000503000000020004" pitchFamily="2" charset="0"/>
                <a:cs typeface="Helvetica Neue" panose="02000503000000020004" pitchFamily="2" charset="0"/>
                <a:sym typeface="OpenAI Sans"/>
              </a:rPr>
              <a:t/>
            </a:r>
            <a:r>
              <a:rPr lang="en-US" sz="1600" dirty="0">
                <a:ea typeface="Helvetica Neue" panose="02000503000000020004" pitchFamily="2" charset="0"/>
                <a:cs typeface="Helvetica Neue" panose="02000503000000020004" pitchFamily="2" charset="0"/>
                <a:sym typeface="OpenAI Sans"/>
              </a:rPr>
              <a:t/>
            </a:r>
            <a:r>
              <a:rPr lang="en-US" sz="1600" dirty="0" err="1">
                <a:ea typeface="Helvetica Neue" panose="02000503000000020004" pitchFamily="2" charset="0"/>
                <a:cs typeface="Helvetica Neue" panose="02000503000000020004" pitchFamily="2" charset="0"/>
                <a:sym typeface="OpenAI Sans"/>
              </a:rPr>
              <a:t/>
            </a:r>
            <a:r>
              <a:rPr lang="en-US" sz="1600" dirty="0">
                <a:ea typeface="Helvetica Neue" panose="02000503000000020004" pitchFamily="2" charset="0"/>
                <a:cs typeface="Helvetica Neue" panose="02000503000000020004" pitchFamily="2" charset="0"/>
                <a:sym typeface="OpenAI Sans"/>
              </a:rPr>
              <a:t/>
            </a:r>
            <a:r>
              <a:rPr lang="en-US" sz="1600" dirty="0" err="1">
                <a:ea typeface="Helvetica Neue" panose="02000503000000020004" pitchFamily="2" charset="0"/>
                <a:cs typeface="Helvetica Neue" panose="02000503000000020004" pitchFamily="2" charset="0"/>
                <a:sym typeface="OpenAI Sans"/>
              </a:rPr>
              <a:t/>
            </a:r>
            <a:r>
              <a:rPr lang="en-US" sz="1600" dirty="0">
                <a:ea typeface="Helvetica Neue" panose="02000503000000020004" pitchFamily="2" charset="0"/>
                <a:cs typeface="Helvetica Neue" panose="02000503000000020004" pitchFamily="2" charset="0"/>
                <a:sym typeface="OpenAI Sans"/>
              </a:rPr>
              <a:t/>
            </a:r>
            <a:r>
              <a:rPr lang="en-US" sz="1600" dirty="0" err="1">
                <a:ea typeface="Helvetica Neue" panose="02000503000000020004" pitchFamily="2" charset="0"/>
                <a:cs typeface="Helvetica Neue" panose="02000503000000020004" pitchFamily="2" charset="0"/>
                <a:sym typeface="OpenAI Sans"/>
              </a:rPr>
              <a:t/>
            </a:r>
            <a:r>
              <a:rPr lang="en-US" sz="1600" dirty="0">
                <a:ea typeface="Helvetica Neue" panose="02000503000000020004" pitchFamily="2" charset="0"/>
                <a:cs typeface="Helvetica Neue" panose="02000503000000020004" pitchFamily="2" charset="0"/>
                <a:sym typeface="OpenAI Sans"/>
              </a:rPr>
              <a:t/>
            </a:r>
            <a:r>
              <a:rPr lang="en-US" sz="1600" dirty="0" err="1">
                <a:ea typeface="Helvetica Neue" panose="02000503000000020004" pitchFamily="2" charset="0"/>
                <a:cs typeface="Helvetica Neue" panose="02000503000000020004" pitchFamily="2" charset="0"/>
                <a:sym typeface="OpenAI Sans"/>
              </a:rPr>
              <a:t/>
            </a:r>
            <a:r>
              <a:rPr lang="en-US" sz="1600" dirty="0">
                <a:ea typeface="Helvetica Neue" panose="02000503000000020004" pitchFamily="2" charset="0"/>
                <a:cs typeface="Helvetica Neue" panose="02000503000000020004" pitchFamily="2" charset="0"/>
                <a:sym typeface="OpenAI Sans"/>
              </a:rPr>
              <a:t/>
            </a:r>
            <a:r>
              <a:rPr lang="en-US" sz="1600" dirty="0" err="1">
                <a:ea typeface="Helvetica Neue" panose="02000503000000020004" pitchFamily="2" charset="0"/>
                <a:cs typeface="Helvetica Neue" panose="02000503000000020004" pitchFamily="2" charset="0"/>
                <a:sym typeface="OpenAI Sans"/>
              </a:rPr>
              <a:t/>
            </a:r>
            <a:r>
              <a:rPr lang="en-US" sz="1600" dirty="0">
                <a:ea typeface="Helvetica Neue" panose="02000503000000020004" pitchFamily="2" charset="0"/>
                <a:cs typeface="Helvetica Neue" panose="02000503000000020004" pitchFamily="2" charset="0"/>
                <a:sym typeface="OpenAI Sans"/>
              </a:rPr>
              <a:t/>
            </a:r>
            <a:r>
              <a:rPr lang="en-US" sz="1600" dirty="0" err="1">
                <a:ea typeface="Helvetica Neue" panose="02000503000000020004" pitchFamily="2" charset="0"/>
                <a:cs typeface="Helvetica Neue" panose="02000503000000020004" pitchFamily="2" charset="0"/>
                <a:sym typeface="OpenAI Sans"/>
              </a:rPr>
              <a:t/>
            </a:r>
            <a:r>
              <a:rPr lang="en-US" sz="1600" dirty="0">
                <a:ea typeface="Helvetica Neue" panose="02000503000000020004" pitchFamily="2" charset="0"/>
                <a:cs typeface="Helvetica Neue" panose="02000503000000020004" pitchFamily="2" charset="0"/>
                <a:sym typeface="OpenAI Sans"/>
              </a:rPr>
              <a:t/>
            </a:r>
          </a:p>
        </p:txBody>
      </p:sp>
    </p:spTree>
    <p:extLst>
      <p:ext uri="{BB962C8B-B14F-4D97-AF65-F5344CB8AC3E}">
        <p14:creationId val="399383134"/>
      </p:ext>
    </p:extLst>
  </p:cSld>
  <p:clrMapOvr>
    <a:masterClrMapping/>
  </p:clrMapOvr>
</p:sld>
</file>

<file path=ppt/slides/slide12.xml><?xml version="1.0" encoding="utf-8"?>
<p:sld xmlns:a="http://schemas.openxmlformats.org/drawingml/2006/main" xmlns:a16="http://schemas.microsoft.com/office/drawing/2014/main" xmlns:p="http://schemas.openxmlformats.org/presentationml/2006/main" xmlns:p14="http://schemas.microsoft.com/office/powerpoint/2010/main">
  <p:cSld>
    <p:spTree>
      <p:nvGrpSpPr>
        <p:cNvPr id="1" name="">
          <a:extLst>
            <a:ext uri="{FF2B5EF4-FFF2-40B4-BE49-F238E27FC236}">
              <a16:creationId id="{38B9D4E6-CFF8-CAD9-A94E-1228D81EA56C}"/>
            </a:ext>
          </a:extLst>
        </p:cNvPr>
        <p:cNvGrpSpPr/>
        <p:nvPr/>
      </p:nvGrpSpPr>
      <p:grpSpPr>
        <a:xfrm>
          <a:off x="0" y="0"/>
          <a:ext cx="0" cy="0"/>
          <a:chOff x="0" y="0"/>
          <a:chExt cx="0" cy="0"/>
        </a:xfrm>
      </p:grpSpPr>
      <p:sp>
        <p:nvSpPr>
          <p:cNvPr id="16" name="Content Placeholder 15">
            <a:extLst>
              <a:ext uri="{FF2B5EF4-FFF2-40B4-BE49-F238E27FC236}">
                <a16:creationId id="{0BCC789E-87DC-C416-5298-C7F6E26A9533}"/>
              </a:ext>
            </a:extLst>
          </p:cNvPr>
          <p:cNvSpPr>
            <a:spLocks noGrp="1"/>
          </p:cNvSpPr>
          <p:nvPr>
            <p:ph idx="1"/>
          </p:nvPr>
        </p:nvSpPr>
        <p:spPr>
          <a:xfrm>
            <a:off x="393700" y="3822700"/>
            <a:ext cx="2595934" cy="1168400"/>
          </a:xfrm>
        </p:spPr>
        <p:txBody>
          <a:bodyPr>
            <a:noAutofit/>
          </a:bodyPr>
          <a:lstStyle/>
          <a:p>
            <a:pPr marL="0" indent="0">
              <a:lnSpc>
                <a:spcPct val="114000"/>
              </a:lnSpc>
              <a:spcBef>
                <a:spcPts val="0"/>
              </a:spcBef>
              <a:spcAft>
                <a:spcPts val="800"/>
              </a:spcAft>
            </a:pPr>
            <a:r>
              <a:rPr lang="en-US" dirty="0">
                <a:solidFill>
                  <a:schemeClr val="accent1"/>
                </a:solidFill>
                <a:latin typeface="Roboto Medium" panose="02000000000000000000" pitchFamily="2" charset="0"/>
                <a:ea typeface="Roboto Medium" panose="02000000000000000000" pitchFamily="2" charset="0"/>
                <a:cs typeface="Helvetica Neue" panose="02000503000000020004" pitchFamily="2" charset="0"/>
                <a:sym typeface="OpenAI Sans"/>
              </a:rPr>
              <a:t>Run a measured pilot</a:t>
            </a:r>
          </a:p>
          <a:p>
            <a:pPr marL="0" indent="0">
              <a:lnSpc>
                <a:spcPct val="114000"/>
              </a:lnSpc>
              <a:spcBef>
                <a:spcPts val="0"/>
              </a:spcBef>
              <a:spcAft>
                <a:spcPts val="800"/>
              </a:spcAft>
            </a:pPr>
            <a:r>
              <a:rPr lang="en-US" dirty="0">
                <a:ea typeface="Helvetica Neue" panose="02000503000000020004" pitchFamily="2" charset="0"/>
                <a:cs typeface="Helvetica Neue" panose="02000503000000020004" pitchFamily="2" charset="0"/>
                <a:sym typeface="OpenAI Sans"/>
              </a:rPr>
              <a:t>Work with 2–3 willing hospital or municipal teams. Measure source lookup, reviewer edits, citation support, action ownership, and verified closure.</a:t>
            </a:r>
            <a:r>
              <a:rPr lang="en-US" dirty="0" err="1">
                <a:ea typeface="Helvetica Neue" panose="02000503000000020004" pitchFamily="2" charset="0"/>
                <a:cs typeface="Helvetica Neue" panose="02000503000000020004" pitchFamily="2" charset="0"/>
                <a:sym typeface="OpenAI Sans"/>
              </a:rPr>
              <a:t/>
            </a:r>
            <a:r>
              <a:rPr lang="en-US" dirty="0">
                <a:ea typeface="Helvetica Neue" panose="02000503000000020004" pitchFamily="2" charset="0"/>
                <a:cs typeface="Helvetica Neue" panose="02000503000000020004" pitchFamily="2" charset="0"/>
                <a:sym typeface="OpenAI Sans"/>
              </a:rPr>
              <a:t/>
            </a:r>
            <a:r>
              <a:rPr lang="en-US" dirty="0" err="1">
                <a:ea typeface="Helvetica Neue" panose="02000503000000020004" pitchFamily="2" charset="0"/>
                <a:cs typeface="Helvetica Neue" panose="02000503000000020004" pitchFamily="2" charset="0"/>
                <a:sym typeface="OpenAI Sans"/>
              </a:rPr>
              <a:t/>
            </a:r>
            <a:r>
              <a:rPr lang="en-US" dirty="0">
                <a:ea typeface="Helvetica Neue" panose="02000503000000020004" pitchFamily="2" charset="0"/>
                <a:cs typeface="Helvetica Neue" panose="02000503000000020004" pitchFamily="2" charset="0"/>
                <a:sym typeface="OpenAI Sans"/>
              </a:rPr>
              <a:t/>
            </a:r>
            <a:r>
              <a:rPr lang="en-US" dirty="0" err="1">
                <a:ea typeface="Helvetica Neue" panose="02000503000000020004" pitchFamily="2" charset="0"/>
                <a:cs typeface="Helvetica Neue" panose="02000503000000020004" pitchFamily="2" charset="0"/>
                <a:sym typeface="OpenAI Sans"/>
              </a:rPr>
              <a:t/>
            </a:r>
            <a:r>
              <a:rPr lang="en-US" dirty="0">
                <a:ea typeface="Helvetica Neue" panose="02000503000000020004" pitchFamily="2" charset="0"/>
                <a:cs typeface="Helvetica Neue" panose="02000503000000020004" pitchFamily="2" charset="0"/>
                <a:sym typeface="OpenAI Sans"/>
              </a:rPr>
              <a:t/>
            </a:r>
            <a:r>
              <a:rPr lang="en-US" dirty="0" err="1">
                <a:ea typeface="Helvetica Neue" panose="02000503000000020004" pitchFamily="2" charset="0"/>
                <a:cs typeface="Helvetica Neue" panose="02000503000000020004" pitchFamily="2" charset="0"/>
                <a:sym typeface="OpenAI Sans"/>
              </a:rPr>
              <a:t/>
            </a:r>
            <a:r>
              <a:rPr lang="en-US" dirty="0">
                <a:ea typeface="Helvetica Neue" panose="02000503000000020004" pitchFamily="2" charset="0"/>
                <a:cs typeface="Helvetica Neue" panose="02000503000000020004" pitchFamily="2" charset="0"/>
                <a:sym typeface="OpenAI Sans"/>
              </a:rPr>
              <a:t/>
            </a:r>
            <a:r>
              <a:rPr lang="en-US" dirty="0" err="1">
                <a:ea typeface="Helvetica Neue" panose="02000503000000020004" pitchFamily="2" charset="0"/>
                <a:cs typeface="Helvetica Neue" panose="02000503000000020004" pitchFamily="2" charset="0"/>
                <a:sym typeface="OpenAI Sans"/>
              </a:rPr>
              <a:t/>
            </a:r>
            <a:r>
              <a:rPr lang="en-US" dirty="0">
                <a:ea typeface="Helvetica Neue" panose="02000503000000020004" pitchFamily="2" charset="0"/>
                <a:cs typeface="Helvetica Neue" panose="02000503000000020004" pitchFamily="2" charset="0"/>
                <a:sym typeface="OpenAI Sans"/>
              </a:rPr>
              <a:t/>
            </a:r>
            <a:r>
              <a:rPr lang="en-US" dirty="0" err="1">
                <a:ea typeface="Helvetica Neue" panose="02000503000000020004" pitchFamily="2" charset="0"/>
                <a:cs typeface="Helvetica Neue" panose="02000503000000020004" pitchFamily="2" charset="0"/>
                <a:sym typeface="OpenAI Sans"/>
              </a:rPr>
              <a:t/>
            </a:r>
            <a:r>
              <a:rPr lang="en-US" dirty="0">
                <a:ea typeface="Helvetica Neue" panose="02000503000000020004" pitchFamily="2" charset="0"/>
                <a:cs typeface="Helvetica Neue" panose="02000503000000020004" pitchFamily="2" charset="0"/>
                <a:sym typeface="OpenAI Sans"/>
              </a:rPr>
              <a:t/>
            </a:r>
            <a:r>
              <a:rPr lang="en-US" dirty="0" err="1">
                <a:ea typeface="Helvetica Neue" panose="02000503000000020004" pitchFamily="2" charset="0"/>
                <a:cs typeface="Helvetica Neue" panose="02000503000000020004" pitchFamily="2" charset="0"/>
                <a:sym typeface="OpenAI Sans"/>
              </a:rPr>
              <a:t/>
            </a:r>
            <a:r>
              <a:rPr lang="en-US" dirty="0">
                <a:ea typeface="Helvetica Neue" panose="02000503000000020004" pitchFamily="2" charset="0"/>
                <a:cs typeface="Helvetica Neue" panose="02000503000000020004" pitchFamily="2" charset="0"/>
                <a:sym typeface="OpenAI Sans"/>
              </a:rPr>
              <a:t/>
            </a:r>
          </a:p>
        </p:txBody>
      </p:sp>
      <p:sp>
        <p:nvSpPr>
          <p:cNvPr id="4" name="Slide Number Placeholder 3">
            <a:extLst>
              <a:ext uri="{FF2B5EF4-FFF2-40B4-BE49-F238E27FC236}">
                <a16:creationId id="{6BBF0163-E4B1-61D1-776D-45470B16F0F4}"/>
              </a:ext>
            </a:extLst>
          </p:cNvPr>
          <p:cNvSpPr>
            <a:spLocks noGrp="1"/>
          </p:cNvSpPr>
          <p:nvPr>
            <p:ph type="sldNum" sz="quarter" idx="4"/>
          </p:nvPr>
        </p:nvSpPr>
        <p:spPr/>
        <p:txBody>
          <a:bodyPr/>
          <a:lstStyle/>
          <a:p>
            <a:fld id="{8574A810-7A8E-054F-9F6B-09E9C694ECF9}" type="slidenum">
              <a:rPr lang="en-US" smtClean="0"/>
              <a:pPr/>
              <a:t>12</a:t>
            </a:fld>
            <a:endParaRPr lang="en-US" sz="1100" dirty="0"/>
          </a:p>
        </p:txBody>
      </p:sp>
      <p:sp>
        <p:nvSpPr>
          <p:cNvPr id="11" name="Title 10">
            <a:extLst>
              <a:ext uri="{FF2B5EF4-FFF2-40B4-BE49-F238E27FC236}">
                <a16:creationId id="{9759E2FE-9F02-E1B4-EBBC-AA8624ACC339}"/>
              </a:ext>
            </a:extLst>
          </p:cNvPr>
          <p:cNvSpPr>
            <a:spLocks noGrp="1"/>
          </p:cNvSpPr>
          <p:nvPr>
            <p:ph type="title"/>
          </p:nvPr>
        </p:nvSpPr>
        <p:spPr>
          <a:xfrm>
            <a:off x="393700" y="344008"/>
            <a:ext cx="7846838" cy="1034893"/>
          </a:xfrm>
        </p:spPr>
        <p:txBody>
          <a:bodyPr/>
          <a:lstStyle/>
          <a:p>
            <a:r>
              <a:rPr lang="en-US" dirty="0">
                <a:solidFill>
                  <a:schemeClr val="accent1"/>
                </a:solidFill>
              </a:rPr>
              <a:t>Next 12 months: validate before scaling</a:t>
            </a:r>
          </a:p>
        </p:txBody>
      </p:sp>
      <p:sp>
        <p:nvSpPr>
          <p:cNvPr id="17" name="Text Placeholder 16">
            <a:extLst>
              <a:ext uri="{FF2B5EF4-FFF2-40B4-BE49-F238E27FC236}">
                <a16:creationId id="{986AEEE5-7F7B-65AD-1D88-9157CF0514D8}"/>
              </a:ext>
            </a:extLst>
          </p:cNvPr>
          <p:cNvSpPr>
            <a:spLocks noGrp="1"/>
          </p:cNvSpPr>
          <p:nvPr>
            <p:ph type="body" sz="quarter" idx="12"/>
          </p:nvPr>
        </p:nvSpPr>
        <p:spPr>
          <a:xfrm>
            <a:off x="4317119" y="3822700"/>
            <a:ext cx="2595934" cy="1168400"/>
          </a:xfrm>
        </p:spPr>
        <p:txBody>
          <a:bodyPr>
            <a:noAutofit/>
          </a:bodyPr>
          <a:lstStyle/>
          <a:p>
            <a:pPr marL="0" marR="0" lvl="0" indent="0" fontAlgn="auto">
              <a:lnSpc>
                <a:spcPct val="114000"/>
              </a:lnSpc>
              <a:spcBef>
                <a:spcPts val="0"/>
              </a:spcBef>
              <a:spcAft>
                <a:spcPts val="800"/>
              </a:spcAft>
              <a:buClrTx/>
              <a:buSzTx/>
              <a:tabLst/>
              <a:defRPr/>
            </a:pPr>
            <a:r>
              <a:rPr lang="en-US" sz="1600" dirty="0">
                <a:solidFill>
                  <a:schemeClr val="accent1"/>
                </a:solidFill>
                <a:latin typeface="Roboto Medium" panose="02000000000000000000" pitchFamily="2" charset="0"/>
                <a:ea typeface="Roboto Medium" panose="02000000000000000000" pitchFamily="2" charset="0"/>
                <a:cs typeface="Helvetica Neue" panose="02000503000000020004" pitchFamily="2" charset="0"/>
                <a:sym typeface="OpenAI Sans"/>
              </a:rPr>
              <a:t>Harden what the pilot needs</a:t>
            </a:r>
          </a:p>
          <a:p>
            <a:pPr marL="0" marR="0" lvl="0" indent="0" algn="l" defTabSz="914400" rtl="0" eaLnBrk="1" fontAlgn="auto" latinLnBrk="0" hangingPunct="1">
              <a:lnSpc>
                <a:spcPct val="114000"/>
              </a:lnSpc>
              <a:spcBef>
                <a:spcPts val="0"/>
              </a:spcBef>
              <a:spcAft>
                <a:spcPts val="800"/>
              </a:spcAft>
              <a:buClrTx/>
              <a:buSzTx/>
              <a:buFont typeface="Arial" panose="020B0604020202020204" pitchFamily="34" charset="0"/>
              <a:buNone/>
              <a:tabLst/>
              <a:defRPr/>
            </a:pPr>
            <a:r>
              <a:rPr kumimoji="0" lang="en-US" sz="1600" b="0" i="0" u="none" strike="noStrike" kern="1200" cap="none" spc="0" normalizeH="0" baseline="0" noProof="0" dirty="0">
                <a:ln>
                  <a:noFill/>
                </a:ln>
                <a:solidFill>
                  <a:prstClr val="black"/>
                </a:solidFill>
                <a:effectLst/>
                <a:uLnTx/>
                <a:uFillTx/>
                <a:ea typeface="Helvetica Neue" panose="02000503000000020004" pitchFamily="2" charset="0"/>
                <a:cs typeface="Helvetica Neue" panose="02000503000000020004" pitchFamily="2" charset="0"/>
                <a:sym typeface="OpenAI Sans"/>
              </a:rPr>
              <a:t>If the evidence supports it, assess organization login, configurable templates, private hosting, and integrations.</a:t>
            </a:r>
            <a:r>
              <a:rPr kumimoji="0" lang="en-US" sz="1600" b="0" i="0" u="none" strike="noStrike" kern="1200" cap="none" spc="0" normalizeH="0" baseline="0" noProof="0" dirty="0" err="1">
                <a:ln>
                  <a:noFill/>
                </a:ln>
                <a:solidFill>
                  <a:prstClr val="black"/>
                </a:solidFill>
                <a:effectLst/>
                <a:uLnTx/>
                <a:uFillTx/>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solidFill>
                  <a:prstClr val="black"/>
                </a:solidFill>
                <a:effectLst/>
                <a:uLnTx/>
                <a:uFillTx/>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solidFill>
                  <a:prstClr val="black"/>
                </a:solidFill>
                <a:effectLst/>
                <a:uLnTx/>
                <a:uFillTx/>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solidFill>
                  <a:prstClr val="black"/>
                </a:solidFill>
                <a:effectLst/>
                <a:uLnTx/>
                <a:uFillTx/>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solidFill>
                  <a:prstClr val="black"/>
                </a:solidFill>
                <a:effectLst/>
                <a:uLnTx/>
                <a:uFillTx/>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solidFill>
                  <a:prstClr val="black"/>
                </a:solidFill>
                <a:effectLst/>
                <a:uLnTx/>
                <a:uFillTx/>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solidFill>
                  <a:prstClr val="black"/>
                </a:solidFill>
                <a:effectLst/>
                <a:uLnTx/>
                <a:uFillTx/>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solidFill>
                  <a:prstClr val="black"/>
                </a:solidFill>
                <a:effectLst/>
                <a:uLnTx/>
                <a:uFillTx/>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solidFill>
                  <a:prstClr val="black"/>
                </a:solidFill>
                <a:effectLst/>
                <a:uLnTx/>
                <a:uFillTx/>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solidFill>
                  <a:prstClr val="black"/>
                </a:solidFill>
                <a:effectLst/>
                <a:uLnTx/>
                <a:uFillTx/>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solidFill>
                  <a:prstClr val="black"/>
                </a:solidFill>
                <a:effectLst/>
                <a:uLnTx/>
                <a:uFillTx/>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solidFill>
                  <a:prstClr val="black"/>
                </a:solidFill>
                <a:effectLst/>
                <a:uLnTx/>
                <a:uFillTx/>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err="1">
                <a:ln>
                  <a:noFill/>
                </a:ln>
                <a:solidFill>
                  <a:prstClr val="black"/>
                </a:solidFill>
                <a:effectLst/>
                <a:uLnTx/>
                <a:uFillTx/>
                <a:ea typeface="Helvetica Neue" panose="02000503000000020004" pitchFamily="2" charset="0"/>
                <a:cs typeface="Helvetica Neue" panose="02000503000000020004" pitchFamily="2" charset="0"/>
                <a:sym typeface="OpenAI Sans"/>
              </a:rPr>
              <a:t/>
            </a:r>
            <a:r>
              <a:rPr kumimoji="0" lang="en-US" sz="1600" b="0" i="0" u="none" strike="noStrike" kern="1200" cap="none" spc="0" normalizeH="0" baseline="0" noProof="0" dirty="0">
                <a:ln>
                  <a:noFill/>
                </a:ln>
                <a:solidFill>
                  <a:prstClr val="black"/>
                </a:solidFill>
                <a:effectLst/>
                <a:uLnTx/>
                <a:uFillTx/>
                <a:ea typeface="Helvetica Neue" panose="02000503000000020004" pitchFamily="2" charset="0"/>
                <a:cs typeface="Helvetica Neue" panose="02000503000000020004" pitchFamily="2" charset="0"/>
                <a:sym typeface="OpenAI Sans"/>
              </a:rPr>
              <a:t/>
            </a:r>
          </a:p>
        </p:txBody>
      </p:sp>
      <p:sp>
        <p:nvSpPr>
          <p:cNvPr id="18" name="Content Placeholder 17">
            <a:extLst>
              <a:ext uri="{FF2B5EF4-FFF2-40B4-BE49-F238E27FC236}">
                <a16:creationId id="{B32A8A18-E9FA-02B4-6667-53C019EC43C0}"/>
              </a:ext>
            </a:extLst>
          </p:cNvPr>
          <p:cNvSpPr>
            <a:spLocks noGrp="1"/>
          </p:cNvSpPr>
          <p:nvPr>
            <p:ph idx="13"/>
          </p:nvPr>
        </p:nvSpPr>
        <p:spPr>
          <a:xfrm>
            <a:off x="8240538" y="3822700"/>
            <a:ext cx="2595934" cy="1168400"/>
          </a:xfrm>
        </p:spPr>
        <p:txBody>
          <a:bodyPr>
            <a:noAutofit/>
          </a:bodyPr>
          <a:lstStyle/>
          <a:p>
            <a:pPr marL="0" marR="0" lvl="0" indent="0" fontAlgn="auto">
              <a:lnSpc>
                <a:spcPct val="114000"/>
              </a:lnSpc>
              <a:spcBef>
                <a:spcPts val="0"/>
              </a:spcBef>
              <a:spcAft>
                <a:spcPts val="800"/>
              </a:spcAft>
              <a:buClrTx/>
              <a:buSzTx/>
              <a:tabLst/>
              <a:defRPr/>
            </a:pPr>
            <a:r>
              <a:rPr lang="en-US" dirty="0">
                <a:solidFill>
                  <a:schemeClr val="accent1"/>
                </a:solidFill>
                <a:latin typeface="Roboto Medium" panose="02000000000000000000" pitchFamily="2" charset="0"/>
                <a:ea typeface="Roboto Medium" panose="02000000000000000000" pitchFamily="2" charset="0"/>
                <a:cs typeface="Helvetica Neue" panose="02000503000000020004" pitchFamily="2" charset="0"/>
                <a:sym typeface="OpenAI Sans"/>
              </a:rPr>
              <a:t>Decide whether to add AI</a:t>
            </a:r>
          </a:p>
          <a:p>
            <a:pPr marL="0" marR="0" lvl="0" indent="0" algn="l" defTabSz="914400" rtl="0" eaLnBrk="1" fontAlgn="auto" latinLnBrk="0" hangingPunct="1">
              <a:lnSpc>
                <a:spcPct val="114000"/>
              </a:lnSpc>
              <a:spcBef>
                <a:spcPts val="0"/>
              </a:spcBef>
              <a:spcAft>
                <a:spcPts val="800"/>
              </a:spcAft>
              <a:buClrTx/>
              <a:buSzTx/>
              <a:buFont typeface="Arial" panose="020B0604020202020204" pitchFamily="34" charset="0"/>
              <a:buNone/>
              <a:tabLst/>
              <a:defRPr/>
            </a:pPr>
            <a:r>
              <a:rPr kumimoji="0" lang="en-US" b="0" i="0" u="none" strike="noStrike" kern="1200" cap="none" spc="0" normalizeH="0" baseline="0" noProof="0" dirty="0">
                <a:ln>
                  <a:noFill/>
                </a:ln>
                <a:solidFill>
                  <a:prstClr val="black"/>
                </a:solidFill>
                <a:effectLst/>
                <a:uLnTx/>
                <a:uFillTx/>
                <a:ea typeface="Helvetica Neue" panose="02000503000000020004" pitchFamily="2" charset="0"/>
                <a:cs typeface="Helvetica Neue" panose="02000503000000020004" pitchFamily="2" charset="0"/>
                <a:sym typeface="OpenAI Sans"/>
              </a:rPr>
              <a:t>Evaluate optional speech or writing models only if measured quality, privacy controls, and reviewer workload justify them.</a:t>
            </a:r>
            <a:r>
              <a:rPr kumimoji="0" lang="en-US" b="0" i="0" u="none" strike="noStrike" kern="1200" cap="none" spc="0" normalizeH="0" baseline="0" noProof="0" dirty="0" err="1">
                <a:ln>
                  <a:noFill/>
                </a:ln>
                <a:solidFill>
                  <a:prstClr val="black"/>
                </a:solidFill>
                <a:effectLst/>
                <a:uLnTx/>
                <a:uFillTx/>
                <a:ea typeface="Helvetica Neue" panose="02000503000000020004" pitchFamily="2" charset="0"/>
                <a:cs typeface="Helvetica Neue" panose="02000503000000020004" pitchFamily="2" charset="0"/>
                <a:sym typeface="OpenAI Sans"/>
              </a:rPr>
              <a:t/>
            </a:r>
            <a:r>
              <a:rPr kumimoji="0" lang="en-US" b="0" i="0" u="none" strike="noStrike" kern="1200" cap="none" spc="0" normalizeH="0" baseline="0" noProof="0" dirty="0">
                <a:ln>
                  <a:noFill/>
                </a:ln>
                <a:solidFill>
                  <a:prstClr val="black"/>
                </a:solidFill>
                <a:effectLst/>
                <a:uLnTx/>
                <a:uFillTx/>
                <a:ea typeface="Helvetica Neue" panose="02000503000000020004" pitchFamily="2" charset="0"/>
                <a:cs typeface="Helvetica Neue" panose="02000503000000020004" pitchFamily="2" charset="0"/>
                <a:sym typeface="OpenAI Sans"/>
              </a:rPr>
              <a:t/>
            </a:r>
            <a:r>
              <a:rPr kumimoji="0" lang="en-US" b="0" i="0" u="none" strike="noStrike" kern="1200" cap="none" spc="0" normalizeH="0" baseline="0" noProof="0" dirty="0" err="1">
                <a:ln>
                  <a:noFill/>
                </a:ln>
                <a:solidFill>
                  <a:prstClr val="black"/>
                </a:solidFill>
                <a:effectLst/>
                <a:uLnTx/>
                <a:uFillTx/>
                <a:ea typeface="Helvetica Neue" panose="02000503000000020004" pitchFamily="2" charset="0"/>
                <a:cs typeface="Helvetica Neue" panose="02000503000000020004" pitchFamily="2" charset="0"/>
                <a:sym typeface="OpenAI Sans"/>
              </a:rPr>
              <a:t/>
            </a:r>
            <a:r>
              <a:rPr kumimoji="0" lang="en-US" b="0" i="0" u="none" strike="noStrike" kern="1200" cap="none" spc="0" normalizeH="0" baseline="0" noProof="0" dirty="0">
                <a:ln>
                  <a:noFill/>
                </a:ln>
                <a:solidFill>
                  <a:prstClr val="black"/>
                </a:solidFill>
                <a:effectLst/>
                <a:uLnTx/>
                <a:uFillTx/>
                <a:ea typeface="Helvetica Neue" panose="02000503000000020004" pitchFamily="2" charset="0"/>
                <a:cs typeface="Helvetica Neue" panose="02000503000000020004" pitchFamily="2" charset="0"/>
                <a:sym typeface="OpenAI Sans"/>
              </a:rPr>
              <a:t/>
            </a:r>
            <a:r>
              <a:rPr kumimoji="0" lang="en-US" b="0" i="0" u="none" strike="noStrike" kern="1200" cap="none" spc="0" normalizeH="0" baseline="0" noProof="0" dirty="0" err="1">
                <a:ln>
                  <a:noFill/>
                </a:ln>
                <a:solidFill>
                  <a:prstClr val="black"/>
                </a:solidFill>
                <a:effectLst/>
                <a:uLnTx/>
                <a:uFillTx/>
                <a:ea typeface="Helvetica Neue" panose="02000503000000020004" pitchFamily="2" charset="0"/>
                <a:cs typeface="Helvetica Neue" panose="02000503000000020004" pitchFamily="2" charset="0"/>
                <a:sym typeface="OpenAI Sans"/>
              </a:rPr>
              <a:t/>
            </a:r>
            <a:r>
              <a:rPr kumimoji="0" lang="en-US" b="0" i="0" u="none" strike="noStrike" kern="1200" cap="none" spc="0" normalizeH="0" baseline="0" noProof="0" dirty="0">
                <a:ln>
                  <a:noFill/>
                </a:ln>
                <a:solidFill>
                  <a:prstClr val="black"/>
                </a:solidFill>
                <a:effectLst/>
                <a:uLnTx/>
                <a:uFillTx/>
                <a:ea typeface="Helvetica Neue" panose="02000503000000020004" pitchFamily="2" charset="0"/>
                <a:cs typeface="Helvetica Neue" panose="02000503000000020004" pitchFamily="2" charset="0"/>
                <a:sym typeface="OpenAI Sans"/>
              </a:rPr>
              <a:t/>
            </a:r>
            <a:r>
              <a:rPr kumimoji="0" lang="en-US" b="0" i="0" u="none" strike="noStrike" kern="1200" cap="none" spc="0" normalizeH="0" baseline="0" noProof="0" dirty="0" err="1">
                <a:ln>
                  <a:noFill/>
                </a:ln>
                <a:solidFill>
                  <a:prstClr val="black"/>
                </a:solidFill>
                <a:effectLst/>
                <a:uLnTx/>
                <a:uFillTx/>
                <a:ea typeface="Helvetica Neue" panose="02000503000000020004" pitchFamily="2" charset="0"/>
                <a:cs typeface="Helvetica Neue" panose="02000503000000020004" pitchFamily="2" charset="0"/>
                <a:sym typeface="OpenAI Sans"/>
              </a:rPr>
              <a:t/>
            </a:r>
            <a:r>
              <a:rPr kumimoji="0" lang="en-US" b="0" i="0" u="none" strike="noStrike" kern="1200" cap="none" spc="0" normalizeH="0" baseline="0" noProof="0" dirty="0">
                <a:ln>
                  <a:noFill/>
                </a:ln>
                <a:solidFill>
                  <a:prstClr val="black"/>
                </a:solidFill>
                <a:effectLst/>
                <a:uLnTx/>
                <a:uFillTx/>
                <a:ea typeface="Helvetica Neue" panose="02000503000000020004" pitchFamily="2" charset="0"/>
                <a:cs typeface="Helvetica Neue" panose="02000503000000020004" pitchFamily="2" charset="0"/>
                <a:sym typeface="OpenAI Sans"/>
              </a:rPr>
              <a:t/>
            </a:r>
            <a:r>
              <a:rPr kumimoji="0" lang="en-US" b="0" i="0" u="none" strike="noStrike" kern="1200" cap="none" spc="0" normalizeH="0" baseline="0" noProof="0" dirty="0" err="1">
                <a:ln>
                  <a:noFill/>
                </a:ln>
                <a:solidFill>
                  <a:prstClr val="black"/>
                </a:solidFill>
                <a:effectLst/>
                <a:uLnTx/>
                <a:uFillTx/>
                <a:ea typeface="Helvetica Neue" panose="02000503000000020004" pitchFamily="2" charset="0"/>
                <a:cs typeface="Helvetica Neue" panose="02000503000000020004" pitchFamily="2" charset="0"/>
                <a:sym typeface="OpenAI Sans"/>
              </a:rPr>
              <a:t/>
            </a:r>
            <a:r>
              <a:rPr kumimoji="0" lang="en-US" b="0" i="0" u="none" strike="noStrike" kern="1200" cap="none" spc="0" normalizeH="0" baseline="0" noProof="0" dirty="0">
                <a:ln>
                  <a:noFill/>
                </a:ln>
                <a:solidFill>
                  <a:prstClr val="black"/>
                </a:solidFill>
                <a:effectLst/>
                <a:uLnTx/>
                <a:uFillTx/>
                <a:ea typeface="Helvetica Neue" panose="02000503000000020004" pitchFamily="2" charset="0"/>
                <a:cs typeface="Helvetica Neue" panose="02000503000000020004" pitchFamily="2" charset="0"/>
                <a:sym typeface="OpenAI Sans"/>
              </a:rPr>
              <a:t/>
            </a:r>
            <a:r>
              <a:rPr kumimoji="0" lang="en-US" b="0" i="0" u="none" strike="noStrike" kern="1200" cap="none" spc="0" normalizeH="0" baseline="0" noProof="0" dirty="0" err="1">
                <a:ln>
                  <a:noFill/>
                </a:ln>
                <a:solidFill>
                  <a:prstClr val="black"/>
                </a:solidFill>
                <a:effectLst/>
                <a:uLnTx/>
                <a:uFillTx/>
                <a:ea typeface="Helvetica Neue" panose="02000503000000020004" pitchFamily="2" charset="0"/>
                <a:cs typeface="Helvetica Neue" panose="02000503000000020004" pitchFamily="2" charset="0"/>
                <a:sym typeface="OpenAI Sans"/>
              </a:rPr>
              <a:t/>
            </a:r>
            <a:r>
              <a:rPr kumimoji="0" lang="en-US" b="0" i="0" u="none" strike="noStrike" kern="1200" cap="none" spc="0" normalizeH="0" baseline="0" noProof="0" dirty="0">
                <a:ln>
                  <a:noFill/>
                </a:ln>
                <a:solidFill>
                  <a:prstClr val="black"/>
                </a:solidFill>
                <a:effectLst/>
                <a:uLnTx/>
                <a:uFillTx/>
                <a:ea typeface="Helvetica Neue" panose="02000503000000020004" pitchFamily="2" charset="0"/>
                <a:cs typeface="Helvetica Neue" panose="02000503000000020004" pitchFamily="2" charset="0"/>
                <a:sym typeface="OpenAI Sans"/>
              </a:rPr>
              <a:t/>
            </a:r>
            <a:r>
              <a:rPr kumimoji="0" lang="en-US" b="0" i="0" u="none" strike="noStrike" kern="1200" cap="none" spc="0" normalizeH="0" baseline="0" noProof="0" dirty="0" err="1">
                <a:ln>
                  <a:noFill/>
                </a:ln>
                <a:solidFill>
                  <a:prstClr val="black"/>
                </a:solidFill>
                <a:effectLst/>
                <a:uLnTx/>
                <a:uFillTx/>
                <a:ea typeface="Helvetica Neue" panose="02000503000000020004" pitchFamily="2" charset="0"/>
                <a:cs typeface="Helvetica Neue" panose="02000503000000020004" pitchFamily="2" charset="0"/>
                <a:sym typeface="OpenAI Sans"/>
              </a:rPr>
              <a:t/>
            </a:r>
            <a:r>
              <a:rPr kumimoji="0" lang="en-US" b="0" i="0" u="none" strike="noStrike" kern="1200" cap="none" spc="0" normalizeH="0" baseline="0" noProof="0" dirty="0">
                <a:ln>
                  <a:noFill/>
                </a:ln>
                <a:solidFill>
                  <a:prstClr val="black"/>
                </a:solidFill>
                <a:effectLst/>
                <a:uLnTx/>
                <a:uFillTx/>
                <a:ea typeface="Helvetica Neue" panose="02000503000000020004" pitchFamily="2" charset="0"/>
                <a:cs typeface="Helvetica Neue" panose="02000503000000020004" pitchFamily="2" charset="0"/>
                <a:sym typeface="OpenAI Sans"/>
              </a:rPr>
              <a:t/>
            </a:r>
          </a:p>
        </p:txBody>
      </p:sp>
      <p:cxnSp>
        <p:nvCxnSpPr>
          <p:cNvPr id="2" name="Google Shape;2259;p159">
            <a:extLst>
              <a:ext uri="{FF2B5EF4-FFF2-40B4-BE49-F238E27FC236}">
                <a16:creationId id="{B445FE4B-78BD-90F9-A6AA-1A4EF03DE791}"/>
              </a:ext>
            </a:extLst>
          </p:cNvPr>
          <p:cNvCxnSpPr>
            <a:stCxn id="3" idx="2"/>
          </p:cNvCxnSpPr>
          <p:nvPr/>
        </p:nvCxnSpPr>
        <p:spPr>
          <a:xfrm>
            <a:off x="337718" y="3373753"/>
            <a:ext cx="12245400" cy="300"/>
          </a:xfrm>
          <a:prstGeom prst="straightConnector1">
            <a:avLst/>
          </a:prstGeom>
          <a:noFill/>
          <a:ln w="9525" cap="flat" cmpd="sng">
            <a:solidFill>
              <a:schemeClr val="accent1"/>
            </a:solidFill>
            <a:prstDash val="solid"/>
            <a:round/>
            <a:headEnd type="none" w="med" len="med"/>
            <a:tailEnd type="none" w="med" len="med"/>
          </a:ln>
        </p:spPr>
      </p:cxnSp>
      <p:sp>
        <p:nvSpPr>
          <p:cNvPr id="3" name="Google Shape;2260;p159">
            <a:extLst>
              <a:ext uri="{FF2B5EF4-FFF2-40B4-BE49-F238E27FC236}">
                <a16:creationId id="{39A86B1D-EA5D-3FA6-7D83-8F21D70E330E}"/>
              </a:ext>
            </a:extLst>
          </p:cNvPr>
          <p:cNvSpPr/>
          <p:nvPr/>
        </p:nvSpPr>
        <p:spPr>
          <a:xfrm>
            <a:off x="337718" y="3320203"/>
            <a:ext cx="107100" cy="107100"/>
          </a:xfrm>
          <a:prstGeom prst="ellipse">
            <a:avLst/>
          </a:prstGeom>
          <a:solidFill>
            <a:schemeClr val="accent1"/>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endParaRPr>
              <a:latin typeface="OpenAI Sans"/>
              <a:ea typeface="OpenAI Sans"/>
              <a:cs typeface="OpenAI Sans"/>
              <a:sym typeface="OpenAI Sans"/>
            </a:endParaRPr>
          </a:p>
        </p:txBody>
      </p:sp>
      <p:sp>
        <p:nvSpPr>
          <p:cNvPr id="5" name="Google Shape;2261;p159">
            <a:extLst>
              <a:ext uri="{FF2B5EF4-FFF2-40B4-BE49-F238E27FC236}">
                <a16:creationId id="{A1013DAF-A2C3-BC42-73D5-9D8AB55DCA94}"/>
              </a:ext>
            </a:extLst>
          </p:cNvPr>
          <p:cNvSpPr/>
          <p:nvPr/>
        </p:nvSpPr>
        <p:spPr>
          <a:xfrm>
            <a:off x="4251750" y="3320203"/>
            <a:ext cx="107100" cy="107100"/>
          </a:xfrm>
          <a:prstGeom prst="ellipse">
            <a:avLst/>
          </a:prstGeom>
          <a:solidFill>
            <a:schemeClr val="accent1"/>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endParaRPr>
              <a:latin typeface="OpenAI Sans"/>
              <a:ea typeface="OpenAI Sans"/>
              <a:cs typeface="OpenAI Sans"/>
              <a:sym typeface="OpenAI Sans"/>
            </a:endParaRPr>
          </a:p>
        </p:txBody>
      </p:sp>
      <p:sp>
        <p:nvSpPr>
          <p:cNvPr id="6" name="Google Shape;2262;p159">
            <a:extLst>
              <a:ext uri="{FF2B5EF4-FFF2-40B4-BE49-F238E27FC236}">
                <a16:creationId id="{4654A74A-2C40-A8C6-E9F9-43C58A3ADE20}"/>
              </a:ext>
            </a:extLst>
          </p:cNvPr>
          <p:cNvSpPr/>
          <p:nvPr/>
        </p:nvSpPr>
        <p:spPr>
          <a:xfrm>
            <a:off x="8176050" y="3320203"/>
            <a:ext cx="107100" cy="107100"/>
          </a:xfrm>
          <a:prstGeom prst="ellipse">
            <a:avLst/>
          </a:prstGeom>
          <a:solidFill>
            <a:schemeClr val="accent1"/>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endParaRPr>
              <a:latin typeface="OpenAI Sans"/>
              <a:ea typeface="OpenAI Sans"/>
              <a:cs typeface="OpenAI Sans"/>
              <a:sym typeface="OpenAI Sans"/>
            </a:endParaRPr>
          </a:p>
        </p:txBody>
      </p:sp>
      <p:sp>
        <p:nvSpPr>
          <p:cNvPr id="9" name="Content Placeholder 15">
            <a:extLst>
              <a:ext uri="{FF2B5EF4-FFF2-40B4-BE49-F238E27FC236}">
                <a16:creationId id="{76C75857-E8EA-1B37-0464-3C7048D7FBEB}"/>
              </a:ext>
            </a:extLst>
          </p:cNvPr>
          <p:cNvSpPr txBox="1">
            <a:spLocks/>
          </p:cNvSpPr>
          <p:nvPr/>
        </p:nvSpPr>
        <p:spPr>
          <a:xfrm>
            <a:off x="393700" y="2843266"/>
            <a:ext cx="1612900" cy="262400"/>
          </a:xfrm>
          <a:prstGeom prst="rect">
            <a:avLst/>
          </a:prstGeom>
        </p:spPr>
        <p:txBody>
          <a:bodyPr vert="horz" lIns="0" tIns="0" rIns="0" bIns="0" rtlCol="0">
            <a:noAutofit/>
          </a:bodyPr>
          <a:lstStyle>
            <a:lvl1pPr marL="228600" indent="-228600" algn="l" defTabSz="914400" rtl="0" eaLnBrk="1" latinLnBrk="0" hangingPunct="1">
              <a:lnSpc>
                <a:spcPct val="90000"/>
              </a:lnSpc>
              <a:spcBef>
                <a:spcPts val="1000"/>
              </a:spcBef>
              <a:buFont typeface="Arial" panose="020B0604020202020204" pitchFamily="34" charset="0"/>
              <a:buNone/>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800"/>
              </a:spcAft>
            </a:pPr>
            <a:r>
              <a:rPr lang="en-US" sz="1400" b="1" dirty="0">
                <a:solidFill>
                  <a:schemeClr val="accent1"/>
                </a:solidFill>
                <a:latin typeface="Roboto SemiBold" panose="02000000000000000000" pitchFamily="2" charset="0"/>
                <a:ea typeface="Roboto SemiBold" panose="02000000000000000000" pitchFamily="2" charset="0"/>
                <a:cs typeface="Helvetica Neue" panose="02000503000000020004" pitchFamily="2" charset="0"/>
                <a:sym typeface="OpenAI Sans"/>
              </a:rPr>
              <a:t>0–3 months</a:t>
            </a:r>
          </a:p>
        </p:txBody>
      </p:sp>
      <p:sp>
        <p:nvSpPr>
          <p:cNvPr id="13" name="Content Placeholder 15">
            <a:extLst>
              <a:ext uri="{FF2B5EF4-FFF2-40B4-BE49-F238E27FC236}">
                <a16:creationId id="{76AEECBA-C292-6302-8A8E-7EB14A54E420}"/>
              </a:ext>
            </a:extLst>
          </p:cNvPr>
          <p:cNvSpPr txBox="1">
            <a:spLocks/>
          </p:cNvSpPr>
          <p:nvPr/>
        </p:nvSpPr>
        <p:spPr>
          <a:xfrm>
            <a:off x="4294187" y="2843266"/>
            <a:ext cx="1612900" cy="262400"/>
          </a:xfrm>
          <a:prstGeom prst="rect">
            <a:avLst/>
          </a:prstGeom>
        </p:spPr>
        <p:txBody>
          <a:bodyPr vert="horz" lIns="0" tIns="0" rIns="0" bIns="0" rtlCol="0">
            <a:noAutofit/>
          </a:bodyPr>
          <a:lstStyle>
            <a:lvl1pPr marL="228600" indent="-228600" algn="l" defTabSz="914400" rtl="0" eaLnBrk="1" latinLnBrk="0" hangingPunct="1">
              <a:lnSpc>
                <a:spcPct val="90000"/>
              </a:lnSpc>
              <a:spcBef>
                <a:spcPts val="1000"/>
              </a:spcBef>
              <a:buFont typeface="Arial" panose="020B0604020202020204" pitchFamily="34" charset="0"/>
              <a:buNone/>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800"/>
              </a:spcAft>
            </a:pPr>
            <a:r>
              <a:rPr lang="en-US" sz="1400" b="1" dirty="0">
                <a:solidFill>
                  <a:schemeClr val="accent1"/>
                </a:solidFill>
                <a:latin typeface="Roboto SemiBold" panose="02000000000000000000" pitchFamily="2" charset="0"/>
                <a:ea typeface="Roboto SemiBold" panose="02000000000000000000" pitchFamily="2" charset="0"/>
                <a:cs typeface="Helvetica Neue" panose="02000503000000020004" pitchFamily="2" charset="0"/>
                <a:sym typeface="OpenAI Sans"/>
              </a:rPr>
              <a:t>3–6 months</a:t>
            </a:r>
          </a:p>
        </p:txBody>
      </p:sp>
      <p:sp>
        <p:nvSpPr>
          <p:cNvPr id="14" name="Content Placeholder 15">
            <a:extLst>
              <a:ext uri="{FF2B5EF4-FFF2-40B4-BE49-F238E27FC236}">
                <a16:creationId id="{95982BB0-2387-9BAA-9F14-F45500C04700}"/>
              </a:ext>
            </a:extLst>
          </p:cNvPr>
          <p:cNvSpPr txBox="1">
            <a:spLocks/>
          </p:cNvSpPr>
          <p:nvPr/>
        </p:nvSpPr>
        <p:spPr>
          <a:xfrm>
            <a:off x="8223249" y="2843266"/>
            <a:ext cx="1612900" cy="262400"/>
          </a:xfrm>
          <a:prstGeom prst="rect">
            <a:avLst/>
          </a:prstGeom>
        </p:spPr>
        <p:txBody>
          <a:bodyPr vert="horz" lIns="0" tIns="0" rIns="0" bIns="0" rtlCol="0">
            <a:noAutofit/>
          </a:bodyPr>
          <a:lstStyle>
            <a:lvl1pPr marL="228600" indent="-228600" algn="l" defTabSz="914400" rtl="0" eaLnBrk="1" latinLnBrk="0" hangingPunct="1">
              <a:lnSpc>
                <a:spcPct val="90000"/>
              </a:lnSpc>
              <a:spcBef>
                <a:spcPts val="1000"/>
              </a:spcBef>
              <a:buFont typeface="Arial" panose="020B0604020202020204" pitchFamily="34" charset="0"/>
              <a:buNone/>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800"/>
              </a:spcAft>
            </a:pPr>
            <a:r>
              <a:rPr lang="en-US" sz="1400" b="1" dirty="0">
                <a:solidFill>
                  <a:schemeClr val="accent1"/>
                </a:solidFill>
                <a:latin typeface="Roboto SemiBold" panose="02000000000000000000" pitchFamily="2" charset="0"/>
                <a:ea typeface="Roboto SemiBold" panose="02000000000000000000" pitchFamily="2" charset="0"/>
                <a:cs typeface="Helvetica Neue" panose="02000503000000020004" pitchFamily="2" charset="0"/>
                <a:sym typeface="OpenAI Sans"/>
              </a:rPr>
              <a:t>6–12 months</a:t>
            </a:r>
          </a:p>
        </p:txBody>
      </p:sp>
      <p:sp>
        <p:nvSpPr>
          <p:cNvPr id="7" name="Footer Placeholder 6">
            <a:extLst>
              <a:ext uri="{FF2B5EF4-FFF2-40B4-BE49-F238E27FC236}">
                <a16:creationId id="{3AC3A10F-8642-8154-9AEA-7110D289C62E}"/>
              </a:ext>
            </a:extLst>
          </p:cNvPr>
          <p:cNvSpPr>
            <a:spLocks noGrp="1"/>
          </p:cNvSpPr>
          <p:nvPr>
            <p:ph type="ftr" sz="quarter" idx="3"/>
          </p:nvPr>
        </p:nvSpPr>
        <p:spPr/>
        <p:txBody>
          <a:bodyPr/>
          <a:lstStyle/>
          <a:p>
            <a:endParaRPr lang="en-US" sz="1100" dirty="0"/>
          </a:p>
        </p:txBody>
      </p:sp>
    </p:spTree>
    <p:extLst>
      <p:ext uri="{BB962C8B-B14F-4D97-AF65-F5344CB8AC3E}">
        <p14:creationId val="3446338916"/>
      </p:ext>
    </p:extLst>
  </p:cSld>
  <p:clrMapOvr>
    <a:masterClrMapping/>
  </p:clrMapOvr>
</p:sld>
</file>

<file path=ppt/slides/slide13.xml><?xml version="1.0" encoding="utf-8"?>
<p:sld xmlns:a="http://schemas.openxmlformats.org/drawingml/2006/main" xmlns:a16="http://schemas.microsoft.com/office/drawing/2014/main" xmlns:p="http://schemas.openxmlformats.org/presentationml/2006/main" xmlns:p14="http://schemas.microsoft.com/office/powerpoint/2010/main">
  <p:cSld>
    <p:spTree>
      <p:nvGrpSpPr>
        <p:cNvPr id="1" name="Shape 531">
          <a:extLst>
            <a:ext uri="{FF2B5EF4-FFF2-40B4-BE49-F238E27FC236}">
              <a16:creationId id="{CFE5198B-4DE9-7211-B26D-C7E4AA289A1A}"/>
            </a:ext>
          </a:extLst>
        </p:cNvPr>
        <p:cNvGrpSpPr/>
        <p:nvPr/>
      </p:nvGrpSpPr>
      <p:grpSpPr>
        <a:xfrm>
          <a:off x="0" y="0"/>
          <a:ext cx="0" cy="0"/>
          <a:chOff x="0" y="0"/>
          <a:chExt cx="0" cy="0"/>
        </a:xfrm>
      </p:grpSpPr>
      <p:sp>
        <p:nvSpPr>
          <p:cNvPr id="532" name="Google Shape;532;p58">
            <a:extLst>
              <a:ext uri="{FF2B5EF4-FFF2-40B4-BE49-F238E27FC236}">
                <a16:creationId id="{9EE8A1CA-4617-FF10-E8D0-B582B7F48A83}"/>
              </a:ext>
            </a:extLst>
          </p:cNvPr>
          <p:cNvSpPr txBox="1">
            <a:spLocks noGrp="1"/>
          </p:cNvSpPr>
          <p:nvPr>
            <p:ph type="sldNum" sz="quarter" idx="4"/>
          </p:nvPr>
        </p:nvSpPr>
        <p:spPr>
          <a:prstGeom prst="rect">
            <a:avLst/>
          </a:prstGeom>
        </p:spPr>
        <p:txBody>
          <a:bodyPr spcFirstLastPara="1" vert="horz" wrap="square" lIns="0" tIns="0" rIns="0" bIns="0" rtlCol="0" anchor="b" anchorCtr="0">
            <a:noAutofit/>
          </a:bodyPr>
          <a:lstStyle/>
          <a:p>
            <a:fld id="{00000000-1234-1234-1234-123412341234}" type="slidenum">
              <a:rPr lang="en">
                <a:sym typeface="OpenAI Sans"/>
              </a:rPr>
              <a:pPr/>
              <a:t>13</a:t>
            </a:fld>
            <a:endParaRPr dirty="0">
              <a:sym typeface="OpenAI Sans"/>
            </a:endParaRPr>
          </a:p>
        </p:txBody>
      </p:sp>
      <p:sp>
        <p:nvSpPr>
          <p:cNvPr id="533" name="Google Shape;533;p58">
            <a:extLst>
              <a:ext uri="{FF2B5EF4-FFF2-40B4-BE49-F238E27FC236}">
                <a16:creationId id="{68499D35-F61B-DF1C-10A6-EA04E8D00662}"/>
              </a:ext>
            </a:extLst>
          </p:cNvPr>
          <p:cNvSpPr txBox="1">
            <a:spLocks noGrp="1"/>
          </p:cNvSpPr>
          <p:nvPr>
            <p:ph type="title"/>
          </p:nvPr>
        </p:nvSpPr>
        <p:spPr>
          <a:xfrm>
            <a:off x="393700" y="344009"/>
            <a:ext cx="11404600" cy="697392"/>
          </a:xfrm>
          <a:prstGeom prst="rect">
            <a:avLst/>
          </a:prstGeom>
        </p:spPr>
        <p:txBody>
          <a:bodyPr spcFirstLastPara="1" vert="horz" wrap="square" lIns="0" tIns="0" rIns="0" bIns="0" rtlCol="0" anchor="t" anchorCtr="0">
            <a:noAutofit/>
          </a:bodyPr>
          <a:lstStyle/>
          <a:p>
            <a:r>
              <a:rPr lang="en-US" dirty="0">
                <a:solidFill>
                  <a:schemeClr val="accent1"/>
                </a:solidFill>
              </a:rPr>
              <a:t>Illustrative 90-day pilot workplan</a:t>
            </a:r>
            <a:endParaRPr dirty="0">
              <a:solidFill>
                <a:schemeClr val="accent1"/>
              </a:solidFill>
            </a:endParaRPr>
          </a:p>
        </p:txBody>
      </p:sp>
      <p:graphicFrame>
        <p:nvGraphicFramePr>
          <p:cNvPr id="4" name="Google Shape;953;p80">
            <a:extLst>
              <a:ext uri="{FF2B5EF4-FFF2-40B4-BE49-F238E27FC236}">
                <a16:creationId id="{132CDF09-C451-CA62-761F-27510206387F}"/>
              </a:ext>
            </a:extLst>
          </p:cNvPr>
          <p:cNvGraphicFramePr/>
          <p:nvPr>
            <p:extLst>
              <p:ext uri="{D42A27DB-BD31-4B8C-83A1-F6EECF244321}">
                <p14:modId val="4069686237"/>
              </p:ext>
            </p:extLst>
          </p:nvPr>
        </p:nvGraphicFramePr>
        <p:xfrm>
          <a:off x="393699" y="1379875"/>
          <a:ext cx="11404600" cy="4614525"/>
        </p:xfrm>
        <a:graphic>
          <a:graphicData uri="http://schemas.openxmlformats.org/drawingml/2006/table">
            <a:tbl>
              <a:tblPr>
                <a:noFill/>
              </a:tblPr>
              <a:tblGrid>
                <a:gridCol w="2280920">
                  <a:extLst>
                    <a:ext uri="{9D8B030D-6E8A-4147-A177-3AD203B41FA5}">
                      <a16:colId val="20000"/>
                    </a:ext>
                  </a:extLst>
                </a:gridCol>
                <a:gridCol w="2280920">
                  <a:extLst>
                    <a:ext uri="{9D8B030D-6E8A-4147-A177-3AD203B41FA5}">
                      <a16:colId val="20001"/>
                    </a:ext>
                  </a:extLst>
                </a:gridCol>
                <a:gridCol w="2280920">
                  <a:extLst>
                    <a:ext uri="{9D8B030D-6E8A-4147-A177-3AD203B41FA5}">
                      <a16:colId val="20002"/>
                    </a:ext>
                  </a:extLst>
                </a:gridCol>
                <a:gridCol w="2280920">
                  <a:extLst>
                    <a:ext uri="{9D8B030D-6E8A-4147-A177-3AD203B41FA5}">
                      <a16:colId val="20003"/>
                    </a:ext>
                  </a:extLst>
                </a:gridCol>
                <a:gridCol w="2280920">
                  <a:extLst>
                    <a:ext uri="{9D8B030D-6E8A-4147-A177-3AD203B41FA5}">
                      <a16:colId val="20004"/>
                    </a:ext>
                  </a:extLst>
                </a:gridCol>
              </a:tblGrid>
              <a:tr h="4614525">
                <a:tc>
                  <a:txBody>
                    <a:bodyPr/>
                    <a:lstStyle/>
                    <a:p>
                      <a:pPr marL="0" lvl="0" indent="0" algn="l" rtl="0">
                        <a:spcBef>
                          <a:spcPts val="0"/>
                        </a:spcBef>
                        <a:spcAft>
                          <a:spcPts val="0"/>
                        </a:spcAft>
                        <a:buNone/>
                      </a:pPr>
                      <a:r>
                        <a:rPr lang="en" sz="1600" dirty="0">
                          <a:solidFill>
                            <a:schemeClr val="accent2">
                              <a:lumMod val="75000"/>
                            </a:schemeClr>
                          </a:solidFill>
                        </a:rPr>
                        <a:t>Weeks 1–2</a:t>
                      </a:r>
                      <a:endParaRPr sz="1600" dirty="0">
                        <a:solidFill>
                          <a:schemeClr val="accent2">
                            <a:lumMod val="75000"/>
                          </a:schemeClr>
                        </a:solidFill>
                      </a:endParaRPr>
                    </a:p>
                  </a:txBody>
                  <a:tcPr marL="137150" marR="91425" marT="0" marB="91425">
                    <a:lnL w="12700" cap="flat" cmpd="sng" algn="ctr">
                      <a:solidFill>
                        <a:schemeClr val="accent2">
                          <a:lumMod val="75000"/>
                        </a:schemeClr>
                      </a:solidFill>
                      <a:prstDash val="solid"/>
                      <a:round/>
                      <a:headEnd type="none" w="med" len="med"/>
                      <a:tailEnd type="none" w="med" len="med"/>
                    </a:lnL>
                    <a:lnR w="12700" cap="flat" cmpd="sng" algn="ctr">
                      <a:solidFill>
                        <a:schemeClr val="accent2">
                          <a:lumMod val="75000"/>
                        </a:schemeClr>
                      </a:solidFill>
                      <a:prstDash val="solid"/>
                      <a:round/>
                      <a:headEnd type="none" w="med" len="med"/>
                      <a:tailEnd type="none" w="med" len="med"/>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r>
                        <a:rPr lang="en" sz="1600" dirty="0">
                          <a:solidFill>
                            <a:schemeClr val="accent2">
                              <a:lumMod val="75000"/>
                            </a:schemeClr>
                          </a:solidFill>
                        </a:rPr>
                        <a:t>Weeks 3–4</a:t>
                      </a:r>
                      <a:endParaRPr sz="1600" dirty="0">
                        <a:solidFill>
                          <a:schemeClr val="accent2">
                            <a:lumMod val="75000"/>
                          </a:schemeClr>
                        </a:solidFill>
                      </a:endParaRPr>
                    </a:p>
                  </a:txBody>
                  <a:tcPr marL="137150" marR="91425" marT="0" marB="91425">
                    <a:lnL w="12700" cap="flat" cmpd="sng" algn="ctr">
                      <a:solidFill>
                        <a:schemeClr val="accent2">
                          <a:lumMod val="75000"/>
                        </a:schemeClr>
                      </a:solidFill>
                      <a:prstDash val="solid"/>
                      <a:round/>
                      <a:headEnd type="none" w="med" len="med"/>
                      <a:tailEnd type="none" w="med" len="med"/>
                    </a:lnL>
                    <a:lnR w="12700" cap="flat" cmpd="sng" algn="ctr">
                      <a:solidFill>
                        <a:schemeClr val="accent2">
                          <a:lumMod val="75000"/>
                        </a:schemeClr>
                      </a:solidFill>
                      <a:prstDash val="solid"/>
                      <a:round/>
                      <a:headEnd type="none" w="med" len="med"/>
                      <a:tailEnd type="none" w="med" len="med"/>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r>
                        <a:rPr lang="en" sz="1600" dirty="0">
                          <a:solidFill>
                            <a:schemeClr val="accent2">
                              <a:lumMod val="75000"/>
                            </a:schemeClr>
                          </a:solidFill>
                        </a:rPr>
                        <a:t>Weeks 5–6</a:t>
                      </a:r>
                      <a:endParaRPr sz="1600" dirty="0">
                        <a:solidFill>
                          <a:schemeClr val="accent2">
                            <a:lumMod val="75000"/>
                          </a:schemeClr>
                        </a:solidFill>
                      </a:endParaRPr>
                    </a:p>
                  </a:txBody>
                  <a:tcPr marL="137150" marR="91425" marT="0" marB="91425">
                    <a:lnL w="12700" cap="flat" cmpd="sng" algn="ctr">
                      <a:solidFill>
                        <a:schemeClr val="accent2">
                          <a:lumMod val="75000"/>
                        </a:schemeClr>
                      </a:solidFill>
                      <a:prstDash val="solid"/>
                      <a:round/>
                      <a:headEnd type="none" w="med" len="med"/>
                      <a:tailEnd type="none" w="med" len="med"/>
                    </a:lnL>
                    <a:lnR w="12700" cap="flat" cmpd="sng" algn="ctr">
                      <a:solidFill>
                        <a:schemeClr val="accent2">
                          <a:lumMod val="75000"/>
                        </a:schemeClr>
                      </a:solidFill>
                      <a:prstDash val="solid"/>
                      <a:round/>
                      <a:headEnd type="none" w="med" len="med"/>
                      <a:tailEnd type="none" w="med" len="med"/>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r>
                        <a:rPr lang="en" sz="1600" dirty="0">
                          <a:solidFill>
                            <a:schemeClr val="accent2">
                              <a:lumMod val="75000"/>
                            </a:schemeClr>
                          </a:solidFill>
                        </a:rPr>
                        <a:t>Weeks 7–9</a:t>
                      </a:r>
                      <a:endParaRPr sz="1600" dirty="0">
                        <a:solidFill>
                          <a:schemeClr val="accent2">
                            <a:lumMod val="75000"/>
                          </a:schemeClr>
                        </a:solidFill>
                      </a:endParaRPr>
                    </a:p>
                  </a:txBody>
                  <a:tcPr marL="137150" marR="91425" marT="0" marB="91425">
                    <a:lnL w="12700" cap="flat" cmpd="sng" algn="ctr">
                      <a:solidFill>
                        <a:schemeClr val="accent2">
                          <a:lumMod val="75000"/>
                        </a:schemeClr>
                      </a:solidFill>
                      <a:prstDash val="solid"/>
                      <a:round/>
                      <a:headEnd type="none" w="med" len="med"/>
                      <a:tailEnd type="none" w="med" len="med"/>
                    </a:lnL>
                    <a:lnR w="12700" cap="flat" cmpd="sng" algn="ctr">
                      <a:solidFill>
                        <a:schemeClr val="accent2">
                          <a:lumMod val="75000"/>
                        </a:schemeClr>
                      </a:solidFill>
                      <a:prstDash val="solid"/>
                      <a:round/>
                      <a:headEnd type="none" w="med" len="med"/>
                      <a:tailEnd type="none" w="med" len="med"/>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r>
                        <a:rPr lang="en" sz="1600" dirty="0">
                          <a:solidFill>
                            <a:schemeClr val="accent2">
                              <a:lumMod val="75000"/>
                            </a:schemeClr>
                          </a:solidFill>
                        </a:rPr>
                        <a:t>Weeks 10–12</a:t>
                      </a:r>
                      <a:endParaRPr sz="1600" dirty="0">
                        <a:solidFill>
                          <a:schemeClr val="accent2">
                            <a:lumMod val="75000"/>
                          </a:schemeClr>
                        </a:solidFill>
                      </a:endParaRPr>
                    </a:p>
                  </a:txBody>
                  <a:tcPr marL="137150" marR="91425" marT="0" marB="91425">
                    <a:lnL w="12700" cap="flat" cmpd="sng" algn="ctr">
                      <a:solidFill>
                        <a:schemeClr val="accent2">
                          <a:lumMod val="75000"/>
                        </a:schemeClr>
                      </a:solidFill>
                      <a:prstDash val="solid"/>
                      <a:round/>
                      <a:headEnd type="none" w="med" len="med"/>
                      <a:tailEnd type="none" w="med" len="med"/>
                    </a:lnL>
                    <a:lnR w="12700" cap="flat" cmpd="sng" algn="ctr">
                      <a:solidFill>
                        <a:schemeClr val="accent2">
                          <a:lumMod val="75000"/>
                        </a:schemeClr>
                      </a:solidFill>
                      <a:prstDash val="solid"/>
                      <a:round/>
                      <a:headEnd type="none" w="med" len="med"/>
                      <a:tailEnd type="none" w="med" len="med"/>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val="10000"/>
                  </a:ext>
                </a:extLst>
              </a:tr>
            </a:tbl>
          </a:graphicData>
        </a:graphic>
      </p:graphicFrame>
      <p:sp>
        <p:nvSpPr>
          <p:cNvPr id="5" name="Google Shape;955;p80">
            <a:extLst>
              <a:ext uri="{FF2B5EF4-FFF2-40B4-BE49-F238E27FC236}">
                <a16:creationId id="{EA32D89C-6778-2FE2-6D40-ABA6EAAD7EC1}"/>
              </a:ext>
            </a:extLst>
          </p:cNvPr>
          <p:cNvSpPr/>
          <p:nvPr/>
        </p:nvSpPr>
        <p:spPr>
          <a:xfrm>
            <a:off x="4721718" y="4107740"/>
            <a:ext cx="4562665" cy="513300"/>
          </a:xfrm>
          <a:prstGeom prst="roundRect">
            <a:avLst>
              <a:gd name="adj" fmla="val 11479"/>
            </a:avLst>
          </a:prstGeom>
          <a:solidFill>
            <a:schemeClr val="accent1"/>
          </a:solidFill>
          <a:ln>
            <a:noFill/>
          </a:ln>
        </p:spPr>
        <p:txBody>
          <a:bodyPr spcFirstLastPara="1" wrap="square" lIns="210300" tIns="121875" rIns="121875" bIns="121875" anchor="ctr" anchorCtr="0">
            <a:noAutofit/>
          </a:bodyPr>
          <a:lstStyle/>
          <a:p>
            <a:r>
              <a:rPr lang="en-US" sz="1500" dirty="0">
                <a:solidFill>
                  <a:schemeClr val="bg2"/>
                </a:solidFill>
                <a:latin typeface="Roboto Medium" panose="02000000000000000000" pitchFamily="2" charset="0"/>
                <a:ea typeface="Roboto Medium" panose="02000000000000000000" pitchFamily="2" charset="0"/>
                <a:cs typeface="Helvetica Neue"/>
                <a:sym typeface="Helvetica Neue"/>
              </a:rPr>
              <a:t>Score citations and reviewer corrections</a:t>
            </a:r>
          </a:p>
        </p:txBody>
      </p:sp>
      <p:sp>
        <p:nvSpPr>
          <p:cNvPr id="6" name="Google Shape;957;p80">
            <a:extLst>
              <a:ext uri="{FF2B5EF4-FFF2-40B4-BE49-F238E27FC236}">
                <a16:creationId id="{D5359B3A-662D-9283-F7D8-9D5DCD655B5B}"/>
              </a:ext>
            </a:extLst>
          </p:cNvPr>
          <p:cNvSpPr/>
          <p:nvPr/>
        </p:nvSpPr>
        <p:spPr>
          <a:xfrm>
            <a:off x="584093" y="5478390"/>
            <a:ext cx="11026708" cy="513300"/>
          </a:xfrm>
          <a:prstGeom prst="roundRect">
            <a:avLst>
              <a:gd name="adj" fmla="val 11479"/>
            </a:avLst>
          </a:prstGeom>
          <a:solidFill>
            <a:schemeClr val="bg2"/>
          </a:solidFill>
          <a:ln w="12700">
            <a:solidFill>
              <a:schemeClr val="accent1"/>
            </a:solidFill>
          </a:ln>
        </p:spPr>
        <p:txBody>
          <a:bodyPr spcFirstLastPara="1" wrap="square" lIns="210300" tIns="121875" rIns="121875" bIns="121875" anchor="ctr" anchorCtr="0">
            <a:noAutofit/>
          </a:bodyPr>
          <a:lstStyle/>
          <a:p>
            <a:r>
              <a:rPr lang="en" sz="1500" dirty="0">
                <a:solidFill>
                  <a:schemeClr val="accent1"/>
                </a:solidFill>
                <a:latin typeface="Roboto Medium" panose="02000000000000000000" pitchFamily="2" charset="0"/>
                <a:ea typeface="Roboto Medium" panose="02000000000000000000" pitchFamily="2" charset="0"/>
                <a:cs typeface="Helvetica Neue"/>
                <a:sym typeface="Helvetica Neue"/>
              </a:rPr>
              <a:t>Decision gate: continue only after approvals and evidence review</a:t>
            </a:r>
            <a:endParaRPr sz="1500" dirty="0">
              <a:solidFill>
                <a:schemeClr val="accent1"/>
              </a:solidFill>
              <a:latin typeface="Roboto Medium" panose="02000000000000000000" pitchFamily="2" charset="0"/>
              <a:ea typeface="Roboto Medium" panose="02000000000000000000" pitchFamily="2" charset="0"/>
              <a:cs typeface="Helvetica Neue"/>
              <a:sym typeface="Helvetica Neue"/>
            </a:endParaRPr>
          </a:p>
        </p:txBody>
      </p:sp>
      <p:sp>
        <p:nvSpPr>
          <p:cNvPr id="7" name="Google Shape;960;p80">
            <a:extLst>
              <a:ext uri="{FF2B5EF4-FFF2-40B4-BE49-F238E27FC236}">
                <a16:creationId id="{2293B6C0-CD6E-C9F0-68F7-73F7B726A1EF}"/>
              </a:ext>
            </a:extLst>
          </p:cNvPr>
          <p:cNvSpPr/>
          <p:nvPr/>
        </p:nvSpPr>
        <p:spPr>
          <a:xfrm>
            <a:off x="7522794" y="4754965"/>
            <a:ext cx="4088008" cy="513300"/>
          </a:xfrm>
          <a:prstGeom prst="roundRect">
            <a:avLst>
              <a:gd name="adj" fmla="val 11479"/>
            </a:avLst>
          </a:prstGeom>
          <a:solidFill>
            <a:schemeClr val="accent1"/>
          </a:solidFill>
          <a:ln>
            <a:noFill/>
          </a:ln>
        </p:spPr>
        <p:txBody>
          <a:bodyPr spcFirstLastPara="1" wrap="square" lIns="210300" tIns="121875" rIns="121875" bIns="121875" anchor="ctr" anchorCtr="0">
            <a:noAutofit/>
          </a:bodyPr>
          <a:lstStyle/>
          <a:p>
            <a:r>
              <a:rPr lang="en-US" sz="1500" dirty="0">
                <a:solidFill>
                  <a:schemeClr val="bg2"/>
                </a:solidFill>
                <a:latin typeface="Roboto Medium" panose="02000000000000000000" pitchFamily="2" charset="0"/>
                <a:ea typeface="Roboto Medium" panose="02000000000000000000" pitchFamily="2" charset="0"/>
                <a:cs typeface="Helvetica Neue"/>
                <a:sym typeface="Helvetica Neue"/>
              </a:rPr>
              <a:t>Check action owners and closure evidence</a:t>
            </a:r>
          </a:p>
        </p:txBody>
      </p:sp>
      <p:sp>
        <p:nvSpPr>
          <p:cNvPr id="8" name="Google Shape;963;p80">
            <a:extLst>
              <a:ext uri="{FF2B5EF4-FFF2-40B4-BE49-F238E27FC236}">
                <a16:creationId id="{0F4F3439-EC29-4518-4A3E-7436F8578035}"/>
              </a:ext>
            </a:extLst>
          </p:cNvPr>
          <p:cNvSpPr/>
          <p:nvPr/>
        </p:nvSpPr>
        <p:spPr>
          <a:xfrm>
            <a:off x="2819968" y="3403140"/>
            <a:ext cx="8790833" cy="513300"/>
          </a:xfrm>
          <a:prstGeom prst="roundRect">
            <a:avLst>
              <a:gd name="adj" fmla="val 11479"/>
            </a:avLst>
          </a:prstGeom>
          <a:solidFill>
            <a:schemeClr val="accent1"/>
          </a:solidFill>
          <a:ln>
            <a:noFill/>
          </a:ln>
        </p:spPr>
        <p:txBody>
          <a:bodyPr spcFirstLastPara="1" wrap="square" lIns="210300" tIns="121875" rIns="121875" bIns="121875" anchor="ctr" anchorCtr="0">
            <a:noAutofit/>
          </a:bodyPr>
          <a:lstStyle/>
          <a:p>
            <a:r>
              <a:rPr lang="en-US" sz="1500" dirty="0">
                <a:solidFill>
                  <a:schemeClr val="bg2"/>
                </a:solidFill>
                <a:latin typeface="Roboto Medium" panose="02000000000000000000" pitchFamily="2" charset="0"/>
                <a:ea typeface="Roboto Medium" panose="02000000000000000000" pitchFamily="2" charset="0"/>
                <a:cs typeface="Helvetica Neue"/>
                <a:sym typeface="Helvetica Neue"/>
              </a:rPr>
              <a:t>Run matched evidence-review sessions</a:t>
            </a:r>
          </a:p>
        </p:txBody>
      </p:sp>
      <p:sp>
        <p:nvSpPr>
          <p:cNvPr id="9" name="Google Shape;966;p80">
            <a:extLst>
              <a:ext uri="{FF2B5EF4-FFF2-40B4-BE49-F238E27FC236}">
                <a16:creationId id="{1D07E5FD-0BEC-93D6-2CF5-BC908A51553C}"/>
              </a:ext>
            </a:extLst>
          </p:cNvPr>
          <p:cNvSpPr/>
          <p:nvPr/>
        </p:nvSpPr>
        <p:spPr>
          <a:xfrm>
            <a:off x="2819968" y="2698515"/>
            <a:ext cx="6408538" cy="513300"/>
          </a:xfrm>
          <a:prstGeom prst="roundRect">
            <a:avLst>
              <a:gd name="adj" fmla="val 11479"/>
            </a:avLst>
          </a:prstGeom>
          <a:solidFill>
            <a:schemeClr val="accent1"/>
          </a:solidFill>
          <a:ln>
            <a:noFill/>
          </a:ln>
        </p:spPr>
        <p:txBody>
          <a:bodyPr spcFirstLastPara="1" wrap="square" lIns="210300" tIns="121875" rIns="121875" bIns="121875" anchor="ctr" anchorCtr="0">
            <a:noAutofit/>
          </a:bodyPr>
          <a:lstStyle/>
          <a:p>
            <a:r>
              <a:rPr lang="en-US" sz="1500" dirty="0">
                <a:solidFill>
                  <a:schemeClr val="bg2"/>
                </a:solidFill>
                <a:latin typeface="Roboto Medium" panose="02000000000000000000" pitchFamily="2" charset="0"/>
                <a:ea typeface="Roboto Medium" panose="02000000000000000000" pitchFamily="2" charset="0"/>
                <a:cs typeface="Helvetica Neue"/>
                <a:sym typeface="Helvetica Neue"/>
              </a:rPr>
              <a:t>Recruit evaluators; document today's workflow</a:t>
            </a:r>
          </a:p>
        </p:txBody>
      </p:sp>
      <p:sp>
        <p:nvSpPr>
          <p:cNvPr id="10" name="Google Shape;969;p80">
            <a:extLst>
              <a:ext uri="{FF2B5EF4-FFF2-40B4-BE49-F238E27FC236}">
                <a16:creationId id="{0AB147C5-D3F9-0847-C2A5-2A90154B1A3C}"/>
              </a:ext>
            </a:extLst>
          </p:cNvPr>
          <p:cNvSpPr/>
          <p:nvPr/>
        </p:nvSpPr>
        <p:spPr>
          <a:xfrm>
            <a:off x="507893" y="1975090"/>
            <a:ext cx="4185180" cy="513300"/>
          </a:xfrm>
          <a:prstGeom prst="roundRect">
            <a:avLst>
              <a:gd name="adj" fmla="val 11479"/>
            </a:avLst>
          </a:prstGeom>
          <a:solidFill>
            <a:schemeClr val="accent1"/>
          </a:solidFill>
          <a:ln>
            <a:noFill/>
          </a:ln>
        </p:spPr>
        <p:txBody>
          <a:bodyPr spcFirstLastPara="1" wrap="square" lIns="210300" tIns="121875" rIns="121875" bIns="121875" anchor="ctr" anchorCtr="0">
            <a:noAutofit/>
          </a:bodyPr>
          <a:lstStyle/>
          <a:p>
            <a:r>
              <a:rPr lang="en" sz="1500" dirty="0">
                <a:solidFill>
                  <a:schemeClr val="bg2"/>
                </a:solidFill>
                <a:latin typeface="Roboto Medium" panose="02000000000000000000" pitchFamily="2" charset="0"/>
                <a:ea typeface="Roboto Medium" panose="02000000000000000000" pitchFamily="2" charset="0"/>
                <a:cs typeface="Helvetica Neue"/>
                <a:sym typeface="Helvetica Neue"/>
              </a:rPr>
              <a:t>Confirm willing teams and approve data use</a:t>
            </a:r>
            <a:endParaRPr sz="1500" dirty="0">
              <a:solidFill>
                <a:schemeClr val="bg2"/>
              </a:solidFill>
              <a:latin typeface="Roboto Medium" panose="02000000000000000000" pitchFamily="2" charset="0"/>
              <a:ea typeface="Roboto Medium" panose="02000000000000000000" pitchFamily="2" charset="0"/>
              <a:cs typeface="Helvetica Neue"/>
              <a:sym typeface="Helvetica Neue"/>
            </a:endParaRPr>
          </a:p>
        </p:txBody>
      </p:sp>
      <p:sp>
        <p:nvSpPr>
          <p:cNvPr id="11" name="Footer Placeholder 10">
            <a:extLst>
              <a:ext uri="{FF2B5EF4-FFF2-40B4-BE49-F238E27FC236}">
                <a16:creationId id="{F06ADB7A-E0CB-A418-3590-620B0C5F17EB}"/>
              </a:ext>
            </a:extLst>
          </p:cNvPr>
          <p:cNvSpPr>
            <a:spLocks noGrp="1"/>
          </p:cNvSpPr>
          <p:nvPr>
            <p:ph type="ftr" sz="quarter" idx="3"/>
          </p:nvPr>
        </p:nvSpPr>
        <p:spPr/>
        <p:txBody>
          <a:bodyPr/>
          <a:lstStyle/>
          <a:p>
            <a:endParaRPr lang="en-US" sz="1100" dirty="0"/>
          </a:p>
        </p:txBody>
      </p:sp>
    </p:spTree>
    <p:extLst>
      <p:ext uri="{BB962C8B-B14F-4D97-AF65-F5344CB8AC3E}">
        <p14:creationId val="2435171538"/>
      </p:ext>
    </p:extLst>
  </p:cSld>
  <p:clrMapOvr>
    <a:masterClrMapping/>
  </p:clrMapOvr>
</p:sld>
</file>

<file path=ppt/slides/slide14.xml><?xml version="1.0" encoding="utf-8"?>
<p:sld xmlns:a="http://schemas.openxmlformats.org/drawingml/2006/main" xmlns:a16="http://schemas.microsoft.com/office/drawing/2014/main" xmlns:p="http://schemas.openxmlformats.org/presentationml/2006/main" xmlns:p14="http://schemas.microsoft.com/office/powerpoint/2010/main">
  <p:cSld>
    <p:spTree>
      <p:nvGrpSpPr>
        <p:cNvPr id="1" name="">
          <a:extLst>
            <a:ext uri="{FF2B5EF4-FFF2-40B4-BE49-F238E27FC236}">
              <a16:creationId id="{AE7255DD-98B9-E077-6778-D5F2B926E4E5}"/>
            </a:ext>
          </a:extLst>
        </p:cNvPr>
        <p:cNvGrpSpPr/>
        <p:nvPr/>
      </p:nvGrpSpPr>
      <p:grpSpPr>
        <a:xfrm>
          <a:off x="0" y="0"/>
          <a:ext cx="0" cy="0"/>
          <a:chOff x="0" y="0"/>
          <a:chExt cx="0" cy="0"/>
        </a:xfrm>
      </p:grpSpPr>
      <p:sp>
        <p:nvSpPr>
          <p:cNvPr id="4" name="Title 3">
            <a:extLst>
              <a:ext uri="{FF2B5EF4-FFF2-40B4-BE49-F238E27FC236}">
                <a16:creationId id="{32011EE4-C416-3EA2-180D-62404CE47D07}"/>
              </a:ext>
            </a:extLst>
          </p:cNvPr>
          <p:cNvSpPr>
            <a:spLocks noGrp="1"/>
          </p:cNvSpPr>
          <p:nvPr>
            <p:ph type="ctrTitle"/>
          </p:nvPr>
        </p:nvSpPr>
        <p:spPr>
          <a:xfrm>
            <a:off x="393700" y="937510"/>
            <a:ext cx="9448800" cy="2491490"/>
          </a:xfrm>
        </p:spPr>
        <p:txBody>
          <a:bodyPr>
            <a:noAutofit/>
          </a:bodyPr>
          <a:lstStyle/>
          <a:p>
            <a:r>
              <a:rPr lang="en-US" sz="6500" dirty="0">
                <a:solidFill>
                  <a:schemeClr val="accent1"/>
                </a:solidFill>
                <a:cs typeface="Roboto Serif 14pt" pitchFamily="2" charset="77"/>
              </a:rPr>
              <a:t>Decision requested</a:t>
            </a:r>
          </a:p>
        </p:txBody>
      </p:sp>
      <p:sp>
        <p:nvSpPr>
          <p:cNvPr id="5" name="Subtitle 4">
            <a:extLst>
              <a:ext uri="{FF2B5EF4-FFF2-40B4-BE49-F238E27FC236}">
                <a16:creationId id="{119B400D-E218-8301-7E00-C5A55230DE5D}"/>
              </a:ext>
            </a:extLst>
          </p:cNvPr>
          <p:cNvSpPr>
            <a:spLocks noGrp="1"/>
          </p:cNvSpPr>
          <p:nvPr>
            <p:ph type="subTitle" idx="1"/>
          </p:nvPr>
        </p:nvSpPr>
        <p:spPr>
          <a:xfrm>
            <a:off x="441201" y="4532466"/>
            <a:ext cx="6458364" cy="1388024"/>
          </a:xfrm>
        </p:spPr>
        <p:txBody>
          <a:bodyPr>
            <a:noAutofit/>
          </a:bodyPr>
          <a:lstStyle/>
          <a:p>
            <a:pPr>
              <a:lnSpc>
                <a:spcPct val="120000"/>
              </a:lnSpc>
            </a:pPr>
            <a:r>
              <a:rPr lang="en-US" sz="1600" dirty="0">
                <a:solidFill>
                  <a:schemeClr val="accent2">
                    <a:lumMod val="50000"/>
                  </a:schemeClr>
                </a:solidFill>
              </a:rPr>
              <a:t>Authorize discovery for a 90-day, measurement-led pilot.</a:t>
            </a:r>
          </a:p>
          <a:p>
            <a:pPr>
              <a:lnSpc>
                <a:spcPct val="120000"/>
              </a:lnSpc>
            </a:pPr>
            <a:r>
              <a:rPr lang="en-US" sz="1600" dirty="0">
                <a:solidFill>
                  <a:schemeClr val="accent2">
                    <a:lumMod val="50000"/>
                  </a:schemeClr>
                </a:solidFill>
              </a:rPr>
              <a:t>Recruit 2–3 hospital or municipal teams if they are willing; use synthetic or specifically approved records after privacy review.</a:t>
            </a:r>
          </a:p>
          <a:p>
            <a:pPr>
              <a:lnSpc>
                <a:spcPct val="120000"/>
              </a:lnSpc>
            </a:pPr>
            <a:r>
              <a:rPr lang="en-US" sz="1600" dirty="0">
                <a:solidFill>
                  <a:schemeClr val="accent2">
                    <a:lumMod val="50000"/>
                  </a:schemeClr>
                </a:solidFill>
              </a:rPr>
              <a:t>Return with reviewer workload, citation quality, and closure-verification results before any decision to scale.</a:t>
            </a:r>
          </a:p>
        </p:txBody>
      </p:sp>
      <p:cxnSp>
        <p:nvCxnSpPr>
          <p:cNvPr id="3" name="Straight Connector 2">
            <a:extLst>
              <a:ext uri="{FF2B5EF4-FFF2-40B4-BE49-F238E27FC236}">
                <a16:creationId id="{4E22365F-D1C1-40F6-3DD1-ADD568EAF6AA}"/>
              </a:ext>
            </a:extLst>
          </p:cNvPr>
          <p:cNvCxnSpPr>
            <a:cxnSpLocks/>
          </p:cNvCxnSpPr>
          <p:nvPr/>
        </p:nvCxnSpPr>
        <p:spPr>
          <a:xfrm>
            <a:off x="-183260" y="3934067"/>
            <a:ext cx="12558520"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val="858355452"/>
      </p:ext>
    </p:extLst>
  </p:cSld>
  <p:clrMapOvr>
    <a:masterClrMapping/>
  </p:clrMapOvr>
</p:sld>
</file>

<file path=ppt/theme/theme1.xml><?xml version="1.0" encoding="utf-8"?>
<a:theme xmlns:a="http://schemas.openxmlformats.org/drawingml/2006/main" name="Default Codex Theme">
  <a:themeElements>
    <a:clrScheme name="Theme 2">
      <a:dk1>
        <a:srgbClr val="000000"/>
      </a:dk1>
      <a:lt1>
        <a:srgbClr val="FFFFFF"/>
      </a:lt1>
      <a:dk2>
        <a:srgbClr val="0E2841"/>
      </a:dk2>
      <a:lt2>
        <a:srgbClr val="FAFCFE"/>
      </a:lt2>
      <a:accent1>
        <a:srgbClr val="3357B8"/>
      </a:accent1>
      <a:accent2>
        <a:srgbClr val="CFD2D9"/>
      </a:accent2>
      <a:accent3>
        <a:srgbClr val="196B24"/>
      </a:accent3>
      <a:accent4>
        <a:srgbClr val="0F9ED5"/>
      </a:accent4>
      <a:accent5>
        <a:srgbClr val="A02B93"/>
      </a:accent5>
      <a:accent6>
        <a:srgbClr val="4EA72E"/>
      </a:accent6>
      <a:hlink>
        <a:srgbClr val="467886"/>
      </a:hlink>
      <a:folHlink>
        <a:srgbClr val="96607D"/>
      </a:folHlink>
    </a:clrScheme>
    <a:fontScheme name="Lora Roboto">
      <a:majorFont>
        <a:latin typeface="Lora"/>
        <a:ea typeface=""/>
        <a:cs typeface=""/>
      </a:majorFont>
      <a:minorFont>
        <a:latin typeface="Robot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2120</TotalTime>
  <Words>1591</Words>
  <Application>Microsoft Macintosh PowerPoint</Application>
  <PresentationFormat>Widescreen</PresentationFormat>
  <Paragraphs>176</Paragraphs>
  <Slides>14</Slides>
  <Notes>13</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14</vt:i4>
      </vt:variant>
    </vt:vector>
  </HeadingPairs>
  <TitlesOfParts>
    <vt:vector size="26" baseType="lpstr">
      <vt:lpstr>Lora SemiBold</vt:lpstr>
      <vt:lpstr>Lora Medium</vt:lpstr>
      <vt:lpstr>Roboto Serif 14pt</vt:lpstr>
      <vt:lpstr>Arial</vt:lpstr>
      <vt:lpstr>Roboto SemiBold</vt:lpstr>
      <vt:lpstr>Helvetica Neue</vt:lpstr>
      <vt:lpstr>Roboto Medium</vt:lpstr>
      <vt:lpstr>Roboto</vt:lpstr>
      <vt:lpstr>OpenAI Sans</vt:lpstr>
      <vt:lpstr>Helvetica Neue Medium</vt:lpstr>
      <vt:lpstr>Aptos</vt:lpstr>
      <vt:lpstr>Default Codex Theme</vt:lpstr>
      <vt:lpstr>Enterprise Quarterly Business Review</vt:lpstr>
      <vt:lpstr>Meeting title with agenda slide</vt:lpstr>
      <vt:lpstr>Quarter recap, verdict and asks</vt:lpstr>
      <vt:lpstr>Intro and 2x2 card grid</vt:lpstr>
      <vt:lpstr>One column layout with three callout cards</vt:lpstr>
      <vt:lpstr>Intro with three callout cards</vt:lpstr>
      <vt:lpstr>Two column layout</vt:lpstr>
      <vt:lpstr>Statement headline  slide with eight logo grid</vt:lpstr>
      <vt:lpstr>Full width data table slide</vt:lpstr>
      <vt:lpstr>Chart with three cards</vt:lpstr>
      <vt:lpstr>Chart with three cards</vt:lpstr>
      <vt:lpstr>Timeline with three text only milestones</vt:lpstr>
      <vt:lpstr>Gantt chart over time</vt:lpstr>
      <vt:lpstr>Thank you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dc:title>DrillLoop Business Review · Q4 2026</dc:title>
</cp:coreProperties>
</file>