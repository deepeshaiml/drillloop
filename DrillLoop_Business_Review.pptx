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1.xml" ContentType="application/vnd.openxmlformats-officedocument.presentationml.notesSlide+xml"/>
  <Override PartName="/ppt/charts/style2.xml" ContentType="application/vnd.ms-office.chartstyle+xml"/>
  <Override PartName="/ppt/charts/colors2.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notesSlides/notesSlide14.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648" r:id="rId1"/>
  </p:sldMasterIdLst>
  <p:notesMasterIdLst>
    <p:notesMasterId r:id="rId16"/>
  </p:notesMasterIdLst>
  <p:sldIdLst>
    <p:sldId id="256" r:id="rId2"/>
    <p:sldId id="366" r:id="rId3"/>
    <p:sldId id="286" r:id="rId4"/>
    <p:sldId id="394" r:id="rId5"/>
    <p:sldId id="397" r:id="rId6"/>
    <p:sldId id="358" r:id="rId7"/>
    <p:sldId id="378" r:id="rId8"/>
    <p:sldId id="363" r:id="rId9"/>
    <p:sldId id="360" r:id="rId10"/>
    <p:sldId id="353" r:id="rId11"/>
    <p:sldId id="398" r:id="rId12"/>
    <p:sldId id="337" r:id="rId13"/>
    <p:sldId id="317" r:id="rId14"/>
    <p:sldId id="399" r:id="rId15"/>
  </p:sldIdLst>
  <p:sldSz cx="12192000" cy="6858000"/>
  <p:notesSz cx="6858000" cy="9144000"/>
  <p:embeddedFontLst>
    <p:embeddedFont>
      <p:font typeface="Lora Medium" pitchFamily="2" charset="77"/>
      <p:regular r:id="rId17"/>
      <p:italic r:id="rId18"/>
    </p:embeddedFont>
    <p:embeddedFont>
      <p:font typeface="Lora SemiBold" pitchFamily="2" charset="77"/>
      <p:regular r:id="rId19"/>
      <p:bold r:id="rId20"/>
      <p:italic r:id="rId21"/>
      <p:boldItalic r:id="rId22"/>
    </p:embeddedFont>
    <p:embeddedFont>
      <p:font typeface="OpenAI Sans" panose="020B0004030202060203" pitchFamily="34" charset="77"/>
      <p:regular r:id="rId23"/>
      <p:bold r:id="rId24"/>
      <p:italic r:id="rId25"/>
      <p:boldItalic r:id="rId26"/>
    </p:embeddedFont>
    <p:embeddedFont>
      <p:font typeface="Roboto" panose="02000000000000000000" pitchFamily="2" charset="0"/>
      <p:regular r:id="rId27"/>
      <p:bold r:id="rId28"/>
      <p:italic r:id="rId29"/>
      <p:boldItalic r:id="rId30"/>
    </p:embeddedFont>
    <p:embeddedFont>
      <p:font typeface="Roboto Medium" panose="02000000000000000000" pitchFamily="2" charset="0"/>
      <p:regular r:id="rId31"/>
      <p:italic r:id="rId32"/>
    </p:embeddedFont>
    <p:embeddedFont>
      <p:font typeface="Roboto SemiBold" panose="02000000000000000000" pitchFamily="2" charset="0"/>
      <p:regular r:id="rId33"/>
      <p:bold r:id="rId34"/>
      <p:italic r:id="rId35"/>
      <p:boldItalic r:id="rId36"/>
    </p:embeddedFont>
    <p:embeddedFont>
      <p:font typeface="Roboto Serif 14pt" pitchFamily="2" charset="77"/>
      <p:regular r:id="rId37"/>
      <p:bold r:id="rId38"/>
      <p:italic r:id="rId39"/>
      <p:boldItalic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72"/>
    <p:restoredTop sz="94658"/>
  </p:normalViewPr>
  <p:slideViewPr>
    <p:cSldViewPr snapToGrid="0">
      <p:cViewPr varScale="1">
        <p:scale>
          <a:sx n="116" d="100"/>
          <a:sy n="116" d="100"/>
        </p:scale>
        <p:origin x="1024" y="17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Relationships xmlns="http://schemas.openxmlformats.org/package/2006/relationships"><Relationship Id="rId13" Type="http://schemas.openxmlformats.org/officeDocument/2006/relationships/slide" Target="slides/slide12.xml" /><Relationship Id="rId18" Type="http://schemas.openxmlformats.org/officeDocument/2006/relationships/font" Target="fonts/font2.fntdata" /><Relationship Id="rId26" Type="http://schemas.openxmlformats.org/officeDocument/2006/relationships/font" Target="fonts/font10.fntdata" /><Relationship Id="rId39" Type="http://schemas.openxmlformats.org/officeDocument/2006/relationships/font" Target="fonts/font23.fntdata" /><Relationship Id="rId21" Type="http://schemas.openxmlformats.org/officeDocument/2006/relationships/font" Target="fonts/font5.fntdata" /><Relationship Id="rId34" Type="http://schemas.openxmlformats.org/officeDocument/2006/relationships/font" Target="fonts/font18.fntdata" /><Relationship Id="rId42" Type="http://schemas.openxmlformats.org/officeDocument/2006/relationships/viewProps" Target="viewProps.xml" /><Relationship Id="rId7" Type="http://schemas.openxmlformats.org/officeDocument/2006/relationships/slide" Target="slides/slide6.xml" /><Relationship Id="rId2" Type="http://schemas.openxmlformats.org/officeDocument/2006/relationships/slide" Target="slides/slide1.xml" /><Relationship Id="rId20" Type="http://schemas.openxmlformats.org/officeDocument/2006/relationships/font" Target="fonts/font4.fntdata" /><Relationship Id="rId29" Type="http://schemas.openxmlformats.org/officeDocument/2006/relationships/font" Target="fonts/font13.fntdata" /><Relationship Id="rId41"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font" Target="fonts/font8.fntdata" /><Relationship Id="rId32" Type="http://schemas.openxmlformats.org/officeDocument/2006/relationships/font" Target="fonts/font16.fntdata" /><Relationship Id="rId37" Type="http://schemas.openxmlformats.org/officeDocument/2006/relationships/font" Target="fonts/font21.fntdata" /><Relationship Id="rId40" Type="http://schemas.openxmlformats.org/officeDocument/2006/relationships/font" Target="fonts/font24.fntdata"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font" Target="fonts/font7.fntdata" /><Relationship Id="rId28" Type="http://schemas.openxmlformats.org/officeDocument/2006/relationships/font" Target="fonts/font12.fntdata" /><Relationship Id="rId36" Type="http://schemas.openxmlformats.org/officeDocument/2006/relationships/font" Target="fonts/font20.fntdata" /><Relationship Id="rId10" Type="http://schemas.openxmlformats.org/officeDocument/2006/relationships/slide" Target="slides/slide9.xml" /><Relationship Id="rId19" Type="http://schemas.openxmlformats.org/officeDocument/2006/relationships/font" Target="fonts/font3.fntdata" /><Relationship Id="rId31" Type="http://schemas.openxmlformats.org/officeDocument/2006/relationships/font" Target="fonts/font15.fntdata" /><Relationship Id="rId44"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font" Target="fonts/font6.fntdata" /><Relationship Id="rId27" Type="http://schemas.openxmlformats.org/officeDocument/2006/relationships/font" Target="fonts/font11.fntdata" /><Relationship Id="rId30" Type="http://schemas.openxmlformats.org/officeDocument/2006/relationships/font" Target="fonts/font14.fntdata" /><Relationship Id="rId35" Type="http://schemas.openxmlformats.org/officeDocument/2006/relationships/font" Target="fonts/font19.fntdata" /><Relationship Id="rId43" Type="http://schemas.openxmlformats.org/officeDocument/2006/relationships/theme" Target="theme/theme1.xml" /><Relationship Id="rId8" Type="http://schemas.openxmlformats.org/officeDocument/2006/relationships/slide" Target="slides/slide7.xml" /><Relationship Id="rId3" Type="http://schemas.openxmlformats.org/officeDocument/2006/relationships/slide" Target="slides/slide2.xml" /><Relationship Id="rId12" Type="http://schemas.openxmlformats.org/officeDocument/2006/relationships/slide" Target="slides/slide11.xml" /><Relationship Id="rId17" Type="http://schemas.openxmlformats.org/officeDocument/2006/relationships/font" Target="fonts/font1.fntdata" /><Relationship Id="rId25" Type="http://schemas.openxmlformats.org/officeDocument/2006/relationships/font" Target="fonts/font9.fntdata" /><Relationship Id="rId33" Type="http://schemas.openxmlformats.org/officeDocument/2006/relationships/font" Target="fonts/font17.fntdata" /><Relationship Id="rId38" Type="http://schemas.openxmlformats.org/officeDocument/2006/relationships/font" Target="fonts/font22.fntdata" /><Relationship Id="rId45" Type="http://schemas.openxmlformats.org/officeDocument/2006/relationships/notesMaster" Target="notesMasters/notesMaster1.xml" /></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a="http://schemas.openxmlformats.org/drawingml/2006/main" xmlns:c="http://schemas.openxmlformats.org/drawingml/2006/chart" xmlns:c14="http://schemas.microsoft.com/office/drawing/2007/8/2/chart" xmlns:c15="http://schemas.microsoft.com/office/drawing/2012/chart" xmlns:c16="http://schemas.microsoft.com/office/drawing/2014/chart" xmlns:c16r3="http://schemas.microsoft.com/office/drawing/2017/03/chart" xmlns:mc="http://schemas.openxmlformats.org/markup-compatibility/2006" xmlns:r="http://schemas.openxmlformats.org/officeDocument/2006/relationships">
  <c:date1904 val="0"/>
  <c:lang val="en-US"/>
  <c:roundedCorners val="0"/>
  <mc:AlternateContent>
    <mc:Choice Requires="c14">
      <c14:style val="102"/>
    </mc:Choice>
    <mc:Fallback>
      <c:style val="2"/>
    </mc:Fallback>
  </mc:AlternateContent>
  <c:chart>
    <c:autoTitleDeleted val="1"/>
    <c:plotArea>
      <c:layout>
        <c:manualLayout>
          <c:layoutTarget val="inner"/>
          <c:xMode val="edge"/>
          <c:yMode val="edge"/>
          <c:x val="8.2455523605030237E-2"/>
          <c:y val="0.16727494328876974"/>
          <c:w val="0.89079564466982142"/>
          <c:h val="0.69664696219264577"/>
        </c:manualLayout>
      </c:layout>
      <c:barChart>
        <c:barDir val="col"/>
        <c:grouping val="clustered"/>
        <c:varyColors val="0"/>
        <c:ser>
          <c:idx val="0"/>
          <c:order val="0"/>
          <c:tx>
            <c:strRef>
              <c:f>Sheet1!$B$1</c:f>
              <c:strCache>
                <c:ptCount val="1"/>
                <c:pt idx="0">
                  <c:v>Expected</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Event rows</c:v>
                </c:pt>
                <c:pt idx="1">
                  <c:v>Findings</c:v>
                </c:pt>
                <c:pt idx="2">
                  <c:v>Evidence IDs</c:v>
                </c:pt>
                <c:pt idx="3">
                  <c:v>Action owners</c:v>
                </c:pt>
              </c:strCache>
            </c:strRef>
          </c:cat>
          <c:val>
            <c:numRef>
              <c:f>Sheet1!$B$2:$B$5</c:f>
              <c:numCache>
                <c:formatCode>General</c:formatCode>
                <c:ptCount val="4"/>
                <c:pt idx="0">
                  <c:v>8</c:v>
                </c:pt>
                <c:pt idx="1">
                  <c:v>5</c:v>
                </c:pt>
                <c:pt idx="2">
                  <c:v>9</c:v>
                </c:pt>
                <c:pt idx="3">
                  <c:v>4</c:v>
                </c:pt>
              </c:numCache>
            </c:numRef>
          </c:val>
          <c:extLst>
            <c:ext uri="{C3380CC4-5D6E-409C-BE32-E72D297353CC}">
              <c16:uniqueId val="{00000000-230A-0D4B-B6D2-57328A27E5E2}"/>
            </c:ext>
          </c:extLst>
        </c:ser>
        <c:dLbls>
          <c:showLegendKey val="0"/>
          <c:showVal val="0"/>
          <c:showCatName val="0"/>
          <c:showSerName val="0"/>
          <c:showPercent val="0"/>
          <c:showBubbleSize val="0"/>
        </c:dLbls>
        <c:gapWidth val="83"/>
        <c:axId val="1785928255"/>
        <c:axId val="1769229823"/>
      </c:barChart>
      <c:lineChart>
        <c:grouping val="standard"/>
        <c:varyColors val="0"/>
        <c:ser>
          <c:idx val="1"/>
          <c:order val="1"/>
          <c:tx>
            <c:strRef>
              <c:f>Sheet1!$C$1</c:f>
              <c:strCache>
                <c:ptCount val="1"/>
                <c:pt idx="0">
                  <c:v>Observed</c:v>
                </c:pt>
              </c:strCache>
            </c:strRef>
          </c:tx>
          <c:spPr>
            <a:ln w="28575" cap="rnd">
              <a:solidFill>
                <a:schemeClr val="tx2">
                  <a:lumMod val="50000"/>
                  <a:lumOff val="50000"/>
                </a:schemeClr>
              </a:solidFill>
              <a:round/>
            </a:ln>
            <a:effectLst/>
          </c:spPr>
          <c:marker>
            <c:symbol val="circle"/>
            <c:size val="6"/>
            <c:spPr>
              <a:solidFill>
                <a:schemeClr val="tx2">
                  <a:lumMod val="50000"/>
                  <a:lumOff val="50000"/>
                </a:schemeClr>
              </a:solidFill>
              <a:ln w="9525">
                <a:solidFill>
                  <a:schemeClr val="tx2">
                    <a:lumMod val="50000"/>
                    <a:lumOff val="50000"/>
                  </a:schemeClr>
                </a:solidFill>
              </a:ln>
              <a:effectLst/>
            </c:spPr>
          </c:marker>
          <c:cat>
            <c:strRef>
              <c:f>Sheet1!$A$2:$A$5</c:f>
              <c:strCache>
                <c:ptCount val="4"/>
                <c:pt idx="0">
                  <c:v>Event rows</c:v>
                </c:pt>
                <c:pt idx="1">
                  <c:v>Findings</c:v>
                </c:pt>
                <c:pt idx="2">
                  <c:v>Evidence IDs</c:v>
                </c:pt>
                <c:pt idx="3">
                  <c:v>Action owners</c:v>
                </c:pt>
              </c:strCache>
            </c:strRef>
          </c:cat>
          <c:val>
            <c:numRef>
              <c:f>Sheet1!$C$2:$C$5</c:f>
              <c:numCache>
                <c:formatCode>General</c:formatCode>
                <c:ptCount val="4"/>
                <c:pt idx="0">
                  <c:v>8</c:v>
                </c:pt>
                <c:pt idx="1">
                  <c:v>5</c:v>
                </c:pt>
                <c:pt idx="2">
                  <c:v>9</c:v>
                </c:pt>
                <c:pt idx="3">
                  <c:v>3</c:v>
                </c:pt>
              </c:numCache>
            </c:numRef>
          </c:val>
          <c:smooth val="0"/>
          <c:extLst>
            <c:ext uri="{C3380CC4-5D6E-409C-BE32-E72D297353CC}">
              <c16:uniqueId val="{00000001-230A-0D4B-B6D2-57328A27E5E2}"/>
            </c:ext>
          </c:extLst>
        </c:ser>
        <c:dLbls>
          <c:showLegendKey val="0"/>
          <c:showVal val="0"/>
          <c:showCatName val="0"/>
          <c:showSerName val="0"/>
          <c:showPercent val="0"/>
          <c:showBubbleSize val="0"/>
        </c:dLbls>
        <c:marker val="1"/>
        <c:smooth val="0"/>
        <c:axId val="1785928255"/>
        <c:axId val="1769229823"/>
      </c:lineChart>
      <c:catAx>
        <c:axId val="1785928255"/>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crossAx val="1769229823"/>
        <c:crosses val="autoZero"/>
        <c:auto val="1"/>
        <c:lblAlgn val="ctr"/>
        <c:lblOffset val="100"/>
        <c:noMultiLvlLbl val="0"/>
      </c:catAx>
      <c:valAx>
        <c:axId val="1769229823"/>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pPr>
            <a:endParaRPr lang="en-US"/>
          </a:p>
        </c:txPr>
        <c:crossAx val="1785928255"/>
        <c:crosses val="autoZero"/>
        <c:crossBetween val="between"/>
      </c:valAx>
      <c:spPr>
        <a:noFill/>
        <a:ln>
          <a:noFill/>
        </a:ln>
        <a:effectLst/>
      </c:spPr>
    </c:plotArea>
    <c:legend>
      <c:legendPos val="b"/>
      <c:layout>
        <c:manualLayout>
          <c:xMode val="edge"/>
          <c:yMode val="edge"/>
          <c:x val="0.58067453497943666"/>
          <c:y val="2.738737462131148E-2"/>
          <c:w val="0.39987338466900668"/>
          <c:h val="4.6123948895864915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this as an internal business review of a working hackathon MVP, not an operating company with proven revenue. The fictional hospital outage is demonstration data. The product promise is to keep draft findings connected to exact source records and human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agenda to move from what is built, to what the synthetic test measured, to what remains a market hypothesis. The reported values are closed-fixture technical results only; there are no validated prices, costs, or sales estimates. The final section proposes discovery and a paired review; no pilot or schedule is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MVP and the benchmark carefully: 8 of 8 log rows, 5 of 5 expected finding labels, and 9 of 9 expected evidence IDs matched in one synthetic fixture. An ID link is not a human judgment that the source supports the claim. The requested decision is to conduct discovery and design a paired review, subject to interest and privacy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local demo includes exercise setup, evidence uploads, timeline, proposed findings, reviewer decisions, action tracking, and PDF export. The clean fixture results show that this workflow runs on its designed sample. They do not establish performance on new exercises. Hospital-preparedness evaluators are the proposed first users; buyer roles and demand are unknown.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these as proposed discovery and review steps. Interview two or three prospective hospital evaluators, observe a current workflow with permission, and compare the process with DrillLoop on the same permitted records. Measure time, evaluator corrections, citation support, and action completeness. Do not report savings before measuring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After-action reports and corrective-action follow-up already exist in emergency-management platforms. DrillLoop should not claim those features are unique. The positioning hypothesis is a connected source-to-claim-to-review-to-closure trail. Pilot participants should decide whether that trace helps and whether it fits their current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what is in the MVP and what is still missing. Optional faster-whisper speech transcription and local Ollama wording were not used in the benchmark. The sample fixture was deliberately built for the rules, so perfect scores do not predict performance elsewhere. No unfamiliar exercise, human workload, or real-audio accuracy study was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hospital-preparedness evaluators reviewing tabletop exercises. Municipal teams, airports, civil defense, training providers, defense-support teams, and critical infrastructure operators remain later hypotheses. No customer list, sales pipeline, market-size, or willingness-to-pay evidence is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benchmark result with its boundary. Event rows, finding labels, and evidence IDs are checked against one closed fictional fixture. Citation IDs being present does not prove semantic support. The conflict and untimed note remain visible. The 31-of-32 action field result includes one intentionally blank owner. The median is the middle request time; the 95th percentile is the time by which 95% of 12 local requests finished. Latency and memory exclude optional model inference.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compares expected with found or assigned counts in the single synthetic fixture. Categories have different denominators, so compare within a category rather than across categories. Action owners are 3 of 4 because one is intentionally missing. This is a pipeline check, not a field accuracy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price, cost, revenue, purchase volume, or staffing assumption is validated. The first commercial model to investigate is a per-exercise pilot fee. Gather the actual buyer, procurement route, delivery effort, security requirements, and customer workload baseline before preparing a financial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proposed stages, not a committed schedule. First conduct discovery with hospital-preparedness evaluators, then compare current review and DrillLoop on the same permitted records. If a partner approves access to an unfamiliar exercise, evaluate generalization and agree success thresholds together. Product hardening depends on evidence and partner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is illustrative and has no confirmed dates, partner, or staffing allocation. Evidence permissions and reviewer availability determine whether each step can proceed; no pilot schedule has been agreed.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requested next step: authorize discovery and design a paired review for the hospital tabletop use case. Interview two or three prospective evaluators and observe current practice only with permission. Compare current workflow and DrillLoop on the same approved records; return with measured evidence before proposing a pilot or thresholds. No partner, date, or pilot commitment is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004A5-B645-655E-5362-4217D55892E1}"/>
              </a:ext>
            </a:extLst>
          </p:cNvPr>
          <p:cNvSpPr>
            <a:spLocks noGrp="1"/>
          </p:cNvSpPr>
          <p:nvPr>
            <p:ph type="ctrTitle"/>
          </p:nvPr>
        </p:nvSpPr>
        <p:spPr>
          <a:xfrm>
            <a:off x="393700" y="1041400"/>
            <a:ext cx="7493000" cy="2491490"/>
          </a:xfrm>
        </p:spPr>
        <p:txBody>
          <a:bodyPr anchor="b"/>
          <a:lstStyle>
            <a:lvl1pPr algn="l">
              <a:defRPr sz="6000" b="1" i="0">
                <a:latin typeface="Lora SemiBold" pitchFamily="2" charset="77"/>
              </a:defRPr>
            </a:lvl1pPr>
          </a:lstStyle>
          <a:p>
            <a:r>
              <a:rPr lang="en-US" dirty="0"/>
              <a:t>Click to edit Master title style</a:t>
            </a:r>
          </a:p>
        </p:txBody>
      </p:sp>
      <p:sp>
        <p:nvSpPr>
          <p:cNvPr id="3" name="Subtitle 2">
            <a:extLst>
              <a:ext uri="{FF2B5EF4-FFF2-40B4-BE49-F238E27FC236}">
                <a16:creationId xmlns:a16="http://schemas.microsoft.com/office/drawing/2014/main" id="{C57031B1-59B2-C235-9FDD-8050418A5FD8}"/>
              </a:ext>
            </a:extLst>
          </p:cNvPr>
          <p:cNvSpPr>
            <a:spLocks noGrp="1"/>
          </p:cNvSpPr>
          <p:nvPr>
            <p:ph type="subTitle" idx="1"/>
          </p:nvPr>
        </p:nvSpPr>
        <p:spPr>
          <a:xfrm>
            <a:off x="393700" y="4356100"/>
            <a:ext cx="5537200" cy="1638300"/>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881485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5E851FDE-9E0B-568C-1CBA-E72B86CC06ED}"/>
              </a:ext>
            </a:extLst>
          </p:cNvPr>
          <p:cNvSpPr>
            <a:spLocks noGrp="1"/>
          </p:cNvSpPr>
          <p:nvPr>
            <p:ph idx="1"/>
          </p:nvPr>
        </p:nvSpPr>
        <p:spPr>
          <a:xfrm>
            <a:off x="393700" y="2032000"/>
            <a:ext cx="114046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4">
            <a:extLst>
              <a:ext uri="{FF2B5EF4-FFF2-40B4-BE49-F238E27FC236}">
                <a16:creationId xmlns:a16="http://schemas.microsoft.com/office/drawing/2014/main" id="{29CCD18F-3BF6-A3EE-DAAE-66BD406D7E8D}"/>
              </a:ext>
            </a:extLst>
          </p:cNvPr>
          <p:cNvSpPr>
            <a:spLocks noGrp="1"/>
          </p:cNvSpPr>
          <p:nvPr>
            <p:ph type="ftr" sz="quarter" idx="3"/>
          </p:nvPr>
        </p:nvSpPr>
        <p:spPr>
          <a:xfrm>
            <a:off x="393699" y="6279294"/>
            <a:ext cx="8129411"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0" name="Slide Number Placeholder 5">
            <a:extLst>
              <a:ext uri="{FF2B5EF4-FFF2-40B4-BE49-F238E27FC236}">
                <a16:creationId xmlns:a16="http://schemas.microsoft.com/office/drawing/2014/main" id="{5186992D-ADA6-5A23-EBD5-6BEF0A2E61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2" name="Title Placeholder 1">
            <a:extLst>
              <a:ext uri="{FF2B5EF4-FFF2-40B4-BE49-F238E27FC236}">
                <a16:creationId xmlns:a16="http://schemas.microsoft.com/office/drawing/2014/main" id="{CDBB333F-FFCF-AA9E-7AC0-64DB02353FBC}"/>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2653353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4DCC3060-FADA-4310-30F9-24EC34B5AA87}"/>
              </a:ext>
            </a:extLst>
          </p:cNvPr>
          <p:cNvSpPr>
            <a:spLocks noGrp="1"/>
          </p:cNvSpPr>
          <p:nvPr>
            <p:ph idx="1"/>
          </p:nvPr>
        </p:nvSpPr>
        <p:spPr>
          <a:xfrm>
            <a:off x="393700" y="2032000"/>
            <a:ext cx="55372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19E7B047-08E6-29C1-F101-C084D555AACC}"/>
              </a:ext>
            </a:extLst>
          </p:cNvPr>
          <p:cNvSpPr>
            <a:spLocks noGrp="1"/>
          </p:cNvSpPr>
          <p:nvPr>
            <p:ph type="ftr" sz="quarter" idx="3"/>
          </p:nvPr>
        </p:nvSpPr>
        <p:spPr>
          <a:xfrm>
            <a:off x="393700" y="6279294"/>
            <a:ext cx="8705144"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1" name="Slide Number Placeholder 5">
            <a:extLst>
              <a:ext uri="{FF2B5EF4-FFF2-40B4-BE49-F238E27FC236}">
                <a16:creationId xmlns:a16="http://schemas.microsoft.com/office/drawing/2014/main" id="{3DE564C6-8AA0-935D-A919-07AFA15B335B}"/>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12" name="Text Placeholder 2">
            <a:extLst>
              <a:ext uri="{FF2B5EF4-FFF2-40B4-BE49-F238E27FC236}">
                <a16:creationId xmlns:a16="http://schemas.microsoft.com/office/drawing/2014/main" id="{4ABE46D3-8F05-1C7F-3EC7-20BFCC76C251}"/>
              </a:ext>
            </a:extLst>
          </p:cNvPr>
          <p:cNvSpPr>
            <a:spLocks noGrp="1"/>
          </p:cNvSpPr>
          <p:nvPr>
            <p:ph idx="10"/>
          </p:nvPr>
        </p:nvSpPr>
        <p:spPr>
          <a:xfrm>
            <a:off x="6256618" y="2032000"/>
            <a:ext cx="55372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739D2C21-36BF-25E7-8E97-1D17F313F7AF}"/>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980732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sz="quarter" idx="3"/>
          </p:nvPr>
        </p:nvSpPr>
        <p:spPr>
          <a:xfrm>
            <a:off x="393700" y="6279294"/>
            <a:ext cx="7493000"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14" name="Text Placeholder 2">
            <a:extLst>
              <a:ext uri="{FF2B5EF4-FFF2-40B4-BE49-F238E27FC236}">
                <a16:creationId xmlns:a16="http://schemas.microsoft.com/office/drawing/2014/main" id="{80E090C5-E6C8-92F2-E8C2-A840B8F1807D}"/>
              </a:ext>
            </a:extLst>
          </p:cNvPr>
          <p:cNvSpPr>
            <a:spLocks noGrp="1"/>
          </p:cNvSpPr>
          <p:nvPr>
            <p:ph idx="10"/>
          </p:nvPr>
        </p:nvSpPr>
        <p:spPr>
          <a:xfrm>
            <a:off x="4318000"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2">
            <a:extLst>
              <a:ext uri="{FF2B5EF4-FFF2-40B4-BE49-F238E27FC236}">
                <a16:creationId xmlns:a16="http://schemas.microsoft.com/office/drawing/2014/main" id="{0C6D2D15-AEC2-9F99-316F-C37AF863965D}"/>
              </a:ext>
            </a:extLst>
          </p:cNvPr>
          <p:cNvSpPr>
            <a:spLocks noGrp="1"/>
          </p:cNvSpPr>
          <p:nvPr>
            <p:ph idx="11"/>
          </p:nvPr>
        </p:nvSpPr>
        <p:spPr>
          <a:xfrm>
            <a:off x="8232273"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3840011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4826000"/>
            <a:ext cx="2595934" cy="1168400"/>
          </a:xfrm>
          <a:prstGeom prst="rect">
            <a:avLst/>
          </a:prstGeom>
        </p:spPr>
        <p:txBody>
          <a:bodyPr vert="horz" lIns="0" tIns="0" rIns="0" bIns="0" rtlCol="0">
            <a:normAutofit/>
          </a:bodyPr>
          <a:lstStyle>
            <a:lvl1pPr>
              <a:buNone/>
              <a:defRPr sz="1600"/>
            </a:lvl1pPr>
            <a:lvl2pPr>
              <a:buNone/>
              <a:defRPr sz="1600"/>
            </a:lvl2pPr>
            <a:lvl3pPr>
              <a:buNone/>
              <a:defRPr sz="1600"/>
            </a:lvl3pPr>
            <a:lvl4pPr>
              <a:buNone/>
              <a:defRPr sz="1600"/>
            </a:lvl4pPr>
            <a:lvl5pPr>
              <a:buNone/>
              <a:defRPr sz="1600"/>
            </a:lvl5pPr>
          </a:lstStyle>
          <a:p>
            <a:pPr lvl="0"/>
            <a:r>
              <a:rPr lang="en-US" dirty="0"/>
              <a:t>Click to edit Master</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sz="quarter" idx="3"/>
          </p:nvPr>
        </p:nvSpPr>
        <p:spPr>
          <a:xfrm>
            <a:off x="393699" y="6279294"/>
            <a:ext cx="8466647"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
        <p:nvSpPr>
          <p:cNvPr id="8" name="Text Placeholder 7">
            <a:extLst>
              <a:ext uri="{FF2B5EF4-FFF2-40B4-BE49-F238E27FC236}">
                <a16:creationId xmlns:a16="http://schemas.microsoft.com/office/drawing/2014/main" id="{4F70A9DA-D783-0627-3166-E13B68C2ADAC}"/>
              </a:ext>
            </a:extLst>
          </p:cNvPr>
          <p:cNvSpPr>
            <a:spLocks noGrp="1"/>
          </p:cNvSpPr>
          <p:nvPr>
            <p:ph type="body" sz="quarter" idx="12"/>
          </p:nvPr>
        </p:nvSpPr>
        <p:spPr>
          <a:xfrm>
            <a:off x="3334966" y="4826000"/>
            <a:ext cx="2595934" cy="1168400"/>
          </a:xfrm>
        </p:spPr>
        <p:txBody>
          <a:bodyPr/>
          <a:lstStyle>
            <a:lvl1pPr>
              <a:buNone/>
              <a:defRPr sz="1800"/>
            </a:lvl1pPr>
            <a:lvl2pPr>
              <a:buNone/>
              <a:defRPr sz="1800"/>
            </a:lvl2pPr>
            <a:lvl3pPr>
              <a:buNone/>
              <a:defRPr sz="1800"/>
            </a:lvl3pPr>
            <a:lvl4pPr>
              <a:buNone/>
              <a:defRPr sz="1800"/>
            </a:lvl4pPr>
            <a:lvl5pPr>
              <a:buNone/>
              <a:defRPr sz="1800"/>
            </a:lvl5pPr>
          </a:lstStyle>
          <a:p>
            <a:pPr lvl="0"/>
            <a:r>
              <a:rPr lang="en-US" dirty="0"/>
              <a:t>Click to edit Master</a:t>
            </a:r>
          </a:p>
        </p:txBody>
      </p:sp>
      <p:sp>
        <p:nvSpPr>
          <p:cNvPr id="9" name="Text Placeholder 2">
            <a:extLst>
              <a:ext uri="{FF2B5EF4-FFF2-40B4-BE49-F238E27FC236}">
                <a16:creationId xmlns:a16="http://schemas.microsoft.com/office/drawing/2014/main" id="{75BF2647-8E8C-CAEE-896D-0E1567AF7E99}"/>
              </a:ext>
            </a:extLst>
          </p:cNvPr>
          <p:cNvSpPr>
            <a:spLocks noGrp="1"/>
          </p:cNvSpPr>
          <p:nvPr>
            <p:ph idx="13"/>
          </p:nvPr>
        </p:nvSpPr>
        <p:spPr>
          <a:xfrm>
            <a:off x="6264413" y="4826000"/>
            <a:ext cx="2595934" cy="1168400"/>
          </a:xfrm>
          <a:prstGeom prst="rect">
            <a:avLst/>
          </a:prstGeom>
        </p:spPr>
        <p:txBody>
          <a:bodyPr vert="horz" lIns="0" tIns="0" rIns="0" bIns="0" rtlCol="0">
            <a:normAutofit/>
          </a:bodyPr>
          <a:lstStyle>
            <a:lvl1pPr>
              <a:buNone/>
              <a:defRPr sz="1600"/>
            </a:lvl1pPr>
            <a:lvl2pPr>
              <a:buNone/>
              <a:defRPr sz="1600"/>
            </a:lvl2pPr>
            <a:lvl3pPr>
              <a:buNone/>
              <a:defRPr sz="1600"/>
            </a:lvl3pPr>
            <a:lvl4pPr>
              <a:buNone/>
              <a:defRPr sz="1600"/>
            </a:lvl4pPr>
            <a:lvl5pPr>
              <a:buNone/>
              <a:defRPr sz="1600"/>
            </a:lvl5pPr>
          </a:lstStyle>
          <a:p>
            <a:pPr lvl="0"/>
            <a:r>
              <a:rPr lang="en-US" dirty="0"/>
              <a:t>Click to edit Master</a:t>
            </a:r>
          </a:p>
        </p:txBody>
      </p:sp>
      <p:sp>
        <p:nvSpPr>
          <p:cNvPr id="10" name="Text Placeholder 7">
            <a:extLst>
              <a:ext uri="{FF2B5EF4-FFF2-40B4-BE49-F238E27FC236}">
                <a16:creationId xmlns:a16="http://schemas.microsoft.com/office/drawing/2014/main" id="{37C6F143-221A-9959-8FBA-B9B1DB6602D0}"/>
              </a:ext>
            </a:extLst>
          </p:cNvPr>
          <p:cNvSpPr>
            <a:spLocks noGrp="1"/>
          </p:cNvSpPr>
          <p:nvPr>
            <p:ph type="body" sz="quarter" idx="14"/>
          </p:nvPr>
        </p:nvSpPr>
        <p:spPr>
          <a:xfrm>
            <a:off x="9205679" y="4826000"/>
            <a:ext cx="2595934" cy="1168400"/>
          </a:xfrm>
        </p:spPr>
        <p:txBody>
          <a:bodyPr/>
          <a:lstStyle>
            <a:lvl1pPr>
              <a:buNone/>
              <a:defRPr sz="1800"/>
            </a:lvl1pPr>
            <a:lvl2pPr>
              <a:buNone/>
              <a:defRPr sz="1800"/>
            </a:lvl2pPr>
            <a:lvl3pPr>
              <a:buNone/>
              <a:defRPr sz="1800"/>
            </a:lvl3pPr>
            <a:lvl4pPr>
              <a:buNone/>
              <a:defRPr sz="1800"/>
            </a:lvl4pPr>
            <a:lvl5pPr>
              <a:buNone/>
              <a:defRPr sz="1800"/>
            </a:lvl5pPr>
          </a:lstStyle>
          <a:p>
            <a:pPr lvl="0"/>
            <a:r>
              <a:rPr lang="en-US" dirty="0"/>
              <a:t>Click to edit Master</a:t>
            </a:r>
          </a:p>
        </p:txBody>
      </p:sp>
    </p:spTree>
    <p:extLst>
      <p:ext uri="{BB962C8B-B14F-4D97-AF65-F5344CB8AC3E}">
        <p14:creationId xmlns:p14="http://schemas.microsoft.com/office/powerpoint/2010/main" val="971241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DB1182C5-F22B-2641-06DE-4EDACA3C1DDD}"/>
              </a:ext>
            </a:extLst>
          </p:cNvPr>
          <p:cNvSpPr>
            <a:spLocks noGrp="1"/>
          </p:cNvSpPr>
          <p:nvPr>
            <p:ph type="ftr" sz="quarter" idx="3"/>
          </p:nvPr>
        </p:nvSpPr>
        <p:spPr>
          <a:xfrm>
            <a:off x="393699" y="6279294"/>
            <a:ext cx="7361767"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9" name="Slide Number Placeholder 5">
            <a:extLst>
              <a:ext uri="{FF2B5EF4-FFF2-40B4-BE49-F238E27FC236}">
                <a16:creationId xmlns:a16="http://schemas.microsoft.com/office/drawing/2014/main" id="{F97A4AD5-204B-38FD-4F33-270C2F9F5CC6}"/>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2" name="Title Placeholder 1">
            <a:extLst>
              <a:ext uri="{FF2B5EF4-FFF2-40B4-BE49-F238E27FC236}">
                <a16:creationId xmlns:a16="http://schemas.microsoft.com/office/drawing/2014/main" id="{75CF9983-3FD7-FAE4-9F0B-B2CE806D891D}"/>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1694105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1012CBCC-C555-8C11-443D-86D6F7A45CF8}"/>
              </a:ext>
            </a:extLst>
          </p:cNvPr>
          <p:cNvSpPr>
            <a:spLocks noGrp="1"/>
          </p:cNvSpPr>
          <p:nvPr>
            <p:ph type="ftr" sz="quarter" idx="3"/>
          </p:nvPr>
        </p:nvSpPr>
        <p:spPr>
          <a:xfrm>
            <a:off x="393700" y="6279294"/>
            <a:ext cx="7587544"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8" name="Slide Number Placeholder 5">
            <a:extLst>
              <a:ext uri="{FF2B5EF4-FFF2-40B4-BE49-F238E27FC236}">
                <a16:creationId xmlns:a16="http://schemas.microsoft.com/office/drawing/2014/main" id="{B69B260B-B882-BF7F-1BB1-28B9578A25A2}"/>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Tree>
    <p:extLst>
      <p:ext uri="{BB962C8B-B14F-4D97-AF65-F5344CB8AC3E}">
        <p14:creationId xmlns:p14="http://schemas.microsoft.com/office/powerpoint/2010/main" val="1856794158"/>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2548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87ED2E-D8FF-5C8C-ED50-59BA3091C3E1}"/>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05B0E1CB-6DCA-2E9F-2B74-4309B4084C09}"/>
              </a:ext>
            </a:extLst>
          </p:cNvPr>
          <p:cNvSpPr>
            <a:spLocks noGrp="1"/>
          </p:cNvSpPr>
          <p:nvPr>
            <p:ph type="body" idx="1"/>
          </p:nvPr>
        </p:nvSpPr>
        <p:spPr>
          <a:xfrm>
            <a:off x="393700" y="2032000"/>
            <a:ext cx="11404600" cy="3962400"/>
          </a:xfrm>
          <a:prstGeom prst="rect">
            <a:avLst/>
          </a:prstGeom>
        </p:spPr>
        <p:txBody>
          <a:bodyPr vert="horz" lIns="0" tIns="0" rIns="0" bIns="0" rtlCol="0">
            <a:normAutofit/>
          </a:bodyPr>
          <a:lstStyle/>
          <a:p>
            <a:pPr lvl="0"/>
            <a:r>
              <a:rPr lang="en-US" dirty="0"/>
              <a:t>Click to edit Master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C75650C-2983-5B02-8421-FF1818435433}"/>
              </a:ext>
            </a:extLst>
          </p:cNvPr>
          <p:cNvSpPr>
            <a:spLocks noGrp="1"/>
          </p:cNvSpPr>
          <p:nvPr>
            <p:ph type="ftr" sz="quarter" idx="3"/>
          </p:nvPr>
        </p:nvSpPr>
        <p:spPr>
          <a:xfrm>
            <a:off x="393700" y="6279294"/>
            <a:ext cx="7531100"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6" name="Slide Number Placeholder 5">
            <a:extLst>
              <a:ext uri="{FF2B5EF4-FFF2-40B4-BE49-F238E27FC236}">
                <a16:creationId xmlns:a16="http://schemas.microsoft.com/office/drawing/2014/main" id="{D872C88C-1AB3-96BA-C9E5-3435A4BD59BB}"/>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Tree>
    <p:extLst>
      <p:ext uri="{BB962C8B-B14F-4D97-AF65-F5344CB8AC3E}">
        <p14:creationId xmlns:p14="http://schemas.microsoft.com/office/powerpoint/2010/main" val="2081855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9" r:id="rId5"/>
    <p:sldLayoutId id="2147483654" r:id="rId6"/>
    <p:sldLayoutId id="2147483655" r:id="rId7"/>
    <p:sldLayoutId id="2147483656" r:id="rId8"/>
  </p:sldLayoutIdLst>
  <p:hf hdr="0" dt="0"/>
  <p:txStyles>
    <p:titleStyle>
      <a:lvl1pPr algn="l" defTabSz="914400" rtl="0" eaLnBrk="1" latinLnBrk="0" hangingPunct="1">
        <a:lnSpc>
          <a:spcPct val="90000"/>
        </a:lnSpc>
        <a:spcBef>
          <a:spcPct val="0"/>
        </a:spcBef>
        <a:buNone/>
        <a:defRPr sz="2900" b="1" i="0" kern="1200">
          <a:solidFill>
            <a:schemeClr val="tx1"/>
          </a:solidFill>
          <a:latin typeface="Lora SemiBold" pitchFamily="2" charset="77"/>
          <a:ea typeface="+mj-ea"/>
          <a:cs typeface="Roboto Serif 14pt Medium" pitchFamily="2" charset="77"/>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248" userDrawn="1">
          <p15:clr>
            <a:srgbClr val="F26B43"/>
          </p15:clr>
        </p15:guide>
        <p15:guide id="4" pos="1264" userDrawn="1">
          <p15:clr>
            <a:srgbClr val="F26B43"/>
          </p15:clr>
        </p15:guide>
        <p15:guide id="5" pos="1480" userDrawn="1">
          <p15:clr>
            <a:srgbClr val="F26B43"/>
          </p15:clr>
        </p15:guide>
        <p15:guide id="6" pos="2520" userDrawn="1">
          <p15:clr>
            <a:srgbClr val="F26B43"/>
          </p15:clr>
        </p15:guide>
        <p15:guide id="7" pos="2712" userDrawn="1">
          <p15:clr>
            <a:srgbClr val="F26B43"/>
          </p15:clr>
        </p15:guide>
        <p15:guide id="8" pos="3736" userDrawn="1">
          <p15:clr>
            <a:srgbClr val="F26B43"/>
          </p15:clr>
        </p15:guide>
        <p15:guide id="9" pos="3944" userDrawn="1">
          <p15:clr>
            <a:srgbClr val="F26B43"/>
          </p15:clr>
        </p15:guide>
        <p15:guide id="10" pos="4968" userDrawn="1">
          <p15:clr>
            <a:srgbClr val="F26B43"/>
          </p15:clr>
        </p15:guide>
        <p15:guide id="11" pos="5184" userDrawn="1">
          <p15:clr>
            <a:srgbClr val="F26B43"/>
          </p15:clr>
        </p15:guide>
        <p15:guide id="12" pos="6200" userDrawn="1">
          <p15:clr>
            <a:srgbClr val="F26B43"/>
          </p15:clr>
        </p15:guide>
        <p15:guide id="13" pos="6416" userDrawn="1">
          <p15:clr>
            <a:srgbClr val="F26B43"/>
          </p15:clr>
        </p15:guide>
        <p15:guide id="14" pos="7432" userDrawn="1">
          <p15:clr>
            <a:srgbClr val="F26B43"/>
          </p15:clr>
        </p15:guide>
        <p15:guide id="15" orient="horz" userDrawn="1">
          <p15:clr>
            <a:srgbClr val="F26B43"/>
          </p15:clr>
        </p15:guide>
        <p15:guide id="17" orient="horz" pos="248" userDrawn="1">
          <p15:clr>
            <a:srgbClr val="F26B43"/>
          </p15:clr>
        </p15:guide>
        <p15:guide id="18" orient="horz" pos="656" userDrawn="1">
          <p15:clr>
            <a:srgbClr val="F26B43"/>
          </p15:clr>
        </p15:guide>
        <p15:guide id="19" orient="horz" pos="872" userDrawn="1">
          <p15:clr>
            <a:srgbClr val="F26B43"/>
          </p15:clr>
        </p15:guide>
        <p15:guide id="20" orient="horz" pos="1280" userDrawn="1">
          <p15:clr>
            <a:srgbClr val="F26B43"/>
          </p15:clr>
        </p15:guide>
        <p15:guide id="21" orient="horz" pos="1496" userDrawn="1">
          <p15:clr>
            <a:srgbClr val="F26B43"/>
          </p15:clr>
        </p15:guide>
        <p15:guide id="22" orient="horz" pos="1904" userDrawn="1">
          <p15:clr>
            <a:srgbClr val="F26B43"/>
          </p15:clr>
        </p15:guide>
        <p15:guide id="23" orient="horz" pos="2120" userDrawn="1">
          <p15:clr>
            <a:srgbClr val="F26B43"/>
          </p15:clr>
        </p15:guide>
        <p15:guide id="24" orient="horz" pos="2528" userDrawn="1">
          <p15:clr>
            <a:srgbClr val="F26B43"/>
          </p15:clr>
        </p15:guide>
        <p15:guide id="25" orient="horz" pos="2744" userDrawn="1">
          <p15:clr>
            <a:srgbClr val="F26B43"/>
          </p15:clr>
        </p15:guide>
        <p15:guide id="26" orient="horz" pos="3152" userDrawn="1">
          <p15:clr>
            <a:srgbClr val="F26B43"/>
          </p15:clr>
        </p15:guide>
        <p15:guide id="27" orient="horz" pos="3368" userDrawn="1">
          <p15:clr>
            <a:srgbClr val="F26B43"/>
          </p15:clr>
        </p15:guide>
        <p15:guide id="28" orient="horz" pos="3776" userDrawn="1">
          <p15:clr>
            <a:srgbClr val="F26B43"/>
          </p15:clr>
        </p15:guide>
        <p15:guide id="29" orient="horz" pos="4088" userDrawn="1">
          <p15:clr>
            <a:srgbClr val="F26B43"/>
          </p15:clr>
        </p15:guide>
      </p15:sldGuideLst>
    </p:ext>
  </p:ext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3" Type="http://schemas.openxmlformats.org/officeDocument/2006/relationships/chart" Target="../charts/chart1.xml" /><Relationship Id="rId1" Type="http://schemas.openxmlformats.org/officeDocument/2006/relationships/slideLayout" Target="../slideLayouts/slideLayout6.xml" /><Relationship Id="rId4"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slide1.xml><?xml version="1.0" encoding="utf-8"?>
<p:sld xmlns:a="http://schemas.openxmlformats.org/drawingml/2006/main" xmlns:a16="http://schemas.microsoft.com/office/drawing/2014/main"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4" name="Title 3">
            <a:extLst>
              <a:ext uri="{FF2B5EF4-FFF2-40B4-BE49-F238E27FC236}">
                <a16:creationId id="{706809B0-D483-45C1-B580-B57BB5CC520A}"/>
              </a:ext>
            </a:extLst>
          </p:cNvPr>
          <p:cNvSpPr>
            <a:spLocks noGrp="1"/>
          </p:cNvSpPr>
          <p:nvPr>
            <p:ph type="ctrTitle"/>
          </p:nvPr>
        </p:nvSpPr>
        <p:spPr>
          <a:xfrm>
            <a:off x="569969" y="1444887"/>
            <a:ext cx="9448800" cy="1726468"/>
          </a:xfrm>
        </p:spPr>
        <p:txBody>
          <a:bodyPr anchor="t">
            <a:noAutofit/>
          </a:bodyPr>
          <a:lstStyle/>
          <a:p>
            <a:r>
              <a:rPr lang="en-US" sz="5500" dirty="0">
                <a:solidFill>
                  <a:schemeClr val="accent1"/>
                </a:solidFill>
                <a:latin typeface="Lora Medium" pitchFamily="2" charset="77"/>
                <a:cs typeface="Roboto Serif 14pt" pitchFamily="2" charset="77"/>
              </a:rPr>
              <a:t>DrillLoop Q4 Business Review</a:t>
            </a:r>
          </a:p>
        </p:txBody>
      </p:sp>
      <p:sp>
        <p:nvSpPr>
          <p:cNvPr id="5" name="Subtitle 4">
            <a:extLst>
              <a:ext uri="{FF2B5EF4-FFF2-40B4-BE49-F238E27FC236}">
                <a16:creationId id="{7DD11E6E-01C0-D6E4-28D7-D7F6B94AF61C}"/>
              </a:ext>
            </a:extLst>
          </p:cNvPr>
          <p:cNvSpPr>
            <a:spLocks noGrp="1"/>
          </p:cNvSpPr>
          <p:nvPr>
            <p:ph type="subTitle" idx="1"/>
          </p:nvPr>
        </p:nvSpPr>
        <p:spPr>
          <a:xfrm>
            <a:off x="603019" y="5077241"/>
            <a:ext cx="6304556" cy="1076208"/>
          </a:xfrm>
          <a:noFill/>
        </p:spPr>
        <p:txBody>
          <a:bodyPr>
            <a:noAutofit/>
          </a:bodyPr>
          <a:lstStyle/>
          <a:p>
            <a:pPr>
              <a:lnSpc>
                <a:spcPct val="120000"/>
              </a:lnSpc>
            </a:pPr>
            <a:r>
              <a:rPr lang="en-US" sz="1400" dirty="0">
                <a:solidFill>
                  <a:schemeClr val="accent2">
                    <a:lumMod val="50000"/>
                  </a:schemeClr>
                </a:solidFill>
              </a:rPr>
              <a:t>Review of MVP delivery, synthetic demo results, commercial hypotheses, and next proof points. Pricing, delivery costs, customer demand, evaluator time savings, and real-world accuracy remain unvalidated.</a:t>
            </a:r>
          </a:p>
        </p:txBody>
      </p:sp>
      <p:sp>
        <p:nvSpPr>
          <p:cNvPr id="6" name="Subtitle 4">
            <a:extLst>
              <a:ext uri="{FF2B5EF4-FFF2-40B4-BE49-F238E27FC236}">
                <a16:creationId id="{C66AB198-0518-67DE-AB81-D65264FDA20F}"/>
              </a:ext>
            </a:extLst>
          </p:cNvPr>
          <p:cNvSpPr txBox="1">
            <a:spLocks/>
          </p:cNvSpPr>
          <p:nvPr/>
        </p:nvSpPr>
        <p:spPr>
          <a:xfrm>
            <a:off x="603018" y="4606175"/>
            <a:ext cx="6304556" cy="320279"/>
          </a:xfrm>
          <a:prstGeom prst="rect">
            <a:avLst/>
          </a:prstGeom>
          <a:noFill/>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600" b="1" dirty="0">
                <a:solidFill>
                  <a:schemeClr val="accent1"/>
                </a:solidFill>
                <a:latin typeface="Roboto SemiBold" panose="02000000000000000000" pitchFamily="2" charset="0"/>
                <a:ea typeface="Roboto SemiBold" panose="02000000000000000000" pitchFamily="2" charset="0"/>
              </a:rPr>
              <a:t>Q4 2026 · Status as of 27 October</a:t>
            </a:r>
          </a:p>
        </p:txBody>
      </p:sp>
      <p:sp>
        <p:nvSpPr>
          <p:cNvPr id="10" name="Subtitle 4">
            <a:extLst>
              <a:ext uri="{FF2B5EF4-FFF2-40B4-BE49-F238E27FC236}">
                <a16:creationId id="{CC2E0538-5645-7BC8-CF3A-FDF31FD97820}"/>
              </a:ext>
            </a:extLst>
          </p:cNvPr>
          <p:cNvSpPr txBox="1">
            <a:spLocks/>
          </p:cNvSpPr>
          <p:nvPr/>
        </p:nvSpPr>
        <p:spPr>
          <a:xfrm>
            <a:off x="603018" y="555606"/>
            <a:ext cx="3578411" cy="345178"/>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dirty="0">
                <a:solidFill>
                  <a:schemeClr val="accent2">
                    <a:lumMod val="90000"/>
                  </a:schemeClr>
                </a:solidFill>
                <a:latin typeface="Roboto Medium" panose="02000000000000000000" pitchFamily="2" charset="0"/>
                <a:ea typeface="Roboto Medium" panose="02000000000000000000" pitchFamily="2" charset="0"/>
              </a:rPr>
              <a:t>DrillLoop · Product review</a:t>
            </a:r>
          </a:p>
        </p:txBody>
      </p:sp>
      <p:cxnSp>
        <p:nvCxnSpPr>
          <p:cNvPr id="7" name="Straight Connector 6">
            <a:extLst>
              <a:ext uri="{FF2B5EF4-FFF2-40B4-BE49-F238E27FC236}">
                <a16:creationId id="{89432B40-3197-639D-BB29-4C7C5CB396D4}"/>
              </a:ext>
            </a:extLst>
          </p:cNvPr>
          <p:cNvCxnSpPr>
            <a:cxnSpLocks/>
          </p:cNvCxnSpPr>
          <p:nvPr/>
        </p:nvCxnSpPr>
        <p:spPr>
          <a:xfrm>
            <a:off x="-183260" y="3934067"/>
            <a:ext cx="1255852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val="1685088558"/>
      </p:ext>
    </p:extLst>
  </p:cSld>
  <p:clrMapOvr>
    <a:masterClrMapping/>
  </p:clrMapOvr>
</p:sld>
</file>

<file path=ppt/slides/slide2.xml><?xml version="1.0" encoding="utf-8"?>
<p:sld xmlns:a="http://schemas.openxmlformats.org/drawingml/2006/main" xmlns:a16="http://schemas.microsoft.com/office/drawing/2014/main" xmlns:p="http://schemas.openxmlformats.org/presentationml/2006/main" xmlns:p14="http://schemas.microsoft.com/office/powerpoint/2010/main">
  <p:cSld>
    <p:spTree>
      <p:nvGrpSpPr>
        <p:cNvPr id="1" name="">
          <a:extLst>
            <a:ext uri="{FF2B5EF4-FFF2-40B4-BE49-F238E27FC236}">
              <a16:creationId id="{7C141967-5EF0-A8CE-385B-6D0A5866ECFF}"/>
            </a:ext>
          </a:extLst>
        </p:cNvPr>
        <p:cNvGrpSpPr/>
        <p:nvPr/>
      </p:nvGrpSpPr>
      <p:grpSpPr>
        <a:xfrm>
          <a:off x="0" y="0"/>
          <a:ext cx="0" cy="0"/>
          <a:chOff x="0" y="0"/>
          <a:chExt cx="0" cy="0"/>
        </a:xfrm>
      </p:grpSpPr>
      <p:sp>
        <p:nvSpPr>
          <p:cNvPr id="2" name="Slide Number Placeholder 1">
            <a:extLst>
              <a:ext uri="{FF2B5EF4-FFF2-40B4-BE49-F238E27FC236}">
                <a16:creationId id="{3108432E-6CC9-7470-65A5-7F6A330EFB4F}"/>
              </a:ext>
            </a:extLst>
          </p:cNvPr>
          <p:cNvSpPr>
            <a:spLocks noGrp="1"/>
          </p:cNvSpPr>
          <p:nvPr>
            <p:ph type="sldNum" sz="quarter" idx="4"/>
          </p:nvPr>
        </p:nvSpPr>
        <p:spPr/>
        <p:txBody>
          <a:bodyPr/>
          <a:lstStyle/>
          <a:p>
            <a:fld id="{00000000-1234-1234-1234-123412341234}" type="slidenum">
              <a:rPr lang="en" smtClean="0"/>
              <a:pPr/>
              <a:t>2</a:t>
            </a:fld>
            <a:endParaRPr lang="en"/>
          </a:p>
        </p:txBody>
      </p:sp>
      <p:sp>
        <p:nvSpPr>
          <p:cNvPr id="3" name="Title 2">
            <a:extLst>
              <a:ext uri="{FF2B5EF4-FFF2-40B4-BE49-F238E27FC236}">
                <a16:creationId id="{40BD946D-556A-ECA8-679C-19ABE963A4E5}"/>
              </a:ext>
            </a:extLst>
          </p:cNvPr>
          <p:cNvSpPr>
            <a:spLocks noGrp="1"/>
          </p:cNvSpPr>
          <p:nvPr>
            <p:ph type="title"/>
          </p:nvPr>
        </p:nvSpPr>
        <p:spPr>
          <a:xfrm>
            <a:off x="393699" y="1046195"/>
            <a:ext cx="9448800" cy="985805"/>
          </a:xfrm>
        </p:spPr>
        <p:txBody>
          <a:bodyPr>
            <a:normAutofit/>
          </a:bodyPr>
          <a:lstStyle/>
          <a:p>
            <a:r>
              <a:rPr lang="en-US" dirty="0"/>
              <a:t>MVP, evidence, economics, and decisions</a:t>
            </a:r>
          </a:p>
        </p:txBody>
      </p:sp>
      <p:sp>
        <p:nvSpPr>
          <p:cNvPr id="5" name="Subtitle 4">
            <a:extLst>
              <a:ext uri="{FF2B5EF4-FFF2-40B4-BE49-F238E27FC236}">
                <a16:creationId id="{173F7058-30A0-0125-1A90-B808A012B5B4}"/>
              </a:ext>
            </a:extLst>
          </p:cNvPr>
          <p:cNvSpPr txBox="1">
            <a:spLocks/>
          </p:cNvSpPr>
          <p:nvPr/>
        </p:nvSpPr>
        <p:spPr>
          <a:xfrm>
            <a:off x="393699" y="392242"/>
            <a:ext cx="3578411" cy="345178"/>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dirty="0">
                <a:solidFill>
                  <a:schemeClr val="accent1"/>
                </a:solidFill>
                <a:latin typeface="Roboto Medium" panose="02000000000000000000" pitchFamily="2" charset="0"/>
                <a:ea typeface="Roboto Medium" panose="02000000000000000000" pitchFamily="2" charset="0"/>
              </a:rPr>
              <a:t>Agenda</a:t>
            </a:r>
          </a:p>
        </p:txBody>
      </p:sp>
      <p:graphicFrame>
        <p:nvGraphicFramePr>
          <p:cNvPr id="7" name="Table 6">
            <a:extLst>
              <a:ext uri="{FF2B5EF4-FFF2-40B4-BE49-F238E27FC236}">
                <a16:creationId id="{AEB3874C-EF1B-D79F-C3F5-6702ABF89D27}"/>
              </a:ext>
            </a:extLst>
          </p:cNvPr>
          <p:cNvGraphicFramePr>
            <a:graphicFrameLocks noGrp="1"/>
          </p:cNvGraphicFramePr>
          <p:nvPr>
            <p:extLst>
              <p:ext uri="{D42A27DB-BD31-4B8C-83A1-F6EECF244321}">
                <p14:modId val="1396004950"/>
              </p:ext>
            </p:extLst>
          </p:nvPr>
        </p:nvGraphicFramePr>
        <p:xfrm>
          <a:off x="393700" y="2573020"/>
          <a:ext cx="11404600" cy="3566160"/>
        </p:xfrm>
        <a:graphic>
          <a:graphicData uri="http://schemas.openxmlformats.org/drawingml/2006/table">
            <a:tbl>
              <a:tblPr firstRow="1" bandRow="1">
                <a:tableStyleId>{5C22544A-7EE6-4342-B048-85BDC9FD1C3A}</a:tableStyleId>
              </a:tblPr>
              <a:tblGrid>
                <a:gridCol w="627578">
                  <a:extLst>
                    <a:ext uri="{9D8B030D-6E8A-4147-A177-3AD203B41FA5}">
                      <a16:colId val="1631070132"/>
                    </a:ext>
                  </a:extLst>
                </a:gridCol>
                <a:gridCol w="6875813">
                  <a:extLst>
                    <a:ext uri="{9D8B030D-6E8A-4147-A177-3AD203B41FA5}">
                      <a16:colId val="1616312772"/>
                    </a:ext>
                  </a:extLst>
                </a:gridCol>
                <a:gridCol w="3901209">
                  <a:extLst>
                    <a:ext uri="{9D8B030D-6E8A-4147-A177-3AD203B41FA5}">
                      <a16:colId val="3389027217"/>
                    </a:ext>
                  </a:extLst>
                </a:gridCol>
              </a:tblGrid>
              <a:tr h="594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chemeClr val="accent2">
                              <a:lumMod val="75000"/>
                            </a:schemeClr>
                          </a:solidFill>
                          <a:effectLst/>
                          <a:uLnTx/>
                          <a:uFillTx/>
                          <a:latin typeface="+mn-lt"/>
                          <a:ea typeface="+mn-ea"/>
                          <a:cs typeface="+mn-cs"/>
                        </a:rPr>
                        <a:t>01</a:t>
                      </a:r>
                    </a:p>
                  </a:txBody>
                  <a:tcPr marL="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prstClr val="black"/>
                          </a:solidFill>
                          <a:effectLst/>
                          <a:uLnTx/>
                          <a:uFillTx/>
                          <a:latin typeface="+mn-lt"/>
                          <a:ea typeface="+mn-ea"/>
                          <a:cs typeface="+mn-cs"/>
                        </a:rPr>
                        <a:t>MVP status</a:t>
                      </a:r>
                    </a:p>
                  </a:txBody>
                  <a:tcPr marL="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mn-cs"/>
                        </a:rPr>
                        <a:t>Build</a:t>
                      </a:r>
                    </a:p>
                  </a:txBody>
                  <a:tcPr marL="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val="492842163"/>
                  </a:ext>
                </a:extLst>
              </a:tr>
              <a:tr h="594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chemeClr val="accent2">
                              <a:lumMod val="75000"/>
                            </a:schemeClr>
                          </a:solidFill>
                          <a:effectLst/>
                          <a:uLnTx/>
                          <a:uFillTx/>
                          <a:latin typeface="+mn-lt"/>
                          <a:ea typeface="+mn-ea"/>
                          <a:cs typeface="+mn-cs"/>
                        </a:rPr>
                        <a:t>02</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prstClr val="black"/>
                          </a:solidFill>
                          <a:effectLst/>
                          <a:uLnTx/>
                          <a:uFillTx/>
                          <a:latin typeface="+mn-lt"/>
                          <a:ea typeface="+mn-ea"/>
                          <a:cs typeface="+mn-cs"/>
                        </a:rPr>
                        <a:t>Synthetic results</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mn-cs"/>
                        </a:rPr>
                        <a:t>Evidence</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val="3159605887"/>
                  </a:ext>
                </a:extLst>
              </a:tr>
              <a:tr h="594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chemeClr val="accent2">
                              <a:lumMod val="75000"/>
                            </a:schemeClr>
                          </a:solidFill>
                          <a:effectLst/>
                          <a:uLnTx/>
                          <a:uFillTx/>
                          <a:latin typeface="+mn-lt"/>
                          <a:ea typeface="+mn-ea"/>
                          <a:cs typeface="+mn-cs"/>
                        </a:rPr>
                        <a:t>03</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prstClr val="black"/>
                          </a:solidFill>
                          <a:effectLst/>
                          <a:uLnTx/>
                          <a:uFillTx/>
                          <a:latin typeface="+mn-lt"/>
                          <a:ea typeface="+mn-ea"/>
                          <a:cs typeface="+mn-cs"/>
                        </a:rPr>
                        <a:t>Customer segments</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mn-cs"/>
                        </a:rPr>
                        <a:t>Demand</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val="2970902002"/>
                  </a:ext>
                </a:extLst>
              </a:tr>
              <a:tr h="594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chemeClr val="accent2">
                              <a:lumMod val="75000"/>
                            </a:schemeClr>
                          </a:solidFill>
                          <a:effectLst/>
                          <a:uLnTx/>
                          <a:uFillTx/>
                          <a:latin typeface="+mn-lt"/>
                          <a:ea typeface="+mn-ea"/>
                          <a:cs typeface="+mn-cs"/>
                        </a:rPr>
                        <a:t>04</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prstClr val="black"/>
                          </a:solidFill>
                          <a:effectLst/>
                          <a:uLnTx/>
                          <a:uFillTx/>
                          <a:latin typeface="+mn-lt"/>
                          <a:ea typeface="+mn-ea"/>
                          <a:cs typeface="+mn-cs"/>
                        </a:rPr>
                        <a:t>Commercial model</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mn-cs"/>
                        </a:rPr>
                        <a:t>Hypothesis</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val="763852306"/>
                  </a:ext>
                </a:extLst>
              </a:tr>
              <a:tr h="594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chemeClr val="accent2">
                              <a:lumMod val="75000"/>
                            </a:schemeClr>
                          </a:solidFill>
                          <a:effectLst/>
                          <a:uLnTx/>
                          <a:uFillTx/>
                          <a:latin typeface="+mn-lt"/>
                          <a:ea typeface="+mn-ea"/>
                          <a:cs typeface="+mn-cs"/>
                        </a:rPr>
                        <a:t>05</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prstClr val="black"/>
                          </a:solidFill>
                          <a:effectLst/>
                          <a:uLnTx/>
                          <a:uFillTx/>
                          <a:latin typeface="+mn-lt"/>
                          <a:ea typeface="+mn-ea"/>
                          <a:cs typeface="+mn-cs"/>
                        </a:rPr>
                        <a:t>Pilot priorities</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mn-cs"/>
                        </a:rPr>
                        <a:t>Discovery</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val="3874140170"/>
                  </a:ext>
                </a:extLst>
              </a:tr>
              <a:tr h="594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chemeClr val="accent2">
                              <a:lumMod val="75000"/>
                            </a:schemeClr>
                          </a:solidFill>
                          <a:effectLst/>
                          <a:uLnTx/>
                          <a:uFillTx/>
                          <a:latin typeface="+mn-lt"/>
                          <a:ea typeface="+mn-ea"/>
                          <a:cs typeface="+mn-cs"/>
                        </a:rPr>
                        <a:t>06</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prstClr val="black"/>
                          </a:solidFill>
                          <a:effectLst/>
                          <a:uLnTx/>
                          <a:uFillTx/>
                          <a:latin typeface="+mn-lt"/>
                          <a:ea typeface="+mn-ea"/>
                          <a:cs typeface="+mn-cs"/>
                        </a:rPr>
                        <a:t>Decision request</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mn-cs"/>
                        </a:rPr>
                        <a:t>Sponsor</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val="51808150"/>
                  </a:ext>
                </a:extLst>
              </a:tr>
            </a:tbl>
          </a:graphicData>
        </a:graphic>
      </p:graphicFrame>
      <p:sp>
        <p:nvSpPr>
          <p:cNvPr id="4" name="Footer Placeholder 3">
            <a:extLst>
              <a:ext uri="{FF2B5EF4-FFF2-40B4-BE49-F238E27FC236}">
                <a16:creationId id="{F810BED8-CB43-D17C-4D24-32A4B0893D63}"/>
              </a:ext>
            </a:extLst>
          </p:cNvPr>
          <p:cNvSpPr>
            <a:spLocks noGrp="1"/>
          </p:cNvSpPr>
          <p:nvPr>
            <p:ph type="ftr" sz="quarter" idx="3"/>
          </p:nvPr>
        </p:nvSpPr>
        <p:spPr/>
        <p:txBody>
          <a:bodyPr/>
          <a:lstStyle/>
          <a:p>
            <a:endParaRPr lang="en-US" sz="1100" dirty="0"/>
          </a:p>
        </p:txBody>
      </p:sp>
    </p:spTree>
    <p:extLst>
      <p:ext uri="{BB962C8B-B14F-4D97-AF65-F5344CB8AC3E}">
        <p14:creationId val="3360133703"/>
      </p:ext>
    </p:extLst>
  </p:cSld>
  <p:clrMapOvr>
    <a:masterClrMapping/>
  </p:clrMapOvr>
</p:sld>
</file>

<file path=ppt/slides/slide3.xml><?xml version="1.0" encoding="utf-8"?>
<p:sld xmlns:a="http://schemas.openxmlformats.org/drawingml/2006/main" xmlns:a16="http://schemas.microsoft.com/office/drawing/2014/main" xmlns:p="http://schemas.openxmlformats.org/presentationml/2006/main">
  <p:cSld>
    <p:spTree>
      <p:nvGrpSpPr>
        <p:cNvPr id="1" name="Shape 531"/>
        <p:cNvGrpSpPr/>
        <p:nvPr/>
      </p:nvGrpSpPr>
      <p:grpSpPr>
        <a:xfrm>
          <a:off x="0" y="0"/>
          <a:ext cx="0" cy="0"/>
          <a:chOff x="0" y="0"/>
          <a:chExt cx="0" cy="0"/>
        </a:xfrm>
      </p:grpSpPr>
      <p:sp>
        <p:nvSpPr>
          <p:cNvPr id="534" name="Google Shape;534;p58"/>
          <p:cNvSpPr txBox="1">
            <a:spLocks noGrp="1"/>
          </p:cNvSpPr>
          <p:nvPr>
            <p:ph idx="1"/>
          </p:nvPr>
        </p:nvSpPr>
        <p:spPr>
          <a:xfrm>
            <a:off x="393699" y="2812968"/>
            <a:ext cx="5537200" cy="1865909"/>
          </a:xfrm>
          <a:prstGeom prst="rect">
            <a:avLst/>
          </a:prstGeom>
        </p:spPr>
        <p:txBody>
          <a:bodyPr spcFirstLastPara="1" vert="horz" wrap="square" lIns="0" tIns="0" rIns="0" bIns="0" rtlCol="0" anchor="t" anchorCtr="0">
            <a:noAutofit/>
          </a:bodyPr>
          <a:lstStyle/>
          <a:p>
            <a:pPr marL="0" indent="0">
              <a:lnSpc>
                <a:spcPct val="114000"/>
              </a:lnSpc>
              <a:spcBef>
                <a:spcPts val="0"/>
              </a:spcBef>
              <a:spcAft>
                <a:spcPts val="800"/>
              </a:spcAft>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DrillLoop turns exercise notes and event logs into source-linked finding drafts for evaluator review. The working demo covers exercise setup, evidence upload, timeline, human approval, corrective actions, and report export. Optional speech and writing models were not used in the reported benchmark.</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p>
          <a:p>
            <a:pPr marL="0" indent="0">
              <a:lnSpc>
                <a:spcPct val="114000"/>
              </a:lnSpc>
              <a:spcBef>
                <a:spcPts val="0"/>
              </a:spcBef>
              <a:spcAft>
                <a:spcPts val="800"/>
              </a:spcAft>
              <a:buNone/>
            </a:pPr>
            <a:endPar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endParaRPr>
          </a:p>
        </p:txBody>
      </p:sp>
      <p:sp>
        <p:nvSpPr>
          <p:cNvPr id="532" name="Google Shape;532;p58"/>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3</a:t>
            </a:fld>
            <a:endParaRPr dirty="0">
              <a:sym typeface="OpenAI Sans"/>
            </a:endParaRPr>
          </a:p>
        </p:txBody>
      </p:sp>
      <p:sp>
        <p:nvSpPr>
          <p:cNvPr id="2" name="Footer Placeholder 1">
            <a:extLst>
              <a:ext uri="{FF2B5EF4-FFF2-40B4-BE49-F238E27FC236}">
                <a16:creationId id="{51941D6B-3AD0-04BD-76AF-506638666ACC}"/>
              </a:ext>
            </a:extLst>
          </p:cNvPr>
          <p:cNvSpPr>
            <a:spLocks noGrp="1"/>
          </p:cNvSpPr>
          <p:nvPr>
            <p:ph type="ftr" sz="quarter" idx="3"/>
          </p:nvPr>
        </p:nvSpPr>
        <p:spPr/>
        <p:txBody>
          <a:bodyPr/>
          <a:lstStyle/>
          <a:p>
            <a:endParaRPr lang="en-US" sz="1100" dirty="0"/>
          </a:p>
        </p:txBody>
      </p:sp>
      <p:sp>
        <p:nvSpPr>
          <p:cNvPr id="5" name="Google Shape;534;p58">
            <a:extLst>
              <a:ext uri="{FF2B5EF4-FFF2-40B4-BE49-F238E27FC236}">
                <a16:creationId id="{A3548D03-1D0F-655D-DD48-D4BF5C80F44D}"/>
              </a:ext>
            </a:extLst>
          </p:cNvPr>
          <p:cNvSpPr txBox="1">
            <a:spLocks/>
          </p:cNvSpPr>
          <p:nvPr/>
        </p:nvSpPr>
        <p:spPr>
          <a:xfrm>
            <a:off x="393700" y="2111025"/>
            <a:ext cx="1844403" cy="40244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2000" dirty="0">
                <a:latin typeface="+mj-lt"/>
                <a:ea typeface="Helvetica Neue" panose="02000503000000020004" pitchFamily="2" charset="0"/>
                <a:cs typeface="Helvetica Neue" panose="02000503000000020004" pitchFamily="2" charset="0"/>
                <a:sym typeface="OpenAI Sans"/>
              </a:rPr>
              <a:t>MVP Status</a:t>
            </a:r>
            <a:endParaRPr lang="en-US" sz="2000" dirty="0">
              <a:latin typeface="+mj-lt"/>
              <a:ea typeface="Helvetica Neue Medium" panose="02000503000000020004" pitchFamily="2" charset="0"/>
              <a:cs typeface="Helvetica Neue Medium" panose="02000503000000020004" pitchFamily="2" charset="0"/>
              <a:sym typeface="OpenAI Sans"/>
            </a:endParaRPr>
          </a:p>
        </p:txBody>
      </p:sp>
      <p:sp>
        <p:nvSpPr>
          <p:cNvPr id="6" name="Google Shape;534;p58">
            <a:extLst>
              <a:ext uri="{FF2B5EF4-FFF2-40B4-BE49-F238E27FC236}">
                <a16:creationId id="{4051D0BE-5D22-BCB4-EADF-44F16643D9F5}"/>
              </a:ext>
            </a:extLst>
          </p:cNvPr>
          <p:cNvSpPr txBox="1">
            <a:spLocks/>
          </p:cNvSpPr>
          <p:nvPr/>
        </p:nvSpPr>
        <p:spPr>
          <a:xfrm>
            <a:off x="6260109" y="2826992"/>
            <a:ext cx="5537200" cy="1001086"/>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In one closed synthetic fixture, 8/8 log rows, 5/5 expected finding codes, and 9/9 expected evidence IDs matched. The citation check confirms that IDs were linked; it does not prove that evidence supports a claim or generalizes to new exercises.</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p>
          <a:p>
            <a:pPr marL="0" indent="0">
              <a:lnSpc>
                <a:spcPct val="114000"/>
              </a:lnSpc>
              <a:spcBef>
                <a:spcPts val="0"/>
              </a:spcBef>
              <a:spcAft>
                <a:spcPts val="800"/>
              </a:spcAft>
              <a:buFont typeface="Arial" panose="020B0604020202020204" pitchFamily="34" charset="0"/>
              <a:buNone/>
            </a:pPr>
            <a:endPar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endParaRPr>
          </a:p>
        </p:txBody>
      </p:sp>
      <p:sp>
        <p:nvSpPr>
          <p:cNvPr id="7" name="Google Shape;534;p58">
            <a:extLst>
              <a:ext uri="{FF2B5EF4-FFF2-40B4-BE49-F238E27FC236}">
                <a16:creationId id="{EE26938C-7FB7-798D-7C48-988932737F6D}"/>
              </a:ext>
            </a:extLst>
          </p:cNvPr>
          <p:cNvSpPr txBox="1">
            <a:spLocks/>
          </p:cNvSpPr>
          <p:nvPr/>
        </p:nvSpPr>
        <p:spPr>
          <a:xfrm>
            <a:off x="6260109" y="2344035"/>
            <a:ext cx="5537200" cy="40244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2000" dirty="0">
                <a:latin typeface="+mj-lt"/>
                <a:ea typeface="Helvetica Neue" panose="02000503000000020004" pitchFamily="2" charset="0"/>
                <a:cs typeface="Helvetica Neue" panose="02000503000000020004" pitchFamily="2" charset="0"/>
                <a:sym typeface="OpenAI Sans"/>
              </a:rPr>
              <a:t>What the benchmark shows</a:t>
            </a:r>
            <a:endParaRPr lang="en-US" sz="2000" dirty="0">
              <a:latin typeface="+mj-lt"/>
              <a:ea typeface="Helvetica Neue Medium" panose="02000503000000020004" pitchFamily="2" charset="0"/>
              <a:cs typeface="Helvetica Neue Medium" panose="02000503000000020004" pitchFamily="2" charset="0"/>
              <a:sym typeface="OpenAI Sans"/>
            </a:endParaRPr>
          </a:p>
        </p:txBody>
      </p:sp>
      <p:sp>
        <p:nvSpPr>
          <p:cNvPr id="10" name="Title 2">
            <a:extLst>
              <a:ext uri="{FF2B5EF4-FFF2-40B4-BE49-F238E27FC236}">
                <a16:creationId id="{944AF173-BF22-B5ED-B88F-9080D8699E64}"/>
              </a:ext>
            </a:extLst>
          </p:cNvPr>
          <p:cNvSpPr>
            <a:spLocks noGrp="1"/>
          </p:cNvSpPr>
          <p:nvPr>
            <p:ph type="title"/>
          </p:nvPr>
        </p:nvSpPr>
        <p:spPr>
          <a:xfrm>
            <a:off x="393699" y="1046195"/>
            <a:ext cx="11403610" cy="623819"/>
          </a:xfrm>
        </p:spPr>
        <p:txBody>
          <a:bodyPr>
            <a:normAutofit/>
          </a:bodyPr>
          <a:lstStyle/>
          <a:p>
            <a:r>
              <a:rPr lang="en-US" dirty="0"/>
              <a:t>MVP recap, evidence, and decisions</a:t>
            </a:r>
          </a:p>
        </p:txBody>
      </p:sp>
      <p:sp>
        <p:nvSpPr>
          <p:cNvPr id="11" name="Subtitle 4">
            <a:extLst>
              <a:ext uri="{FF2B5EF4-FFF2-40B4-BE49-F238E27FC236}">
                <a16:creationId id="{42E9C51D-AB09-8D83-4157-006D57137348}"/>
              </a:ext>
            </a:extLst>
          </p:cNvPr>
          <p:cNvSpPr txBox="1">
            <a:spLocks/>
          </p:cNvSpPr>
          <p:nvPr/>
        </p:nvSpPr>
        <p:spPr>
          <a:xfrm>
            <a:off x="393699" y="392242"/>
            <a:ext cx="3578411" cy="345178"/>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dirty="0">
                <a:solidFill>
                  <a:schemeClr val="accent1"/>
                </a:solidFill>
                <a:latin typeface="Roboto Medium" panose="02000000000000000000" pitchFamily="2" charset="0"/>
                <a:ea typeface="Roboto Medium" panose="02000000000000000000" pitchFamily="2" charset="0"/>
              </a:rPr>
              <a:t>Executive Summary</a:t>
            </a:r>
          </a:p>
        </p:txBody>
      </p:sp>
      <p:cxnSp>
        <p:nvCxnSpPr>
          <p:cNvPr id="15" name="Straight Connector 14">
            <a:extLst>
              <a:ext uri="{FF2B5EF4-FFF2-40B4-BE49-F238E27FC236}">
                <a16:creationId id="{D437FEE4-7EB2-0B28-0524-F102AB6A47C6}"/>
              </a:ext>
            </a:extLst>
          </p:cNvPr>
          <p:cNvCxnSpPr/>
          <p:nvPr/>
        </p:nvCxnSpPr>
        <p:spPr>
          <a:xfrm>
            <a:off x="6261100" y="4039769"/>
            <a:ext cx="5537200" cy="0"/>
          </a:xfrm>
          <a:prstGeom prst="line">
            <a:avLst/>
          </a:prstGeom>
          <a:ln w="12700">
            <a:solidFill>
              <a:schemeClr val="accent2">
                <a:lumMod val="90000"/>
              </a:schemeClr>
            </a:solidFill>
          </a:ln>
        </p:spPr>
        <p:style>
          <a:lnRef idx="2">
            <a:schemeClr val="accent1"/>
          </a:lnRef>
          <a:fillRef idx="0">
            <a:schemeClr val="accent1"/>
          </a:fillRef>
          <a:effectRef idx="1">
            <a:schemeClr val="accent1"/>
          </a:effectRef>
          <a:fontRef idx="minor">
            <a:schemeClr val="tx1"/>
          </a:fontRef>
        </p:style>
      </p:cxnSp>
      <p:sp>
        <p:nvSpPr>
          <p:cNvPr id="16" name="Google Shape;534;p58">
            <a:extLst>
              <a:ext uri="{FF2B5EF4-FFF2-40B4-BE49-F238E27FC236}">
                <a16:creationId id="{108E1773-B682-C5EE-6944-58546A384F37}"/>
              </a:ext>
            </a:extLst>
          </p:cNvPr>
          <p:cNvSpPr txBox="1">
            <a:spLocks/>
          </p:cNvSpPr>
          <p:nvPr/>
        </p:nvSpPr>
        <p:spPr>
          <a:xfrm>
            <a:off x="6260109" y="4867987"/>
            <a:ext cx="5537200" cy="120023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Authorize discovery for a hospital-tabletop review. Interview 2–3 prospective evaluators; compare current workflow with DrillLoop on the same permitted records, then test an unfamiliar exercise if access is approved.</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p>
          <a:p>
            <a:pPr marL="0" indent="0">
              <a:lnSpc>
                <a:spcPct val="114000"/>
              </a:lnSpc>
              <a:spcBef>
                <a:spcPts val="0"/>
              </a:spcBef>
              <a:spcAft>
                <a:spcPts val="800"/>
              </a:spcAft>
              <a:buFont typeface="Arial" panose="020B0604020202020204" pitchFamily="34" charset="0"/>
              <a:buNone/>
            </a:pPr>
            <a:endPar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endParaRPr>
          </a:p>
        </p:txBody>
      </p:sp>
      <p:sp>
        <p:nvSpPr>
          <p:cNvPr id="17" name="Google Shape;534;p58">
            <a:extLst>
              <a:ext uri="{FF2B5EF4-FFF2-40B4-BE49-F238E27FC236}">
                <a16:creationId id="{1C1F2FD8-0D30-C7BF-5234-6F0EE46F0DC3}"/>
              </a:ext>
            </a:extLst>
          </p:cNvPr>
          <p:cNvSpPr txBox="1">
            <a:spLocks/>
          </p:cNvSpPr>
          <p:nvPr/>
        </p:nvSpPr>
        <p:spPr>
          <a:xfrm>
            <a:off x="6260109" y="4385030"/>
            <a:ext cx="5537200" cy="40244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2000" dirty="0">
                <a:latin typeface="+mj-lt"/>
                <a:ea typeface="Helvetica Neue" panose="02000503000000020004" pitchFamily="2" charset="0"/>
                <a:cs typeface="Helvetica Neue" panose="02000503000000020004" pitchFamily="2" charset="0"/>
                <a:sym typeface="OpenAI Sans"/>
              </a:rPr>
              <a:t>Sponsor decision requested</a:t>
            </a:r>
            <a:endParaRPr lang="en-US" sz="2000" dirty="0">
              <a:latin typeface="+mj-lt"/>
              <a:ea typeface="Helvetica Neue Medium" panose="02000503000000020004" pitchFamily="2" charset="0"/>
              <a:cs typeface="Helvetica Neue Medium" panose="02000503000000020004" pitchFamily="2" charset="0"/>
              <a:sym typeface="OpenAI Sans"/>
            </a:endParaRPr>
          </a:p>
        </p:txBody>
      </p:sp>
      <p:sp>
        <p:nvSpPr>
          <p:cNvPr id="3" name="Rounded Rectangle 2">
            <a:extLst>
              <a:ext uri="{FF2B5EF4-FFF2-40B4-BE49-F238E27FC236}">
                <a16:creationId id="{F16B487F-1A7A-C301-4AB8-8DC1C19839AB}"/>
              </a:ext>
            </a:extLst>
          </p:cNvPr>
          <p:cNvSpPr/>
          <p:nvPr/>
        </p:nvSpPr>
        <p:spPr>
          <a:xfrm>
            <a:off x="2349499" y="2093356"/>
            <a:ext cx="2271780" cy="402442"/>
          </a:xfrm>
          <a:prstGeom prst="roundRect">
            <a:avLst>
              <a:gd name="adj" fmla="val 15738"/>
            </a:avLst>
          </a:prstGeom>
          <a:solidFill>
            <a:schemeClr val="accent1">
              <a:alpha val="2464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DEMO READY</a:t>
            </a:r>
          </a:p>
        </p:txBody>
      </p:sp>
      <p:sp>
        <p:nvSpPr>
          <p:cNvPr id="14" name="TextBox 13">
            <a:extLst>
              <a:ext uri="{FF2B5EF4-FFF2-40B4-BE49-F238E27FC236}">
                <a16:creationId id="{F3AF61EC-DBA0-BFB1-3293-0BF5DB670691}"/>
              </a:ext>
            </a:extLst>
          </p:cNvPr>
          <p:cNvSpPr txBox="1"/>
          <p:nvPr/>
        </p:nvSpPr>
        <p:spPr>
          <a:xfrm>
            <a:off x="393699" y="4756098"/>
            <a:ext cx="5537199" cy="294165"/>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Bottom line</a:t>
            </a:r>
          </a:p>
        </p:txBody>
      </p:sp>
      <p:sp>
        <p:nvSpPr>
          <p:cNvPr id="18" name="Google Shape;534;p58">
            <a:extLst>
              <a:ext uri="{FF2B5EF4-FFF2-40B4-BE49-F238E27FC236}">
                <a16:creationId id="{47E14DB1-10CD-1A00-06DC-F11F90562A04}"/>
              </a:ext>
            </a:extLst>
          </p:cNvPr>
          <p:cNvSpPr txBox="1">
            <a:spLocks/>
          </p:cNvSpPr>
          <p:nvPr/>
        </p:nvSpPr>
        <p:spPr>
          <a:xfrm>
            <a:off x="386251" y="5134071"/>
            <a:ext cx="5537200" cy="86032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No customer demand, willingness to pay, evaluator workload reduction, or real-world model accuracy has been measured. The next decision is whether to recruit pilot partners—not whether to scale a proven business.</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Tree>
  </p:cSld>
  <p:clrMapOvr>
    <a:masterClrMapping/>
  </p:clrMapOvr>
</p:sld>
</file>

<file path=ppt/slides/slide4.xml><?xml version="1.0" encoding="utf-8"?>
<p:sld xmlns:a="http://schemas.openxmlformats.org/drawingml/2006/main" xmlns:a16="http://schemas.microsoft.com/office/drawing/2014/main" xmlns:p="http://schemas.openxmlformats.org/presentationml/2006/main" xmlns:p14="http://schemas.microsoft.com/office/powerpoint/2010/main">
  <p:cSld>
    <p:spTree>
      <p:nvGrpSpPr>
        <p:cNvPr id="1" name="Shape 531">
          <a:extLst>
            <a:ext uri="{FF2B5EF4-FFF2-40B4-BE49-F238E27FC236}">
              <a16:creationId id="{FE338EF2-CCFB-FA1F-AED3-8C8C1BA35C4F}"/>
            </a:ext>
          </a:extLst>
        </p:cNvPr>
        <p:cNvGrpSpPr/>
        <p:nvPr/>
      </p:nvGrpSpPr>
      <p:grpSpPr>
        <a:xfrm>
          <a:off x="0" y="0"/>
          <a:ext cx="0" cy="0"/>
          <a:chOff x="0" y="0"/>
          <a:chExt cx="0" cy="0"/>
        </a:xfrm>
      </p:grpSpPr>
      <p:sp>
        <p:nvSpPr>
          <p:cNvPr id="532" name="Google Shape;532;p58">
            <a:extLst>
              <a:ext uri="{FF2B5EF4-FFF2-40B4-BE49-F238E27FC236}">
                <a16:creationId id="{CAD38C25-48AC-5A29-D53A-82080FAF926E}"/>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4</a:t>
            </a:fld>
            <a:endParaRPr dirty="0">
              <a:sym typeface="OpenAI Sans"/>
            </a:endParaRPr>
          </a:p>
        </p:txBody>
      </p:sp>
      <p:sp>
        <p:nvSpPr>
          <p:cNvPr id="533" name="Google Shape;533;p58">
            <a:extLst>
              <a:ext uri="{FF2B5EF4-FFF2-40B4-BE49-F238E27FC236}">
                <a16:creationId id="{33E8FE18-95DE-C7EA-9E95-10B82189367E}"/>
              </a:ext>
            </a:extLst>
          </p:cNvPr>
          <p:cNvSpPr txBox="1">
            <a:spLocks noGrp="1"/>
          </p:cNvSpPr>
          <p:nvPr>
            <p:ph type="title"/>
          </p:nvPr>
        </p:nvSpPr>
        <p:spPr>
          <a:xfrm>
            <a:off x="393699" y="344009"/>
            <a:ext cx="11404599" cy="595791"/>
          </a:xfrm>
          <a:prstGeom prst="rect">
            <a:avLst/>
          </a:prstGeom>
        </p:spPr>
        <p:txBody>
          <a:bodyPr spcFirstLastPara="1" vert="horz" wrap="square" lIns="0" tIns="0" rIns="0" bIns="0" rtlCol="0" anchor="t" anchorCtr="0">
            <a:noAutofit/>
          </a:bodyPr>
          <a:lstStyle/>
          <a:p>
            <a:r>
              <a:rPr lang="en-US" dirty="0">
                <a:solidFill>
                  <a:schemeClr val="accent1"/>
                </a:solidFill>
              </a:rPr>
              <a:t>Current business and delivery status</a:t>
            </a:r>
            <a:endParaRPr dirty="0">
              <a:solidFill>
                <a:schemeClr val="accent1"/>
              </a:solidFill>
            </a:endParaRPr>
          </a:p>
        </p:txBody>
      </p:sp>
      <p:sp>
        <p:nvSpPr>
          <p:cNvPr id="7" name="Rounded Rectangle 6">
            <a:extLst>
              <a:ext uri="{FF2B5EF4-FFF2-40B4-BE49-F238E27FC236}">
                <a16:creationId id="{9E3149F3-A7D7-BC8F-C84C-4A4E60EA2799}"/>
              </a:ext>
            </a:extLst>
          </p:cNvPr>
          <p:cNvSpPr/>
          <p:nvPr/>
        </p:nvSpPr>
        <p:spPr>
          <a:xfrm>
            <a:off x="6264412" y="2537496"/>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 name="Rounded Rectangle 8">
            <a:extLst>
              <a:ext uri="{FF2B5EF4-FFF2-40B4-BE49-F238E27FC236}">
                <a16:creationId id="{5CD1077A-BBDF-3B07-D940-FA5482CB0124}"/>
              </a:ext>
            </a:extLst>
          </p:cNvPr>
          <p:cNvSpPr/>
          <p:nvPr/>
        </p:nvSpPr>
        <p:spPr>
          <a:xfrm>
            <a:off x="409043" y="2537496"/>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0" name="Content Placeholder 10">
            <a:extLst>
              <a:ext uri="{FF2B5EF4-FFF2-40B4-BE49-F238E27FC236}">
                <a16:creationId id="{B54A841D-1EA0-6181-C778-7C851CA6E64E}"/>
              </a:ext>
            </a:extLst>
          </p:cNvPr>
          <p:cNvSpPr txBox="1">
            <a:spLocks/>
          </p:cNvSpPr>
          <p:nvPr/>
        </p:nvSpPr>
        <p:spPr>
          <a:xfrm>
            <a:off x="706278" y="3250891"/>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Setup, uploads, linked timeline, evaluator review, action tracking, and PDF report export work in the demo.</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
        <p:nvSpPr>
          <p:cNvPr id="2" name="Rounded Rectangle 1">
            <a:extLst>
              <a:ext uri="{FF2B5EF4-FFF2-40B4-BE49-F238E27FC236}">
                <a16:creationId id="{B4E203EC-EB81-96EF-66AB-3B6012B4B3EF}"/>
              </a:ext>
            </a:extLst>
          </p:cNvPr>
          <p:cNvSpPr/>
          <p:nvPr/>
        </p:nvSpPr>
        <p:spPr>
          <a:xfrm>
            <a:off x="6264412" y="4370106"/>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4" name="Rounded Rectangle 3">
            <a:extLst>
              <a:ext uri="{FF2B5EF4-FFF2-40B4-BE49-F238E27FC236}">
                <a16:creationId id="{2000F722-C0CE-FDAF-EAFE-20BC4A7F4118}"/>
              </a:ext>
            </a:extLst>
          </p:cNvPr>
          <p:cNvSpPr/>
          <p:nvPr/>
        </p:nvSpPr>
        <p:spPr>
          <a:xfrm>
            <a:off x="409043" y="4370106"/>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1" name="Footer Placeholder 10">
            <a:extLst>
              <a:ext uri="{FF2B5EF4-FFF2-40B4-BE49-F238E27FC236}">
                <a16:creationId id="{A4694142-7504-448C-B110-ABCB1A6DD41E}"/>
              </a:ext>
            </a:extLst>
          </p:cNvPr>
          <p:cNvSpPr>
            <a:spLocks noGrp="1"/>
          </p:cNvSpPr>
          <p:nvPr>
            <p:ph type="ftr" sz="quarter" idx="3"/>
          </p:nvPr>
        </p:nvSpPr>
        <p:spPr/>
        <p:txBody>
          <a:bodyPr/>
          <a:lstStyle/>
          <a:p>
            <a:endParaRPr lang="en-US" sz="1100" dirty="0"/>
          </a:p>
        </p:txBody>
      </p:sp>
      <p:sp>
        <p:nvSpPr>
          <p:cNvPr id="12" name="Google Shape;534;p58">
            <a:extLst>
              <a:ext uri="{FF2B5EF4-FFF2-40B4-BE49-F238E27FC236}">
                <a16:creationId id="{F393FB38-1005-6250-1642-93C1A76E0B77}"/>
              </a:ext>
            </a:extLst>
          </p:cNvPr>
          <p:cNvSpPr txBox="1">
            <a:spLocks/>
          </p:cNvSpPr>
          <p:nvPr/>
        </p:nvSpPr>
        <p:spPr>
          <a:xfrm>
            <a:off x="393700" y="1649094"/>
            <a:ext cx="11404600" cy="634044"/>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The local demo is functional. It proposes findings with source links and leaves review decisions to authorized people.</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
        <p:nvSpPr>
          <p:cNvPr id="13" name="Google Shape;534;p58">
            <a:extLst>
              <a:ext uri="{FF2B5EF4-FFF2-40B4-BE49-F238E27FC236}">
                <a16:creationId id="{A0F4C075-109A-7DDE-18C9-18F128552C24}"/>
              </a:ext>
            </a:extLst>
          </p:cNvPr>
          <p:cNvSpPr txBox="1">
            <a:spLocks/>
          </p:cNvSpPr>
          <p:nvPr/>
        </p:nvSpPr>
        <p:spPr>
          <a:xfrm>
            <a:off x="393699" y="1146566"/>
            <a:ext cx="11404599" cy="40244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2000" dirty="0">
                <a:latin typeface="+mj-lt"/>
                <a:ea typeface="Helvetica Neue" panose="02000503000000020004" pitchFamily="2" charset="0"/>
                <a:cs typeface="Helvetica Neue" panose="02000503000000020004" pitchFamily="2" charset="0"/>
                <a:sym typeface="OpenAI Sans"/>
              </a:rPr>
              <a:t>Working demo; commercial assumptions remain untested.</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endParaRPr lang="en-US" sz="2000" dirty="0">
              <a:latin typeface="+mj-lt"/>
              <a:ea typeface="Helvetica Neue Medium" panose="02000503000000020004" pitchFamily="2" charset="0"/>
              <a:cs typeface="Helvetica Neue Medium" panose="02000503000000020004" pitchFamily="2" charset="0"/>
              <a:sym typeface="OpenAI Sans"/>
            </a:endParaRPr>
          </a:p>
        </p:txBody>
      </p:sp>
      <p:sp>
        <p:nvSpPr>
          <p:cNvPr id="14" name="TextBox 13">
            <a:extLst>
              <a:ext uri="{FF2B5EF4-FFF2-40B4-BE49-F238E27FC236}">
                <a16:creationId id="{49DCE927-F1A4-A9ED-C839-844BB688547F}"/>
              </a:ext>
            </a:extLst>
          </p:cNvPr>
          <p:cNvSpPr txBox="1"/>
          <p:nvPr/>
        </p:nvSpPr>
        <p:spPr>
          <a:xfrm>
            <a:off x="702967" y="2793808"/>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Working MVP</a:t>
            </a:r>
          </a:p>
        </p:txBody>
      </p:sp>
      <p:sp>
        <p:nvSpPr>
          <p:cNvPr id="16" name="Content Placeholder 10">
            <a:extLst>
              <a:ext uri="{FF2B5EF4-FFF2-40B4-BE49-F238E27FC236}">
                <a16:creationId id="{B71DDDF3-A6F6-A2D9-7F68-A246AE82F73A}"/>
              </a:ext>
            </a:extLst>
          </p:cNvPr>
          <p:cNvSpPr txBox="1">
            <a:spLocks/>
          </p:cNvSpPr>
          <p:nvPr/>
        </p:nvSpPr>
        <p:spPr>
          <a:xfrm>
            <a:off x="6558438" y="3250891"/>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One fictional case: 8/8 event rows, 5/5 findings, and 9/9 expected source IDs matched.</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
        <p:nvSpPr>
          <p:cNvPr id="17" name="TextBox 16">
            <a:extLst>
              <a:ext uri="{FF2B5EF4-FFF2-40B4-BE49-F238E27FC236}">
                <a16:creationId id="{BAD06467-8163-39A0-0B9A-1A98533B6978}"/>
              </a:ext>
            </a:extLst>
          </p:cNvPr>
          <p:cNvSpPr txBox="1"/>
          <p:nvPr/>
        </p:nvSpPr>
        <p:spPr>
          <a:xfrm>
            <a:off x="6555127" y="2793808"/>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Synthetic benchmark</a:t>
            </a:r>
          </a:p>
        </p:txBody>
      </p:sp>
      <p:sp>
        <p:nvSpPr>
          <p:cNvPr id="18" name="Content Placeholder 10">
            <a:extLst>
              <a:ext uri="{FF2B5EF4-FFF2-40B4-BE49-F238E27FC236}">
                <a16:creationId id="{E61F5831-A6CA-0036-3E5C-283D4EBAFE55}"/>
              </a:ext>
            </a:extLst>
          </p:cNvPr>
          <p:cNvSpPr txBox="1">
            <a:spLocks/>
          </p:cNvSpPr>
          <p:nvPr/>
        </p:nvSpPr>
        <p:spPr>
          <a:xfrm>
            <a:off x="706278" y="5094931"/>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Hospital-preparedness evaluators are the proposed first users; approver, budget owner, and purchasing route are unknown.</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
        <p:nvSpPr>
          <p:cNvPr id="19" name="TextBox 18">
            <a:extLst>
              <a:ext uri="{FF2B5EF4-FFF2-40B4-BE49-F238E27FC236}">
                <a16:creationId id="{1283300B-2E76-54E3-B3E8-C4CE0DA323BE}"/>
              </a:ext>
            </a:extLst>
          </p:cNvPr>
          <p:cNvSpPr txBox="1"/>
          <p:nvPr/>
        </p:nvSpPr>
        <p:spPr>
          <a:xfrm>
            <a:off x="702967" y="4637848"/>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Buyer hypothesis</a:t>
            </a:r>
          </a:p>
        </p:txBody>
      </p:sp>
      <p:sp>
        <p:nvSpPr>
          <p:cNvPr id="20" name="Content Placeholder 10">
            <a:extLst>
              <a:ext uri="{FF2B5EF4-FFF2-40B4-BE49-F238E27FC236}">
                <a16:creationId id="{91E87E4E-34C4-73A3-D9B4-5528035E3F32}"/>
              </a:ext>
            </a:extLst>
          </p:cNvPr>
          <p:cNvSpPr txBox="1">
            <a:spLocks/>
          </p:cNvSpPr>
          <p:nvPr/>
        </p:nvSpPr>
        <p:spPr>
          <a:xfrm>
            <a:off x="6558438" y="5094931"/>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Security controls and performance on unfamiliar exercises need review; use synthetic or explicitly approved records.</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
        <p:nvSpPr>
          <p:cNvPr id="21" name="TextBox 20">
            <a:extLst>
              <a:ext uri="{FF2B5EF4-FFF2-40B4-BE49-F238E27FC236}">
                <a16:creationId id="{4BBBD727-79F1-2502-A083-A18F5A754163}"/>
              </a:ext>
            </a:extLst>
          </p:cNvPr>
          <p:cNvSpPr txBox="1"/>
          <p:nvPr/>
        </p:nvSpPr>
        <p:spPr>
          <a:xfrm>
            <a:off x="6555127" y="4637848"/>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Key risk</a:t>
            </a:r>
          </a:p>
        </p:txBody>
      </p:sp>
    </p:spTree>
    <p:extLst>
      <p:ext uri="{BB962C8B-B14F-4D97-AF65-F5344CB8AC3E}">
        <p14:creationId val="2179535326"/>
      </p:ext>
    </p:extLst>
  </p:cSld>
  <p:clrMapOvr>
    <a:masterClrMapping/>
  </p:clrMapOvr>
</p:sld>
</file>

<file path=ppt/slides/slide5.xml><?xml version="1.0" encoding="utf-8"?>
<p:sld xmlns:a="http://schemas.openxmlformats.org/drawingml/2006/main" xmlns:a16="http://schemas.microsoft.com/office/drawing/2014/main" xmlns:p="http://schemas.openxmlformats.org/presentationml/2006/main" xmlns:p14="http://schemas.microsoft.com/office/powerpoint/2010/main">
  <p:cSld>
    <p:spTree>
      <p:nvGrpSpPr>
        <p:cNvPr id="1" name="Shape 531">
          <a:extLst>
            <a:ext uri="{FF2B5EF4-FFF2-40B4-BE49-F238E27FC236}">
              <a16:creationId id="{00781FDF-4130-4E67-D3EE-AE7C2129CF1F}"/>
            </a:ext>
          </a:extLst>
        </p:cNvPr>
        <p:cNvGrpSpPr/>
        <p:nvPr/>
      </p:nvGrpSpPr>
      <p:grpSpPr>
        <a:xfrm>
          <a:off x="0" y="0"/>
          <a:ext cx="0" cy="0"/>
          <a:chOff x="0" y="0"/>
          <a:chExt cx="0" cy="0"/>
        </a:xfrm>
      </p:grpSpPr>
      <p:sp>
        <p:nvSpPr>
          <p:cNvPr id="532" name="Google Shape;532;p58">
            <a:extLst>
              <a:ext uri="{FF2B5EF4-FFF2-40B4-BE49-F238E27FC236}">
                <a16:creationId id="{D6AD4425-62A5-20FE-DA81-DB0262F8E9D3}"/>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5</a:t>
            </a:fld>
            <a:endParaRPr dirty="0">
              <a:sym typeface="OpenAI Sans"/>
            </a:endParaRPr>
          </a:p>
        </p:txBody>
      </p:sp>
      <p:sp>
        <p:nvSpPr>
          <p:cNvPr id="533" name="Google Shape;533;p58">
            <a:extLst>
              <a:ext uri="{FF2B5EF4-FFF2-40B4-BE49-F238E27FC236}">
                <a16:creationId id="{CCB3C549-3412-D9EC-FC96-8C0EA25A4312}"/>
              </a:ext>
            </a:extLst>
          </p:cNvPr>
          <p:cNvSpPr txBox="1">
            <a:spLocks noGrp="1"/>
          </p:cNvSpPr>
          <p:nvPr>
            <p:ph type="title"/>
          </p:nvPr>
        </p:nvSpPr>
        <p:spPr>
          <a:xfrm>
            <a:off x="393699" y="344009"/>
            <a:ext cx="11404599" cy="595791"/>
          </a:xfrm>
          <a:prstGeom prst="rect">
            <a:avLst/>
          </a:prstGeom>
        </p:spPr>
        <p:txBody>
          <a:bodyPr spcFirstLastPara="1" vert="horz" wrap="square" lIns="0" tIns="0" rIns="0" bIns="0" rtlCol="0" anchor="t" anchorCtr="0">
            <a:noAutofit/>
          </a:bodyPr>
          <a:lstStyle/>
          <a:p>
            <a:r>
              <a:rPr lang="en-US" dirty="0">
                <a:solidFill>
                  <a:schemeClr val="accent1"/>
                </a:solidFill>
              </a:rPr>
              <a:t>Priorities for the next proof point</a:t>
            </a:r>
            <a:endParaRPr dirty="0">
              <a:solidFill>
                <a:schemeClr val="accent1"/>
              </a:solidFill>
            </a:endParaRPr>
          </a:p>
        </p:txBody>
      </p:sp>
      <p:sp>
        <p:nvSpPr>
          <p:cNvPr id="11" name="Footer Placeholder 10">
            <a:extLst>
              <a:ext uri="{FF2B5EF4-FFF2-40B4-BE49-F238E27FC236}">
                <a16:creationId id="{BD5D3365-630B-7DA2-6578-D2DE7ACBBC07}"/>
              </a:ext>
            </a:extLst>
          </p:cNvPr>
          <p:cNvSpPr>
            <a:spLocks noGrp="1"/>
          </p:cNvSpPr>
          <p:nvPr>
            <p:ph type="ftr" sz="quarter" idx="3"/>
          </p:nvPr>
        </p:nvSpPr>
        <p:spPr/>
        <p:txBody>
          <a:bodyPr/>
          <a:lstStyle/>
          <a:p>
            <a:endParaRPr lang="en-US" sz="1100" dirty="0"/>
          </a:p>
        </p:txBody>
      </p:sp>
      <p:sp>
        <p:nvSpPr>
          <p:cNvPr id="3" name="Google Shape;534;p58">
            <a:extLst>
              <a:ext uri="{FF2B5EF4-FFF2-40B4-BE49-F238E27FC236}">
                <a16:creationId id="{076E58D8-94E3-59EF-6F5D-94479531D945}"/>
              </a:ext>
            </a:extLst>
          </p:cNvPr>
          <p:cNvSpPr txBox="1">
            <a:spLocks/>
          </p:cNvSpPr>
          <p:nvPr/>
        </p:nvSpPr>
        <p:spPr>
          <a:xfrm>
            <a:off x="393700" y="2374900"/>
            <a:ext cx="5537200" cy="361949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Can hospital evaluators verify source evidence efficiently?</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p>
          <a:p>
            <a:pPr marL="0" indent="0">
              <a:lnSpc>
                <a:spcPct val="114000"/>
              </a:lnSpc>
              <a:spcBef>
                <a:spcPts val="0"/>
              </a:spcBef>
              <a:spcAft>
                <a:spcPts val="800"/>
              </a:spcAft>
              <a:buFont typeface="Arial" panose="020B0604020202020204" pitchFamily="34" charset="0"/>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Compare current practice and DrillLoop on the same permitted records. Check whether citations support each finding and actions have owners and closure proof; measure time and corrections without assuming savings.</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endPar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endParaRPr>
          </a:p>
        </p:txBody>
      </p:sp>
      <p:sp>
        <p:nvSpPr>
          <p:cNvPr id="5" name="Google Shape;534;p58">
            <a:extLst>
              <a:ext uri="{FF2B5EF4-FFF2-40B4-BE49-F238E27FC236}">
                <a16:creationId id="{EC39CC4A-7702-F34C-BFC1-C34643FFFDEE}"/>
              </a:ext>
            </a:extLst>
          </p:cNvPr>
          <p:cNvSpPr txBox="1">
            <a:spLocks/>
          </p:cNvSpPr>
          <p:nvPr/>
        </p:nvSpPr>
        <p:spPr>
          <a:xfrm>
            <a:off x="393700" y="1436666"/>
            <a:ext cx="5537200" cy="719318"/>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pPr>
            <a:r>
              <a:rPr lang="en-US" sz="2000" dirty="0">
                <a:latin typeface="+mj-lt"/>
                <a:ea typeface="Helvetica Neue" panose="02000503000000020004" pitchFamily="2" charset="0"/>
                <a:cs typeface="Helvetica Neue" panose="02000503000000020004" pitchFamily="2" charset="0"/>
                <a:sym typeface="OpenAI Sans"/>
              </a:rPr>
              <a:t>Discovery and a paired review should answer three practical questions:</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p>
        </p:txBody>
      </p:sp>
      <p:sp>
        <p:nvSpPr>
          <p:cNvPr id="27" name="Content Placeholder 10">
            <a:extLst>
              <a:ext uri="{FF2B5EF4-FFF2-40B4-BE49-F238E27FC236}">
                <a16:creationId id="{B4FA777D-1E43-2118-018B-D684DB7EFEF1}"/>
              </a:ext>
            </a:extLst>
          </p:cNvPr>
          <p:cNvSpPr txBox="1">
            <a:spLocks/>
          </p:cNvSpPr>
          <p:nvPr/>
        </p:nvSpPr>
        <p:spPr>
          <a:xfrm>
            <a:off x="6648104" y="2184252"/>
            <a:ext cx="501476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Interview 2–3 hospital-preparedness evaluators; observe the current review with permission.</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
        <p:nvSpPr>
          <p:cNvPr id="28" name="TextBox 27">
            <a:extLst>
              <a:ext uri="{FF2B5EF4-FFF2-40B4-BE49-F238E27FC236}">
                <a16:creationId id="{F2F01BD9-1359-C69B-3F1A-A36534227FFE}"/>
              </a:ext>
            </a:extLst>
          </p:cNvPr>
          <p:cNvSpPr txBox="1"/>
          <p:nvPr/>
        </p:nvSpPr>
        <p:spPr>
          <a:xfrm>
            <a:off x="6644793" y="1813255"/>
            <a:ext cx="5014766" cy="223394"/>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4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Interview users</a:t>
            </a:r>
          </a:p>
        </p:txBody>
      </p:sp>
      <p:sp>
        <p:nvSpPr>
          <p:cNvPr id="2" name="Rounded Rectangle 1">
            <a:extLst>
              <a:ext uri="{FF2B5EF4-FFF2-40B4-BE49-F238E27FC236}">
                <a16:creationId id="{3C99D68F-34ED-A722-D7DB-03942B0B77DB}"/>
              </a:ext>
            </a:extLst>
          </p:cNvPr>
          <p:cNvSpPr/>
          <p:nvPr/>
        </p:nvSpPr>
        <p:spPr>
          <a:xfrm>
            <a:off x="6405842" y="1521935"/>
            <a:ext cx="5394187" cy="1393857"/>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4" name="Content Placeholder 10">
            <a:extLst>
              <a:ext uri="{FF2B5EF4-FFF2-40B4-BE49-F238E27FC236}">
                <a16:creationId id="{32674159-B6E6-B9EF-D753-5EF1E687140B}"/>
              </a:ext>
            </a:extLst>
          </p:cNvPr>
          <p:cNvSpPr txBox="1">
            <a:spLocks/>
          </p:cNvSpPr>
          <p:nvPr/>
        </p:nvSpPr>
        <p:spPr>
          <a:xfrm>
            <a:off x="6648104" y="3693012"/>
            <a:ext cx="501476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Time evidence lookup and report drafting; count reviewer edits and citation corrections.</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
        <p:nvSpPr>
          <p:cNvPr id="6" name="TextBox 5">
            <a:extLst>
              <a:ext uri="{FF2B5EF4-FFF2-40B4-BE49-F238E27FC236}">
                <a16:creationId id="{57D84212-7716-6AFC-2CCA-1118E41834EC}"/>
              </a:ext>
            </a:extLst>
          </p:cNvPr>
          <p:cNvSpPr txBox="1"/>
          <p:nvPr/>
        </p:nvSpPr>
        <p:spPr>
          <a:xfrm>
            <a:off x="6644793" y="3322015"/>
            <a:ext cx="5014766" cy="223394"/>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4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Measure review workload</a:t>
            </a:r>
          </a:p>
        </p:txBody>
      </p:sp>
      <p:sp>
        <p:nvSpPr>
          <p:cNvPr id="7" name="Rounded Rectangle 6">
            <a:extLst>
              <a:ext uri="{FF2B5EF4-FFF2-40B4-BE49-F238E27FC236}">
                <a16:creationId id="{520BED9B-3AD0-B986-23FF-346EFF8EE6FA}"/>
              </a:ext>
            </a:extLst>
          </p:cNvPr>
          <p:cNvSpPr/>
          <p:nvPr/>
        </p:nvSpPr>
        <p:spPr>
          <a:xfrm>
            <a:off x="6405842" y="3030695"/>
            <a:ext cx="5394187" cy="1393857"/>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8" name="Content Placeholder 10">
            <a:extLst>
              <a:ext uri="{FF2B5EF4-FFF2-40B4-BE49-F238E27FC236}">
                <a16:creationId id="{58865802-6967-7210-3371-DEA6828B57A2}"/>
              </a:ext>
            </a:extLst>
          </p:cNvPr>
          <p:cNvSpPr txBox="1">
            <a:spLocks/>
          </p:cNvSpPr>
          <p:nvPr/>
        </p:nvSpPr>
        <p:spPr>
          <a:xfrm>
            <a:off x="6648105" y="5201772"/>
            <a:ext cx="501476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Check owners, due dates, completion tests, and reviewer-confirmed closure evidence.</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
        <p:nvSpPr>
          <p:cNvPr id="9" name="TextBox 8">
            <a:extLst>
              <a:ext uri="{FF2B5EF4-FFF2-40B4-BE49-F238E27FC236}">
                <a16:creationId id="{DD2FEB2E-B2D7-376B-AFC1-B25E2E37C15B}"/>
              </a:ext>
            </a:extLst>
          </p:cNvPr>
          <p:cNvSpPr txBox="1"/>
          <p:nvPr/>
        </p:nvSpPr>
        <p:spPr>
          <a:xfrm>
            <a:off x="6644794" y="4830775"/>
            <a:ext cx="5014766" cy="223394"/>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4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Verify action closure</a:t>
            </a:r>
          </a:p>
        </p:txBody>
      </p:sp>
      <p:sp>
        <p:nvSpPr>
          <p:cNvPr id="10" name="Rounded Rectangle 9">
            <a:extLst>
              <a:ext uri="{FF2B5EF4-FFF2-40B4-BE49-F238E27FC236}">
                <a16:creationId id="{F95C5540-5014-B354-3651-51BA127570AA}"/>
              </a:ext>
            </a:extLst>
          </p:cNvPr>
          <p:cNvSpPr/>
          <p:nvPr/>
        </p:nvSpPr>
        <p:spPr>
          <a:xfrm>
            <a:off x="6405843" y="4539455"/>
            <a:ext cx="5394187" cy="1393857"/>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Tree>
    <p:extLst>
      <p:ext uri="{BB962C8B-B14F-4D97-AF65-F5344CB8AC3E}">
        <p14:creationId val="3366140372"/>
      </p:ext>
    </p:extLst>
  </p:cSld>
  <p:clrMapOvr>
    <a:masterClrMapping/>
  </p:clrMapOvr>
</p:sld>
</file>

<file path=ppt/slides/slide6.xml><?xml version="1.0" encoding="utf-8"?>
<p:sld xmlns:a="http://schemas.openxmlformats.org/drawingml/2006/main" xmlns:a16="http://schemas.microsoft.com/office/drawing/2014/main" xmlns:p="http://schemas.openxmlformats.org/presentationml/2006/main" xmlns:p14="http://schemas.microsoft.com/office/powerpoint/2010/main">
  <p:cSld>
    <p:spTree>
      <p:nvGrpSpPr>
        <p:cNvPr id="1" name="Shape 531">
          <a:extLst>
            <a:ext uri="{FF2B5EF4-FFF2-40B4-BE49-F238E27FC236}">
              <a16:creationId id="{4C3029DB-B611-6782-57C9-74AD8C9AF80A}"/>
            </a:ext>
          </a:extLst>
        </p:cNvPr>
        <p:cNvGrpSpPr/>
        <p:nvPr/>
      </p:nvGrpSpPr>
      <p:grpSpPr>
        <a:xfrm>
          <a:off x="0" y="0"/>
          <a:ext cx="0" cy="0"/>
          <a:chOff x="0" y="0"/>
          <a:chExt cx="0" cy="0"/>
        </a:xfrm>
      </p:grpSpPr>
      <p:sp>
        <p:nvSpPr>
          <p:cNvPr id="532" name="Google Shape;532;p58">
            <a:extLst>
              <a:ext uri="{FF2B5EF4-FFF2-40B4-BE49-F238E27FC236}">
                <a16:creationId id="{CCCB27A2-1D9F-6514-0821-C7CC3F675523}"/>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6</a:t>
            </a:fld>
            <a:endParaRPr dirty="0">
              <a:sym typeface="OpenAI Sans"/>
            </a:endParaRPr>
          </a:p>
        </p:txBody>
      </p:sp>
      <p:sp>
        <p:nvSpPr>
          <p:cNvPr id="10" name="Rounded Rectangle 9">
            <a:extLst>
              <a:ext uri="{FF2B5EF4-FFF2-40B4-BE49-F238E27FC236}">
                <a16:creationId id="{8B4C5563-C118-E2D4-2A1A-F84171FF9E48}"/>
              </a:ext>
            </a:extLst>
          </p:cNvPr>
          <p:cNvSpPr/>
          <p:nvPr/>
        </p:nvSpPr>
        <p:spPr>
          <a:xfrm>
            <a:off x="4308953" y="3365501"/>
            <a:ext cx="3568700" cy="26289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1" name="Rounded Rectangle 10">
            <a:extLst>
              <a:ext uri="{FF2B5EF4-FFF2-40B4-BE49-F238E27FC236}">
                <a16:creationId id="{87EC77EB-07E7-2818-9132-6416EC5EFF5D}"/>
              </a:ext>
            </a:extLst>
          </p:cNvPr>
          <p:cNvSpPr/>
          <p:nvPr/>
        </p:nvSpPr>
        <p:spPr>
          <a:xfrm>
            <a:off x="8229600" y="3365501"/>
            <a:ext cx="3568700" cy="26289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
        <p:nvSpPr>
          <p:cNvPr id="12" name="Content Placeholder 9">
            <a:extLst>
              <a:ext uri="{FF2B5EF4-FFF2-40B4-BE49-F238E27FC236}">
                <a16:creationId id="{14F9DBD7-0427-326B-17D5-5DD215C447E9}"/>
              </a:ext>
            </a:extLst>
          </p:cNvPr>
          <p:cNvSpPr txBox="1">
            <a:spLocks/>
          </p:cNvSpPr>
          <p:nvPr/>
        </p:nvSpPr>
        <p:spPr>
          <a:xfrm>
            <a:off x="4621821" y="4146160"/>
            <a:ext cx="2949339" cy="1432877"/>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defRPr/>
            </a:pPr>
            <a:r>
              <a:rPr lang="en-US" sz="1600"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sym typeface="OpenAI Sans"/>
              </a:rPr>
              <a:t>Human review</a:t>
            </a:r>
          </a:p>
          <a:p>
            <a:pPr marL="0" indent="0">
              <a:lnSpc>
                <a:spcPct val="114000"/>
              </a:lnSpc>
              <a:spcBef>
                <a:spcPts val="0"/>
              </a:spcBef>
              <a:spcAft>
                <a:spcPts val="800"/>
              </a:spcAft>
              <a:buFont typeface="Arial" panose="020B0604020202020204" pitchFamily="34" charset="0"/>
              <a:buNone/>
              <a:defRPr/>
            </a:pPr>
            <a:r>
              <a:rPr lang="en-US" sz="1600" dirty="0">
                <a:solidFill>
                  <a:prstClr val="black"/>
                </a:solidFill>
                <a:ea typeface="Helvetica Neue" panose="02000503000000020004" pitchFamily="2" charset="0"/>
                <a:cs typeface="Helvetica Neue" panose="02000503000000020004" pitchFamily="2" charset="0"/>
                <a:sym typeface="OpenAI Sans"/>
              </a:rPr>
              <a:t>Keep each draft pending until an authorized evaluator approves or rejects it.</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endParaRPr lang="en-US" sz="1600" dirty="0"/>
          </a:p>
        </p:txBody>
      </p:sp>
      <p:sp>
        <p:nvSpPr>
          <p:cNvPr id="13" name="Content Placeholder 10">
            <a:extLst>
              <a:ext uri="{FF2B5EF4-FFF2-40B4-BE49-F238E27FC236}">
                <a16:creationId id="{A81FFF27-06E1-B925-B772-E8C07A029EE7}"/>
              </a:ext>
            </a:extLst>
          </p:cNvPr>
          <p:cNvSpPr txBox="1">
            <a:spLocks/>
          </p:cNvSpPr>
          <p:nvPr/>
        </p:nvSpPr>
        <p:spPr>
          <a:xfrm>
            <a:off x="8536094" y="4146160"/>
            <a:ext cx="2949339" cy="1432877"/>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defRPr/>
            </a:pPr>
            <a:r>
              <a:rPr lang="en-US" sz="1600"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sym typeface="OpenAI Sans"/>
              </a:rPr>
              <a:t>Verified follow-through</a:t>
            </a:r>
          </a:p>
          <a:p>
            <a:pPr marL="0" indent="0">
              <a:lnSpc>
                <a:spcPct val="114000"/>
              </a:lnSpc>
              <a:spcBef>
                <a:spcPts val="0"/>
              </a:spcBef>
              <a:spcAft>
                <a:spcPts val="800"/>
              </a:spcAft>
              <a:buFont typeface="Arial" panose="020B0604020202020204" pitchFamily="34" charset="0"/>
              <a:buNone/>
              <a:defRPr/>
            </a:pPr>
            <a:r>
              <a:rPr lang="en-US" sz="1600" dirty="0">
                <a:solidFill>
                  <a:prstClr val="black"/>
                </a:solidFill>
                <a:ea typeface="Helvetica Neue" panose="02000503000000020004" pitchFamily="2" charset="0"/>
                <a:cs typeface="Helvetica Neue" panose="02000503000000020004" pitchFamily="2" charset="0"/>
                <a:sym typeface="OpenAI Sans"/>
              </a:rPr>
              <a:t>Track the owner and due date; close only after a reviewer checks completion proof.</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endParaRPr lang="en-US" sz="1600" dirty="0"/>
          </a:p>
        </p:txBody>
      </p:sp>
      <p:sp>
        <p:nvSpPr>
          <p:cNvPr id="14" name="Google Shape;340;p61">
            <a:extLst>
              <a:ext uri="{FF2B5EF4-FFF2-40B4-BE49-F238E27FC236}">
                <a16:creationId id="{D182FC54-B4D0-2FD9-7909-F4321F70186F}"/>
              </a:ext>
            </a:extLst>
          </p:cNvPr>
          <p:cNvSpPr/>
          <p:nvPr/>
        </p:nvSpPr>
        <p:spPr>
          <a:xfrm>
            <a:off x="4627645" y="3694101"/>
            <a:ext cx="233806" cy="233717"/>
          </a:xfrm>
          <a:custGeom>
            <a:avLst/>
            <a:gdLst/>
            <a:ahLst/>
            <a:cxnLst/>
            <a:rect l="l" t="t" r="r" b="b"/>
            <a:pathLst>
              <a:path w="21600" h="21600" extrusionOk="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accent1"/>
          </a:solidFill>
          <a:ln>
            <a:noFill/>
          </a:ln>
        </p:spPr>
        <p:txBody>
          <a:bodyPr spcFirstLastPara="1" wrap="square" lIns="38100" tIns="38100" rIns="38100" bIns="38100" anchor="ctr" anchorCtr="0">
            <a:noAutofit/>
          </a:bodyPr>
          <a:lstStyle/>
          <a:p>
            <a:pPr algn="ctr">
              <a:buClr>
                <a:srgbClr val="FFFFFF"/>
              </a:buClr>
              <a:buSzPts val="2400"/>
            </a:pPr>
            <a:endParaRPr sz="2400">
              <a:solidFill>
                <a:srgbClr val="FFFFFF"/>
              </a:solidFill>
              <a:latin typeface="Helvetica Neue"/>
              <a:ea typeface="Helvetica Neue"/>
              <a:cs typeface="Helvetica Neue"/>
              <a:sym typeface="Helvetica Neue"/>
            </a:endParaRPr>
          </a:p>
        </p:txBody>
      </p:sp>
      <p:sp>
        <p:nvSpPr>
          <p:cNvPr id="15" name="Google Shape;340;p61">
            <a:extLst>
              <a:ext uri="{FF2B5EF4-FFF2-40B4-BE49-F238E27FC236}">
                <a16:creationId id="{12304657-C94E-6AEC-95B3-FF04FD52D51C}"/>
              </a:ext>
            </a:extLst>
          </p:cNvPr>
          <p:cNvSpPr/>
          <p:nvPr/>
        </p:nvSpPr>
        <p:spPr>
          <a:xfrm>
            <a:off x="8533270" y="3694102"/>
            <a:ext cx="233806" cy="233717"/>
          </a:xfrm>
          <a:custGeom>
            <a:avLst/>
            <a:gdLst/>
            <a:ahLst/>
            <a:cxnLst/>
            <a:rect l="l" t="t" r="r" b="b"/>
            <a:pathLst>
              <a:path w="21600" h="21600" extrusionOk="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accent1"/>
          </a:solidFill>
          <a:ln>
            <a:noFill/>
          </a:ln>
        </p:spPr>
        <p:txBody>
          <a:bodyPr spcFirstLastPara="1" wrap="square" lIns="38100" tIns="38100" rIns="38100" bIns="38100" anchor="ctr" anchorCtr="0">
            <a:noAutofit/>
          </a:bodyPr>
          <a:lstStyle/>
          <a:p>
            <a:pPr algn="ctr">
              <a:buClr>
                <a:srgbClr val="FFFFFF"/>
              </a:buClr>
              <a:buSzPts val="2400"/>
            </a:pPr>
            <a:endParaRPr sz="2400">
              <a:solidFill>
                <a:srgbClr val="FFFFFF"/>
              </a:solidFill>
              <a:latin typeface="Helvetica Neue"/>
              <a:ea typeface="Helvetica Neue"/>
              <a:cs typeface="Helvetica Neue"/>
              <a:sym typeface="Helvetica Neue"/>
            </a:endParaRPr>
          </a:p>
        </p:txBody>
      </p:sp>
      <p:sp>
        <p:nvSpPr>
          <p:cNvPr id="2" name="Footer Placeholder 1">
            <a:extLst>
              <a:ext uri="{FF2B5EF4-FFF2-40B4-BE49-F238E27FC236}">
                <a16:creationId id="{7FAC9A03-119F-393D-2295-2587BE7C4F73}"/>
              </a:ext>
            </a:extLst>
          </p:cNvPr>
          <p:cNvSpPr>
            <a:spLocks noGrp="1"/>
          </p:cNvSpPr>
          <p:nvPr>
            <p:ph type="ftr" sz="quarter" idx="3"/>
          </p:nvPr>
        </p:nvSpPr>
        <p:spPr/>
        <p:txBody>
          <a:bodyPr/>
          <a:lstStyle/>
          <a:p>
            <a:endParaRPr lang="en-US" sz="1100" dirty="0"/>
          </a:p>
        </p:txBody>
      </p:sp>
      <p:sp>
        <p:nvSpPr>
          <p:cNvPr id="4" name="Title 3">
            <a:extLst>
              <a:ext uri="{FF2B5EF4-FFF2-40B4-BE49-F238E27FC236}">
                <a16:creationId id="{2F7C895E-DE9C-ED5D-5936-715D047B60E4}"/>
              </a:ext>
            </a:extLst>
          </p:cNvPr>
          <p:cNvSpPr>
            <a:spLocks noGrp="1"/>
          </p:cNvSpPr>
          <p:nvPr>
            <p:ph type="title"/>
          </p:nvPr>
        </p:nvSpPr>
        <p:spPr>
          <a:xfrm>
            <a:off x="393700" y="344008"/>
            <a:ext cx="11404600" cy="755665"/>
          </a:xfrm>
        </p:spPr>
        <p:txBody>
          <a:bodyPr/>
          <a:lstStyle/>
          <a:p>
            <a:r>
              <a:rPr lang="en-US" dirty="0">
                <a:solidFill>
                  <a:schemeClr val="accent1"/>
                </a:solidFill>
              </a:rPr>
              <a:t>Value hypotheses to test</a:t>
            </a:r>
          </a:p>
        </p:txBody>
      </p:sp>
      <p:sp>
        <p:nvSpPr>
          <p:cNvPr id="5" name="Rounded Rectangle 4">
            <a:extLst>
              <a:ext uri="{FF2B5EF4-FFF2-40B4-BE49-F238E27FC236}">
                <a16:creationId id="{E49F3E50-E7DD-037F-1687-7A3A08473928}"/>
              </a:ext>
            </a:extLst>
          </p:cNvPr>
          <p:cNvSpPr/>
          <p:nvPr/>
        </p:nvSpPr>
        <p:spPr>
          <a:xfrm>
            <a:off x="422753" y="3365501"/>
            <a:ext cx="3568700" cy="26289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6" name="Content Placeholder 9">
            <a:extLst>
              <a:ext uri="{FF2B5EF4-FFF2-40B4-BE49-F238E27FC236}">
                <a16:creationId id="{895137EF-1168-9543-8134-200AA74D8FBB}"/>
              </a:ext>
            </a:extLst>
          </p:cNvPr>
          <p:cNvSpPr txBox="1">
            <a:spLocks/>
          </p:cNvSpPr>
          <p:nvPr/>
        </p:nvSpPr>
        <p:spPr>
          <a:xfrm>
            <a:off x="735621" y="4146160"/>
            <a:ext cx="2949339" cy="1432877"/>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defRPr/>
            </a:pPr>
            <a:r>
              <a:rPr lang="en-US" sz="1600"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sym typeface="OpenAI Sans"/>
              </a:rPr>
              <a:t>Evidence trace</a:t>
            </a:r>
          </a:p>
          <a:p>
            <a:pPr marL="0" indent="0">
              <a:lnSpc>
                <a:spcPct val="114000"/>
              </a:lnSpc>
              <a:spcBef>
                <a:spcPts val="0"/>
              </a:spcBef>
              <a:spcAft>
                <a:spcPts val="800"/>
              </a:spcAft>
              <a:buFont typeface="Arial" panose="020B0604020202020204" pitchFamily="34" charset="0"/>
              <a:buNone/>
              <a:defRPr/>
            </a:pPr>
            <a:r>
              <a:rPr lang="en-US" sz="1600" dirty="0">
                <a:solidFill>
                  <a:prstClr val="black"/>
                </a:solidFill>
                <a:ea typeface="Helvetica Neue" panose="02000503000000020004" pitchFamily="2" charset="0"/>
                <a:cs typeface="Helvetica Neue" panose="02000503000000020004" pitchFamily="2" charset="0"/>
                <a:sym typeface="OpenAI Sans"/>
              </a:rPr>
              <a:t>Open the source row, note line, or transcript segment behind a proposed claim.</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r>
              <a:rPr lang="en-US" sz="1600" dirty="0" err="1">
                <a:solidFill>
                  <a:prstClr val="black"/>
                </a:solidFill>
                <a:ea typeface="Helvetica Neue" panose="02000503000000020004" pitchFamily="2" charset="0"/>
                <a:cs typeface="Helvetica Neue" panose="02000503000000020004" pitchFamily="2" charset="0"/>
                <a:sym typeface="OpenAI Sans"/>
              </a:rPr>
              <a:t/>
            </a:r>
            <a:r>
              <a:rPr lang="en-US" sz="1600" dirty="0">
                <a:solidFill>
                  <a:prstClr val="black"/>
                </a:solidFill>
                <a:ea typeface="Helvetica Neue" panose="02000503000000020004" pitchFamily="2" charset="0"/>
                <a:cs typeface="Helvetica Neue" panose="02000503000000020004" pitchFamily="2" charset="0"/>
                <a:sym typeface="OpenAI Sans"/>
              </a:rPr>
              <a:t/>
            </a:r>
            <a:endParaRPr lang="en-US" sz="1600" dirty="0"/>
          </a:p>
        </p:txBody>
      </p:sp>
      <p:sp>
        <p:nvSpPr>
          <p:cNvPr id="7" name="Google Shape;340;p61">
            <a:extLst>
              <a:ext uri="{FF2B5EF4-FFF2-40B4-BE49-F238E27FC236}">
                <a16:creationId id="{A926CAA1-5F44-3769-A410-E058BAEE3B13}"/>
              </a:ext>
            </a:extLst>
          </p:cNvPr>
          <p:cNvSpPr/>
          <p:nvPr/>
        </p:nvSpPr>
        <p:spPr>
          <a:xfrm>
            <a:off x="741445" y="3694101"/>
            <a:ext cx="233806" cy="233717"/>
          </a:xfrm>
          <a:custGeom>
            <a:avLst/>
            <a:gdLst/>
            <a:ahLst/>
            <a:cxnLst/>
            <a:rect l="l" t="t" r="r" b="b"/>
            <a:pathLst>
              <a:path w="21600" h="21600" extrusionOk="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accent1"/>
          </a:solidFill>
          <a:ln>
            <a:noFill/>
          </a:ln>
        </p:spPr>
        <p:txBody>
          <a:bodyPr spcFirstLastPara="1" wrap="square" lIns="38100" tIns="38100" rIns="38100" bIns="38100" anchor="ctr" anchorCtr="0">
            <a:noAutofit/>
          </a:bodyPr>
          <a:lstStyle/>
          <a:p>
            <a:pPr algn="ctr">
              <a:buClr>
                <a:srgbClr val="FFFFFF"/>
              </a:buClr>
              <a:buSzPts val="2400"/>
            </a:pPr>
            <a:endParaRPr sz="2400">
              <a:solidFill>
                <a:srgbClr val="FFFFFF"/>
              </a:solidFill>
              <a:latin typeface="Helvetica Neue"/>
              <a:ea typeface="Helvetica Neue"/>
              <a:cs typeface="Helvetica Neue"/>
              <a:sym typeface="Helvetica Neue"/>
            </a:endParaRPr>
          </a:p>
        </p:txBody>
      </p:sp>
      <p:sp>
        <p:nvSpPr>
          <p:cNvPr id="17" name="Google Shape;534;p58">
            <a:extLst>
              <a:ext uri="{FF2B5EF4-FFF2-40B4-BE49-F238E27FC236}">
                <a16:creationId id="{208EF3D1-5C57-8D4F-49C8-21BD74420786}"/>
              </a:ext>
            </a:extLst>
          </p:cNvPr>
          <p:cNvSpPr txBox="1">
            <a:spLocks/>
          </p:cNvSpPr>
          <p:nvPr/>
        </p:nvSpPr>
        <p:spPr>
          <a:xfrm>
            <a:off x="393700" y="1820543"/>
            <a:ext cx="11404600" cy="1326615"/>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A proposed review should test source traceability, evaluator corrections, and action follow-through in an existing exercise workflow.</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p>
          <a:p>
            <a:pPr marL="0" indent="0">
              <a:lnSpc>
                <a:spcPct val="114000"/>
              </a:lnSpc>
              <a:spcBef>
                <a:spcPts val="0"/>
              </a:spcBef>
              <a:spcAft>
                <a:spcPts val="800"/>
              </a:spcAft>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Existing platforms already offer after-action reports and follow-up tasks. DrillLoop’s positioning hypothesis is the connected trail from claim to source, reviewer decision, and verified closure—not report generation alone.</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
        <p:nvSpPr>
          <p:cNvPr id="18" name="Google Shape;534;p58">
            <a:extLst>
              <a:ext uri="{FF2B5EF4-FFF2-40B4-BE49-F238E27FC236}">
                <a16:creationId id="{93CCF932-231F-7EA0-6520-FFB192B4EFA5}"/>
              </a:ext>
            </a:extLst>
          </p:cNvPr>
          <p:cNvSpPr txBox="1">
            <a:spLocks/>
          </p:cNvSpPr>
          <p:nvPr/>
        </p:nvSpPr>
        <p:spPr>
          <a:xfrm>
            <a:off x="393699" y="1318016"/>
            <a:ext cx="11404599" cy="40244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2000" dirty="0">
                <a:latin typeface="+mj-lt"/>
                <a:ea typeface="Helvetica Neue" panose="02000503000000020004" pitchFamily="2" charset="0"/>
                <a:cs typeface="Helvetica Neue" panose="02000503000000020004" pitchFamily="2" charset="0"/>
                <a:sym typeface="OpenAI Sans"/>
              </a:rPr>
              <a:t>No savings or willingness to pay have been measured.</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endParaRPr lang="en-US" sz="2000" dirty="0">
              <a:latin typeface="+mj-lt"/>
              <a:ea typeface="Helvetica Neue Medium" panose="02000503000000020004" pitchFamily="2" charset="0"/>
              <a:cs typeface="Helvetica Neue Medium" panose="02000503000000020004" pitchFamily="2" charset="0"/>
              <a:sym typeface="OpenAI Sans"/>
            </a:endParaRPr>
          </a:p>
        </p:txBody>
      </p:sp>
    </p:spTree>
    <p:extLst>
      <p:ext uri="{BB962C8B-B14F-4D97-AF65-F5344CB8AC3E}">
        <p14:creationId val="1566183075"/>
      </p:ext>
    </p:extLst>
  </p:cSld>
  <p:clrMapOvr>
    <a:masterClrMapping/>
  </p:clrMapOvr>
</p:sld>
</file>

<file path=ppt/slides/slide7.xml><?xml version="1.0" encoding="utf-8"?>
<p:sld xmlns:a="http://schemas.openxmlformats.org/drawingml/2006/main" xmlns:a16="http://schemas.microsoft.com/office/drawing/2014/main" xmlns:p="http://schemas.openxmlformats.org/presentationml/2006/main" xmlns:p14="http://schemas.microsoft.com/office/powerpoint/2010/main">
  <p:cSld>
    <p:spTree>
      <p:nvGrpSpPr>
        <p:cNvPr id="1" name="Shape 531">
          <a:extLst>
            <a:ext uri="{FF2B5EF4-FFF2-40B4-BE49-F238E27FC236}">
              <a16:creationId id="{955627D7-4531-FF60-E9C2-2F11A6392F36}"/>
            </a:ext>
          </a:extLst>
        </p:cNvPr>
        <p:cNvGrpSpPr/>
        <p:nvPr/>
      </p:nvGrpSpPr>
      <p:grpSpPr>
        <a:xfrm>
          <a:off x="0" y="0"/>
          <a:ext cx="0" cy="0"/>
          <a:chOff x="0" y="0"/>
          <a:chExt cx="0" cy="0"/>
        </a:xfrm>
      </p:grpSpPr>
      <p:sp>
        <p:nvSpPr>
          <p:cNvPr id="534" name="Google Shape;534;p58">
            <a:extLst>
              <a:ext uri="{FF2B5EF4-FFF2-40B4-BE49-F238E27FC236}">
                <a16:creationId id="{C936F667-D10C-5292-AA3B-96BE2CAC84D9}"/>
              </a:ext>
            </a:extLst>
          </p:cNvPr>
          <p:cNvSpPr txBox="1">
            <a:spLocks noGrp="1"/>
          </p:cNvSpPr>
          <p:nvPr>
            <p:ph idx="1"/>
          </p:nvPr>
        </p:nvSpPr>
        <p:spPr>
          <a:xfrm>
            <a:off x="393700" y="2192694"/>
            <a:ext cx="5537200" cy="3801706"/>
          </a:xfrm>
          <a:prstGeom prst="rect">
            <a:avLst/>
          </a:prstGeom>
        </p:spPr>
        <p:txBody>
          <a:bodyPr spcFirstLastPara="1" vert="horz" wrap="square" lIns="0" tIns="0" rIns="0" bIns="0" rtlCol="0" anchor="t" anchorCtr="0">
            <a:noAutofit/>
          </a:bodyPr>
          <a:lstStyle/>
          <a:p>
            <a:pPr marL="0" indent="0">
              <a:lnSpc>
                <a:spcPct val="114000"/>
              </a:lnSpc>
              <a:spcBef>
                <a:spcPts val="0"/>
              </a:spcBef>
              <a:spcAft>
                <a:spcPts val="800"/>
              </a:spcAft>
              <a:buNone/>
            </a:pPr>
            <a:r>
              <a:rPr lang="en-US" sz="1400" dirty="0">
                <a:ea typeface="Helvetica Neue" panose="02000503000000020004" pitchFamily="2" charset="0"/>
                <a:cs typeface="Helvetica Neue" panose="02000503000000020004" pitchFamily="2" charset="0"/>
                <a:sym typeface="OpenAI Sans"/>
              </a:rPr>
              <a:t>The app sets up exercises and accepts evaluator notes, event logs, and readable PDFs. It places recorded events on a timeline, flags conflicting times, and attaches each draft finding to its source.</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p>
          <a:p>
            <a:pPr marL="0" indent="0">
              <a:lnSpc>
                <a:spcPct val="114000"/>
              </a:lnSpc>
              <a:spcBef>
                <a:spcPts val="0"/>
              </a:spcBef>
              <a:spcAft>
                <a:spcPts val="800"/>
              </a:spcAft>
              <a:buNone/>
            </a:pPr>
            <a:r>
              <a:rPr lang="en-US" sz="1400" dirty="0">
                <a:ea typeface="Helvetica Neue" panose="02000503000000020004" pitchFamily="2" charset="0"/>
                <a:cs typeface="Helvetica Neue" panose="02000503000000020004" pitchFamily="2" charset="0"/>
                <a:sym typeface="OpenAI Sans"/>
              </a:rPr>
              <a:t>Reviewers can accept or reject drafts, assign owners and due dates, specify how completion will be checked, record closure proof, and export a report. SQLite supports the local demo; PostgreSQL is available in Compose for deployment experiments.</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p>
          <a:p>
            <a:pPr marL="0" indent="0">
              <a:lnSpc>
                <a:spcPct val="114000"/>
              </a:lnSpc>
              <a:spcBef>
                <a:spcPts val="0"/>
              </a:spcBef>
              <a:spcAft>
                <a:spcPts val="800"/>
              </a:spcAft>
              <a:buNone/>
            </a:pPr>
            <a:r>
              <a:rPr lang="en-US" sz="1400" dirty="0">
                <a:ea typeface="Helvetica Neue" panose="02000503000000020004" pitchFamily="2" charset="0"/>
                <a:cs typeface="Helvetica Neue" panose="02000503000000020004" pitchFamily="2" charset="0"/>
                <a:sym typeface="OpenAI Sans"/>
              </a:rPr>
              <a:t>Optional speech-to-text and text-drafting models can run locally. Neither was used in the reported benchmark.</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p>
        </p:txBody>
      </p:sp>
      <p:sp>
        <p:nvSpPr>
          <p:cNvPr id="532" name="Google Shape;532;p58">
            <a:extLst>
              <a:ext uri="{FF2B5EF4-FFF2-40B4-BE49-F238E27FC236}">
                <a16:creationId id="{C5959EFF-52C4-5B31-3FCE-BFF3A75CF3CF}"/>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smtClean="0">
                <a:sym typeface="OpenAI Sans"/>
              </a:rPr>
              <a:pPr/>
              <a:t>7</a:t>
            </a:fld>
            <a:endParaRPr lang="en" dirty="0">
              <a:sym typeface="OpenAI Sans"/>
            </a:endParaRPr>
          </a:p>
        </p:txBody>
      </p:sp>
      <p:sp>
        <p:nvSpPr>
          <p:cNvPr id="533" name="Google Shape;533;p58">
            <a:extLst>
              <a:ext uri="{FF2B5EF4-FFF2-40B4-BE49-F238E27FC236}">
                <a16:creationId id="{469ED97F-6CDE-1EE8-6602-FE9CC4D732BE}"/>
              </a:ext>
            </a:extLst>
          </p:cNvPr>
          <p:cNvSpPr txBox="1">
            <a:spLocks noGrp="1"/>
          </p:cNvSpPr>
          <p:nvPr>
            <p:ph type="title"/>
          </p:nvPr>
        </p:nvSpPr>
        <p:spPr>
          <a:xfrm>
            <a:off x="393700" y="355026"/>
            <a:ext cx="7835900" cy="1029274"/>
          </a:xfrm>
          <a:prstGeom prst="rect">
            <a:avLst/>
          </a:prstGeom>
        </p:spPr>
        <p:txBody>
          <a:bodyPr spcFirstLastPara="1" vert="horz" wrap="square" lIns="0" tIns="0" rIns="0" bIns="0" rtlCol="0" anchor="t" anchorCtr="0">
            <a:noAutofit/>
          </a:bodyPr>
          <a:lstStyle/>
          <a:p>
            <a:r>
              <a:rPr lang="en-US" dirty="0">
                <a:solidFill>
                  <a:schemeClr val="accent1"/>
                </a:solidFill>
              </a:rPr>
              <a:t>What is delivered—and what remains unproven</a:t>
            </a:r>
          </a:p>
        </p:txBody>
      </p:sp>
      <p:sp>
        <p:nvSpPr>
          <p:cNvPr id="2" name="Google Shape;534;p58">
            <a:extLst>
              <a:ext uri="{FF2B5EF4-FFF2-40B4-BE49-F238E27FC236}">
                <a16:creationId id="{A4A94F3C-B1B2-7289-7098-7C66C8A291D6}"/>
              </a:ext>
            </a:extLst>
          </p:cNvPr>
          <p:cNvSpPr txBox="1">
            <a:spLocks/>
          </p:cNvSpPr>
          <p:nvPr/>
        </p:nvSpPr>
        <p:spPr>
          <a:xfrm>
            <a:off x="6265111" y="2192694"/>
            <a:ext cx="5537200" cy="3801706"/>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400" dirty="0">
                <a:ea typeface="Helvetica Neue" panose="02000503000000020004" pitchFamily="2" charset="0"/>
                <a:cs typeface="Helvetica Neue" panose="02000503000000020004" pitchFamily="2" charset="0"/>
                <a:sym typeface="OpenAI Sans"/>
              </a:rPr>
              <a:t>Still unproven</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p>
          <a:p>
            <a:pPr marL="0" indent="0">
              <a:lnSpc>
                <a:spcPct val="114000"/>
              </a:lnSpc>
              <a:spcBef>
                <a:spcPts val="0"/>
              </a:spcBef>
              <a:spcAft>
                <a:spcPts val="800"/>
              </a:spcAft>
              <a:buFont typeface="Arial" panose="020B0604020202020204" pitchFamily="34" charset="0"/>
              <a:buNone/>
            </a:pPr>
            <a:r>
              <a:rPr lang="en-US" sz="1400" dirty="0">
                <a:ea typeface="Helvetica Neue" panose="02000503000000020004" pitchFamily="2" charset="0"/>
                <a:cs typeface="Helvetica Neue" panose="02000503000000020004" pitchFamily="2" charset="0"/>
                <a:sym typeface="OpenAI Sans"/>
              </a:rPr>
              <a:t>No customer interviews, paid pilots, manual timing baseline, reviewer correction study, real-audio accuracy, or local-model quality results are available.</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p>
          <a:p>
            <a:pPr marL="0" indent="0">
              <a:lnSpc>
                <a:spcPct val="114000"/>
              </a:lnSpc>
              <a:spcBef>
                <a:spcPts val="0"/>
              </a:spcBef>
              <a:spcAft>
                <a:spcPts val="800"/>
              </a:spcAft>
              <a:buFont typeface="Arial" panose="020B0604020202020204" pitchFamily="34" charset="0"/>
              <a:buNone/>
            </a:pPr>
            <a:r>
              <a:rPr lang="en-US" sz="1400" dirty="0">
                <a:ea typeface="Helvetica Neue" panose="02000503000000020004" pitchFamily="2" charset="0"/>
                <a:cs typeface="Helvetica Neue" panose="02000503000000020004" pitchFamily="2" charset="0"/>
                <a:sym typeface="OpenAI Sans"/>
              </a:rPr>
              <a:t>The perfect fixture scores reflect labels built for one fictional scenario. They do not establish general performance. Enterprise login, role-based access, and buyer demand also need validation.</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p>
        </p:txBody>
      </p:sp>
      <p:sp>
        <p:nvSpPr>
          <p:cNvPr id="6" name="Footer Placeholder 5">
            <a:extLst>
              <a:ext uri="{FF2B5EF4-FFF2-40B4-BE49-F238E27FC236}">
                <a16:creationId id="{43787D66-ADFA-FEAC-9070-B9C216CEFEAB}"/>
              </a:ext>
            </a:extLst>
          </p:cNvPr>
          <p:cNvSpPr>
            <a:spLocks noGrp="1"/>
          </p:cNvSpPr>
          <p:nvPr>
            <p:ph type="ftr" sz="quarter" idx="3"/>
          </p:nvPr>
        </p:nvSpPr>
        <p:spPr/>
        <p:txBody>
          <a:bodyPr/>
          <a:lstStyle/>
          <a:p>
            <a:endParaRPr lang="en-US" sz="1100" dirty="0"/>
          </a:p>
        </p:txBody>
      </p:sp>
      <p:sp>
        <p:nvSpPr>
          <p:cNvPr id="3" name="Google Shape;534;p58">
            <a:extLst>
              <a:ext uri="{FF2B5EF4-FFF2-40B4-BE49-F238E27FC236}">
                <a16:creationId id="{FD46BF2A-8122-2E0A-E8CC-886653CF64DA}"/>
              </a:ext>
            </a:extLst>
          </p:cNvPr>
          <p:cNvSpPr txBox="1">
            <a:spLocks/>
          </p:cNvSpPr>
          <p:nvPr/>
        </p:nvSpPr>
        <p:spPr>
          <a:xfrm>
            <a:off x="393700" y="1310936"/>
            <a:ext cx="5537200" cy="719318"/>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pPr>
            <a:r>
              <a:rPr lang="en-US" sz="2000" dirty="0">
                <a:latin typeface="+mj-lt"/>
                <a:ea typeface="Helvetica Neue" panose="02000503000000020004" pitchFamily="2" charset="0"/>
                <a:cs typeface="Helvetica Neue" panose="02000503000000020004" pitchFamily="2" charset="0"/>
                <a:sym typeface="OpenAI Sans"/>
              </a:rPr>
              <a:t>Delivered in the MVP</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p>
        </p:txBody>
      </p:sp>
    </p:spTree>
    <p:extLst>
      <p:ext uri="{BB962C8B-B14F-4D97-AF65-F5344CB8AC3E}">
        <p14:creationId val="546221724"/>
      </p:ext>
    </p:extLst>
  </p:cSld>
  <p:clrMapOvr>
    <a:masterClrMapping/>
  </p:clrMapOvr>
</p:sld>
</file>

<file path=ppt/slides/slide8.xml><?xml version="1.0" encoding="utf-8"?>
<p:sld xmlns:a="http://schemas.openxmlformats.org/drawingml/2006/main" xmlns:a16="http://schemas.microsoft.com/office/drawing/2014/main" xmlns:p="http://schemas.openxmlformats.org/presentationml/2006/main" xmlns:p14="http://schemas.microsoft.com/office/powerpoint/2010/main">
  <p:cSld>
    <p:spTree>
      <p:nvGrpSpPr>
        <p:cNvPr id="1" name="Shape 531">
          <a:extLst>
            <a:ext uri="{FF2B5EF4-FFF2-40B4-BE49-F238E27FC236}">
              <a16:creationId id="{2F4F4A9C-A879-377C-6409-053F582355F7}"/>
            </a:ext>
          </a:extLst>
        </p:cNvPr>
        <p:cNvGrpSpPr/>
        <p:nvPr/>
      </p:nvGrpSpPr>
      <p:grpSpPr>
        <a:xfrm>
          <a:off x="0" y="0"/>
          <a:ext cx="0" cy="0"/>
          <a:chOff x="0" y="0"/>
          <a:chExt cx="0" cy="0"/>
        </a:xfrm>
      </p:grpSpPr>
      <p:sp>
        <p:nvSpPr>
          <p:cNvPr id="532" name="Google Shape;532;p58">
            <a:extLst>
              <a:ext uri="{FF2B5EF4-FFF2-40B4-BE49-F238E27FC236}">
                <a16:creationId id="{CF5D028D-B73B-5BFF-0AA5-65F94FB570F9}"/>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8</a:t>
            </a:fld>
            <a:endParaRPr dirty="0">
              <a:sym typeface="OpenAI Sans"/>
            </a:endParaRPr>
          </a:p>
        </p:txBody>
      </p:sp>
      <p:sp>
        <p:nvSpPr>
          <p:cNvPr id="533" name="Google Shape;533;p58">
            <a:extLst>
              <a:ext uri="{FF2B5EF4-FFF2-40B4-BE49-F238E27FC236}">
                <a16:creationId id="{D035ED81-B82C-6CFE-FAA7-0911E05CDEB2}"/>
              </a:ext>
            </a:extLst>
          </p:cNvPr>
          <p:cNvSpPr txBox="1">
            <a:spLocks noGrp="1"/>
          </p:cNvSpPr>
          <p:nvPr>
            <p:ph type="title"/>
          </p:nvPr>
        </p:nvSpPr>
        <p:spPr>
          <a:xfrm>
            <a:off x="393700" y="1170935"/>
            <a:ext cx="11404600" cy="1797958"/>
          </a:xfrm>
          <a:prstGeom prst="rect">
            <a:avLst/>
          </a:prstGeom>
        </p:spPr>
        <p:txBody>
          <a:bodyPr spcFirstLastPara="1" vert="horz" wrap="square" lIns="0" tIns="0" rIns="0" bIns="0" rtlCol="0" anchor="b" anchorCtr="0">
            <a:noAutofit/>
          </a:bodyPr>
          <a:lstStyle/>
          <a:p>
            <a:pPr algn="ctr"/>
            <a:r>
              <a:rPr lang="en-US" sz="4200" dirty="0">
                <a:solidFill>
                  <a:schemeClr val="accent1"/>
                </a:solidFill>
              </a:rPr>
              <a:t>Target markets are hypotheses, not customers</a:t>
            </a:r>
            <a:br>
              <a:rPr lang="en-US" sz="4200" dirty="0">
                <a:solidFill>
                  <a:schemeClr val="accent1"/>
                </a:solidFill>
              </a:rPr>
            </a:br>
            <a:r>
              <a:rPr lang="en-US" sz="4200" dirty="0">
                <a:solidFill>
                  <a:schemeClr val="accent1"/>
                </a:solidFill>
              </a:rPr>
              <a:t/>
            </a:r>
            <a:endParaRPr sz="4200" dirty="0">
              <a:solidFill>
                <a:schemeClr val="accent1"/>
              </a:solidFill>
            </a:endParaRPr>
          </a:p>
        </p:txBody>
      </p:sp>
      <p:sp>
        <p:nvSpPr>
          <p:cNvPr id="2" name="Footer Placeholder 1">
            <a:extLst>
              <a:ext uri="{FF2B5EF4-FFF2-40B4-BE49-F238E27FC236}">
                <a16:creationId id="{AEFF86C5-A7D2-315F-C644-70488B8E4BC8}"/>
              </a:ext>
            </a:extLst>
          </p:cNvPr>
          <p:cNvSpPr>
            <a:spLocks noGrp="1"/>
          </p:cNvSpPr>
          <p:nvPr>
            <p:ph type="ftr" sz="quarter" idx="3"/>
          </p:nvPr>
        </p:nvSpPr>
        <p:spPr/>
        <p:txBody>
          <a:bodyPr/>
          <a:lstStyle/>
          <a:p>
            <a:endParaRPr lang="en-US" sz="1100" dirty="0"/>
          </a:p>
        </p:txBody>
      </p:sp>
      <p:sp>
        <p:nvSpPr>
          <p:cNvPr id="3" name="Google Shape;534;p58">
            <a:extLst>
              <a:ext uri="{FF2B5EF4-FFF2-40B4-BE49-F238E27FC236}">
                <a16:creationId id="{6730FFED-E57C-67CB-4BAA-568126831AB5}"/>
              </a:ext>
            </a:extLst>
          </p:cNvPr>
          <p:cNvSpPr txBox="1">
            <a:spLocks/>
          </p:cNvSpPr>
          <p:nvPr/>
        </p:nvSpPr>
        <p:spPr>
          <a:xfrm>
            <a:off x="2549677" y="3297710"/>
            <a:ext cx="7092645" cy="186590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000"/>
              </a:lnSpc>
              <a:spcBef>
                <a:spcPts val="0"/>
              </a:spcBef>
              <a:spcAft>
                <a:spcPts val="800"/>
              </a:spcAft>
              <a:buFont typeface="Arial" panose="020B0604020202020204" pitchFamily="34" charset="0"/>
              <a:buNone/>
            </a:pPr>
            <a:r>
              <a:rPr lang="en-US" sz="1600">
                <a:latin typeface="Helvetica Neue" panose="02000503000000020004" pitchFamily="2" charset="0"/>
                <a:ea typeface="Helvetica Neue" panose="02000503000000020004" pitchFamily="2" charset="0"/>
                <a:cs typeface="Helvetica Neue" panose="02000503000000020004" pitchFamily="2" charset="0"/>
                <a:sym typeface="OpenAI Sans"/>
              </a:rPr>
              <a:t>Start with hospital-preparedness evaluators reviewing tabletop exercises. Municipal teams, airports, civil defense and disaster agencies, training providers, defense-support teams, and critical infrastructure operators are later hypotheses. No customer list, sales pipeline, market-size estimate, or willingness-to-pay evidence is available.</a:t>
            </a:r>
          </a:p>
          <a:p>
            <a:pPr marL="0" indent="0" algn="ctr">
              <a:lnSpc>
                <a:spcPct val="114000"/>
              </a:lnSpc>
              <a:spcBef>
                <a:spcPts val="0"/>
              </a:spcBef>
              <a:spcAft>
                <a:spcPts val="800"/>
              </a:spcAft>
              <a:buFont typeface="Arial" panose="020B0604020202020204" pitchFamily="34" charset="0"/>
              <a:buNone/>
            </a:pPr>
            <a:endPar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endParaRPr>
          </a:p>
        </p:txBody>
      </p:sp>
    </p:spTree>
    <p:extLst>
      <p:ext uri="{BB962C8B-B14F-4D97-AF65-F5344CB8AC3E}">
        <p14:creationId val="346614214"/>
      </p:ext>
    </p:extLst>
  </p:cSld>
  <p:clrMapOvr>
    <a:masterClrMapping/>
  </p:clrMapOvr>
</p:sld>
</file>

<file path=ppt/slides/slide9.xml><?xml version="1.0" encoding="utf-8"?>
<p:sld xmlns:a="http://schemas.openxmlformats.org/drawingml/2006/main" xmlns:a16="http://schemas.microsoft.com/office/drawing/2014/main" xmlns:p="http://schemas.openxmlformats.org/presentationml/2006/main" xmlns:p14="http://schemas.microsoft.com/office/powerpoint/2010/main">
  <p:cSld>
    <p:spTree>
      <p:nvGrpSpPr>
        <p:cNvPr id="1" name="Shape 531">
          <a:extLst>
            <a:ext uri="{FF2B5EF4-FFF2-40B4-BE49-F238E27FC236}">
              <a16:creationId id="{8F193B6A-C27E-FD2B-FCAC-CB712B9CC5D0}"/>
            </a:ext>
          </a:extLst>
        </p:cNvPr>
        <p:cNvGrpSpPr/>
        <p:nvPr/>
      </p:nvGrpSpPr>
      <p:grpSpPr>
        <a:xfrm>
          <a:off x="0" y="0"/>
          <a:ext cx="0" cy="0"/>
          <a:chOff x="0" y="0"/>
          <a:chExt cx="0" cy="0"/>
        </a:xfrm>
      </p:grpSpPr>
      <p:sp>
        <p:nvSpPr>
          <p:cNvPr id="532" name="Google Shape;532;p58">
            <a:extLst>
              <a:ext uri="{FF2B5EF4-FFF2-40B4-BE49-F238E27FC236}">
                <a16:creationId id="{C4429360-E0B5-E472-3BCB-2FC70A04DAF5}"/>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9</a:t>
            </a:fld>
            <a:endParaRPr dirty="0">
              <a:sym typeface="OpenAI Sans"/>
            </a:endParaRPr>
          </a:p>
        </p:txBody>
      </p:sp>
      <p:sp>
        <p:nvSpPr>
          <p:cNvPr id="533" name="Google Shape;533;p58">
            <a:extLst>
              <a:ext uri="{FF2B5EF4-FFF2-40B4-BE49-F238E27FC236}">
                <a16:creationId id="{3CD65521-5912-FE80-B7B5-EE9E16A1351B}"/>
              </a:ext>
            </a:extLst>
          </p:cNvPr>
          <p:cNvSpPr txBox="1">
            <a:spLocks noGrp="1"/>
          </p:cNvSpPr>
          <p:nvPr>
            <p:ph type="title"/>
          </p:nvPr>
        </p:nvSpPr>
        <p:spPr>
          <a:xfrm>
            <a:off x="393700" y="344008"/>
            <a:ext cx="7835900" cy="1040291"/>
          </a:xfrm>
          <a:prstGeom prst="rect">
            <a:avLst/>
          </a:prstGeom>
        </p:spPr>
        <p:txBody>
          <a:bodyPr spcFirstLastPara="1" vert="horz" wrap="square" lIns="0" tIns="0" rIns="0" bIns="0" rtlCol="0" anchor="t" anchorCtr="0">
            <a:noAutofit/>
          </a:bodyPr>
          <a:lstStyle/>
          <a:p>
            <a:r>
              <a:rPr lang="en-US" dirty="0">
                <a:solidFill>
                  <a:schemeClr val="accent1"/>
                </a:solidFill>
              </a:rPr>
              <a:t>Synthetic benchmark: what actually matched</a:t>
            </a:r>
            <a:endParaRPr dirty="0">
              <a:solidFill>
                <a:schemeClr val="accent1"/>
              </a:solidFill>
            </a:endParaRPr>
          </a:p>
        </p:txBody>
      </p:sp>
      <p:graphicFrame>
        <p:nvGraphicFramePr>
          <p:cNvPr id="2" name="Google Shape;644;p93">
            <a:extLst>
              <a:ext uri="{FF2B5EF4-FFF2-40B4-BE49-F238E27FC236}">
                <a16:creationId id="{D298816F-C507-1B76-C71B-E5F8461142E6}"/>
              </a:ext>
            </a:extLst>
          </p:cNvPr>
          <p:cNvGraphicFramePr/>
          <p:nvPr>
            <p:extLst>
              <p:ext uri="{D42A27DB-BD31-4B8C-83A1-F6EECF244321}">
                <p14:modId val="657042629"/>
              </p:ext>
            </p:extLst>
          </p:nvPr>
        </p:nvGraphicFramePr>
        <p:xfrm>
          <a:off x="4752742" y="1549337"/>
          <a:ext cx="6778000" cy="4627827"/>
        </p:xfrm>
        <a:graphic>
          <a:graphicData uri="http://schemas.openxmlformats.org/drawingml/2006/table">
            <a:tbl>
              <a:tblPr firstRow="1">
                <a:noFill/>
              </a:tblPr>
              <a:tblGrid>
                <a:gridCol w="1694500">
                  <a:extLst>
                    <a:ext uri="{9D8B030D-6E8A-4147-A177-3AD203B41FA5}">
                      <a16:colId val="20001"/>
                    </a:ext>
                  </a:extLst>
                </a:gridCol>
                <a:gridCol w="1694500">
                  <a:extLst>
                    <a:ext uri="{9D8B030D-6E8A-4147-A177-3AD203B41FA5}">
                      <a16:colId val="20002"/>
                    </a:ext>
                  </a:extLst>
                </a:gridCol>
                <a:gridCol w="1694500">
                  <a:extLst>
                    <a:ext uri="{9D8B030D-6E8A-4147-A177-3AD203B41FA5}">
                      <a16:colId val="20003"/>
                    </a:ext>
                  </a:extLst>
                </a:gridCol>
                <a:gridCol w="1694500">
                  <a:extLst>
                    <a:ext uri="{9D8B030D-6E8A-4147-A177-3AD203B41FA5}">
                      <a16:colId val="20004"/>
                    </a:ext>
                  </a:extLst>
                </a:gridCol>
              </a:tblGrid>
              <a:tr h="558432">
                <a:tc>
                  <a:txBody>
                    <a:bodyPr/>
                    <a:lstStyle/>
                    <a:p>
                      <a:pPr marL="0" lvl="0" indent="0" algn="l" rtl="0">
                        <a:lnSpc>
                          <a:spcPct val="110000"/>
                        </a:lnSpc>
                        <a:spcBef>
                          <a:spcPts val="0"/>
                        </a:spcBef>
                        <a:spcAft>
                          <a:spcPts val="700"/>
                        </a:spcAft>
                        <a:buNone/>
                      </a:pPr>
                      <a:r>
                        <a:rPr lang="en-US" sz="1400" b="1" dirty="0">
                          <a:solidFill>
                            <a:srgbClr val="000000"/>
                          </a:solidFill>
                          <a:latin typeface="+mn-lt"/>
                          <a:ea typeface="OpenAI Sans"/>
                          <a:cs typeface="OpenAI Sans"/>
                          <a:sym typeface="OpenAI Sans"/>
                        </a:rPr>
                        <a:t>Metric</a:t>
                      </a:r>
                      <a:endParaRPr sz="1400" b="1"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9525" cap="flat" cmpd="sng" algn="ctr">
                      <a:solidFill>
                        <a:srgbClr val="D1D2D3">
                          <a:alpha val="0"/>
                        </a:srgbClr>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b="1" dirty="0">
                          <a:solidFill>
                            <a:srgbClr val="000000"/>
                          </a:solidFill>
                          <a:latin typeface="+mn-lt"/>
                          <a:ea typeface="OpenAI Sans"/>
                          <a:cs typeface="OpenAI Sans"/>
                          <a:sym typeface="OpenAI Sans"/>
                        </a:rPr>
                        <a:t>Result</a:t>
                      </a:r>
                      <a:endParaRPr sz="1400" b="1"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9525" cap="flat" cmpd="sng">
                      <a:solidFill>
                        <a:srgbClr val="D1D2D3">
                          <a:alpha val="0"/>
                        </a:srgbClr>
                      </a:solidFill>
                      <a:prstDash val="solid"/>
                      <a:round/>
                      <a:headEnd type="none" w="sm" len="sm"/>
                      <a:tailEnd type="none" w="sm" len="sm"/>
                    </a:lnB>
                  </a:tcPr>
                </a:tc>
                <a:tc>
                  <a:txBody>
                    <a:bodyPr/>
                    <a:lstStyle/>
                    <a:p>
                      <a:pPr marL="0" lvl="0" indent="0" algn="l" rtl="0">
                        <a:lnSpc>
                          <a:spcPct val="110000"/>
                        </a:lnSpc>
                        <a:spcBef>
                          <a:spcPts val="0"/>
                        </a:spcBef>
                        <a:spcAft>
                          <a:spcPts val="700"/>
                        </a:spcAft>
                        <a:buClr>
                          <a:srgbClr val="000000"/>
                        </a:buClr>
                        <a:buSzPts val="1200"/>
                        <a:buFont typeface="Arial"/>
                        <a:buNone/>
                      </a:pPr>
                      <a:r>
                        <a:rPr lang="en-US" sz="1400" b="1">
                          <a:solidFill>
                            <a:srgbClr val="000000"/>
                          </a:solidFill>
                          <a:latin typeface="+mn-lt"/>
                          <a:ea typeface="OpenAI Sans"/>
                          <a:cs typeface="OpenAI Sans"/>
                          <a:sym typeface="OpenAI Sans"/>
                        </a:rPr>
                        <a:t>What it shows</a:t>
                      </a:r>
                      <a:endParaRPr sz="1400" b="1">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9525" cap="flat" cmpd="sng">
                      <a:solidFill>
                        <a:srgbClr val="D1D2D3">
                          <a:alpha val="0"/>
                        </a:srgbClr>
                      </a:solidFill>
                      <a:prstDash val="solid"/>
                      <a:round/>
                      <a:headEnd type="none" w="sm" len="sm"/>
                      <a:tailEnd type="none" w="sm" len="sm"/>
                    </a:lnB>
                  </a:tcPr>
                </a:tc>
                <a:tc>
                  <a:txBody>
                    <a:bodyPr/>
                    <a:lstStyle/>
                    <a:p>
                      <a:pPr marL="0" lvl="0" indent="0" algn="l" rtl="0">
                        <a:lnSpc>
                          <a:spcPct val="110000"/>
                        </a:lnSpc>
                        <a:spcBef>
                          <a:spcPts val="0"/>
                        </a:spcBef>
                        <a:spcAft>
                          <a:spcPts val="700"/>
                        </a:spcAft>
                        <a:buClr>
                          <a:srgbClr val="000000"/>
                        </a:buClr>
                        <a:buSzPts val="1200"/>
                        <a:buFont typeface="Arial"/>
                        <a:buNone/>
                      </a:pPr>
                      <a:r>
                        <a:rPr lang="en-US" sz="1400" b="1">
                          <a:solidFill>
                            <a:srgbClr val="000000"/>
                          </a:solidFill>
                          <a:latin typeface="+mn-lt"/>
                          <a:ea typeface="OpenAI Sans"/>
                          <a:cs typeface="OpenAI Sans"/>
                          <a:sym typeface="OpenAI Sans"/>
                        </a:rPr>
                        <a:t>Boundary</a:t>
                      </a:r>
                      <a:endParaRPr sz="1400" b="1">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9525" cap="flat" cmpd="sng">
                      <a:solidFill>
                        <a:srgbClr val="D1D2D3">
                          <a:alpha val="0"/>
                        </a:srgbClr>
                      </a:solidFill>
                      <a:prstDash val="solid"/>
                      <a:round/>
                      <a:headEnd type="none" w="sm" len="sm"/>
                      <a:tailEnd type="none" w="sm" len="sm"/>
                    </a:lnB>
                  </a:tcPr>
                </a:tc>
                <a:extLst>
                  <a:ext uri="{0D108BD9-81ED-4DB2-BD59-A6C34878D82A}">
                    <a16:rowId val="10000"/>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Log rows</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D1D2D3">
                          <a:alpha val="0"/>
                        </a:srgbClr>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8 / 8</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D1D2D3">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Expected rows found</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D1D2D3">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One fixture</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D1D2D3">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val="10001"/>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Findings</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5 / 5</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Expected codes found</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One fixture</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val="10002"/>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Citations</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9 / 9</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Expected IDs linked</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ID only</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val="10003"/>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Extra codes</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0 / 5</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No extra labels</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Closed set</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val="10004"/>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Uncited drafts</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0 / 5</a:t>
                      </a:r>
                      <a:endParaRPr sz="140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Each draft linked</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ID presence</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val="10005"/>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Timing</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1 + 1</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Conflict flagged; note unplaced</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One fixture</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val="10006"/>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Action fields</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31 / 32</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One owner blank</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Synthetic data</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val="10007"/>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Rule time</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4.61 / 9.13 ms</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Median / 95th percentile</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12 local calls</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val="1377717350"/>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Memory</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78.2 MB</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App and test tools</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No model</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val="306402219"/>
                  </a:ext>
                </a:extLst>
              </a:tr>
            </a:tbl>
          </a:graphicData>
        </a:graphic>
      </p:graphicFrame>
      <p:sp>
        <p:nvSpPr>
          <p:cNvPr id="3" name="Footer Placeholder 2">
            <a:extLst>
              <a:ext uri="{FF2B5EF4-FFF2-40B4-BE49-F238E27FC236}">
                <a16:creationId id="{175B304C-27F3-8A33-E6D7-E2EFCA2F82B2}"/>
              </a:ext>
            </a:extLst>
          </p:cNvPr>
          <p:cNvSpPr>
            <a:spLocks noGrp="1"/>
          </p:cNvSpPr>
          <p:nvPr>
            <p:ph type="ftr" sz="quarter" idx="3"/>
          </p:nvPr>
        </p:nvSpPr>
        <p:spPr/>
        <p:txBody>
          <a:bodyPr/>
          <a:lstStyle/>
          <a:p>
            <a:endParaRPr lang="en-US" sz="1100" dirty="0"/>
          </a:p>
        </p:txBody>
      </p:sp>
      <p:sp>
        <p:nvSpPr>
          <p:cNvPr id="7" name="Google Shape;534;p58">
            <a:extLst>
              <a:ext uri="{FF2B5EF4-FFF2-40B4-BE49-F238E27FC236}">
                <a16:creationId id="{71547039-AB2A-5CA1-49F7-26E9E71601EF}"/>
              </a:ext>
            </a:extLst>
          </p:cNvPr>
          <p:cNvSpPr txBox="1">
            <a:spLocks/>
          </p:cNvSpPr>
          <p:nvPr/>
        </p:nvSpPr>
        <p:spPr>
          <a:xfrm>
            <a:off x="393700" y="2774196"/>
            <a:ext cx="3606800" cy="3220203"/>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400" dirty="0">
                <a:ea typeface="Helvetica Neue" panose="02000503000000020004" pitchFamily="2" charset="0"/>
                <a:cs typeface="Helvetica Neue" panose="02000503000000020004" pitchFamily="2" charset="0"/>
                <a:sym typeface="OpenAI Sans"/>
              </a:rPr>
              <a:t>The test checks whether expected rows, finding codes, and evidence links are present. A linked record ID does not prove that the source supports the claim.</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p>
          <a:p>
            <a:pPr marL="0" indent="0">
              <a:lnSpc>
                <a:spcPct val="114000"/>
              </a:lnSpc>
              <a:spcBef>
                <a:spcPts val="0"/>
              </a:spcBef>
              <a:spcAft>
                <a:spcPts val="800"/>
              </a:spcAft>
              <a:buFont typeface="Arial" panose="020B0604020202020204" pitchFamily="34" charset="0"/>
              <a:buNone/>
            </a:pPr>
            <a:r>
              <a:rPr lang="en-US" sz="1400" dirty="0">
                <a:ea typeface="Helvetica Neue" panose="02000503000000020004" pitchFamily="2" charset="0"/>
                <a:cs typeface="Helvetica Neue" panose="02000503000000020004" pitchFamily="2" charset="0"/>
                <a:sym typeface="OpenAI Sans"/>
              </a:rPr>
              <a:t>One timing disagreement was flagged and one untimed note stayed unplaced. No human evaluators, real audio, or unseen exercise records were tested.</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r>
              <a:rPr lang="en-US" sz="1400" dirty="0" err="1">
                <a:ea typeface="Helvetica Neue" panose="02000503000000020004" pitchFamily="2" charset="0"/>
                <a:cs typeface="Helvetica Neue" panose="02000503000000020004" pitchFamily="2" charset="0"/>
                <a:sym typeface="OpenAI Sans"/>
              </a:rPr>
              <a:t/>
            </a:r>
            <a:r>
              <a:rPr lang="en-US" sz="1400" dirty="0">
                <a:ea typeface="Helvetica Neue" panose="02000503000000020004" pitchFamily="2" charset="0"/>
                <a:cs typeface="Helvetica Neue" panose="02000503000000020004" pitchFamily="2" charset="0"/>
                <a:sym typeface="OpenAI Sans"/>
              </a:rPr>
              <a:t/>
            </a:r>
          </a:p>
        </p:txBody>
      </p:sp>
      <p:sp>
        <p:nvSpPr>
          <p:cNvPr id="8" name="Google Shape;534;p58">
            <a:extLst>
              <a:ext uri="{FF2B5EF4-FFF2-40B4-BE49-F238E27FC236}">
                <a16:creationId id="{D136FB89-7449-CC90-F061-B6BF578EA25E}"/>
              </a:ext>
            </a:extLst>
          </p:cNvPr>
          <p:cNvSpPr txBox="1">
            <a:spLocks/>
          </p:cNvSpPr>
          <p:nvPr/>
        </p:nvSpPr>
        <p:spPr>
          <a:xfrm>
            <a:off x="393700" y="1564835"/>
            <a:ext cx="3606800" cy="1178365"/>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pPr>
            <a:r>
              <a:rPr lang="en-US" sz="2000" dirty="0">
                <a:latin typeface="+mj-lt"/>
                <a:ea typeface="Helvetica Neue" panose="02000503000000020004" pitchFamily="2" charset="0"/>
                <a:cs typeface="Helvetica Neue" panose="02000503000000020004" pitchFamily="2" charset="0"/>
                <a:sym typeface="OpenAI Sans"/>
              </a:rPr>
              <a:t>All perfect matches come from one closed fictional exercise fixture.</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r>
              <a:rPr lang="en-US" sz="2000" dirty="0" err="1">
                <a:latin typeface="+mj-lt"/>
                <a:ea typeface="Helvetica Neue" panose="02000503000000020004" pitchFamily="2" charset="0"/>
                <a:cs typeface="Helvetica Neue" panose="02000503000000020004" pitchFamily="2" charset="0"/>
                <a:sym typeface="OpenAI Sans"/>
              </a:rPr>
              <a:t/>
            </a:r>
            <a:r>
              <a:rPr lang="en-US" sz="2000" dirty="0">
                <a:latin typeface="+mj-lt"/>
                <a:ea typeface="Helvetica Neue" panose="02000503000000020004" pitchFamily="2" charset="0"/>
                <a:cs typeface="Helvetica Neue" panose="02000503000000020004" pitchFamily="2" charset="0"/>
                <a:sym typeface="OpenAI Sans"/>
              </a:rPr>
              <a:t/>
            </a:r>
          </a:p>
        </p:txBody>
      </p:sp>
    </p:spTree>
    <p:extLst>
      <p:ext uri="{BB962C8B-B14F-4D97-AF65-F5344CB8AC3E}">
        <p14:creationId val="2553894934"/>
      </p:ext>
    </p:extLst>
  </p:cSld>
  <p:clrMapOvr>
    <a:masterClrMapping/>
  </p:clrMapOvr>
</p:sld>
</file>

<file path=ppt/slides/slide10.xml><?xml version="1.0" encoding="utf-8"?>
<p:sld xmlns:a="http://schemas.openxmlformats.org/drawingml/2006/main" xmlns:a16="http://schemas.microsoft.com/office/drawing/2014/main" xmlns:c="http://schemas.openxmlformats.org/drawingml/2006/chart" xmlns:p="http://schemas.openxmlformats.org/presentationml/2006/main" xmlns:p14="http://schemas.microsoft.com/office/powerpoint/2010/main" xmlns:r="http://schemas.openxmlformats.org/officeDocument/2006/relationships">
  <p:cSld>
    <p:spTree>
      <p:nvGrpSpPr>
        <p:cNvPr id="1" name="Shape 531">
          <a:extLst>
            <a:ext uri="{FF2B5EF4-FFF2-40B4-BE49-F238E27FC236}">
              <a16:creationId id="{0CA52547-020D-99FE-7808-E009E93F50A1}"/>
            </a:ext>
          </a:extLst>
        </p:cNvPr>
        <p:cNvGrpSpPr/>
        <p:nvPr/>
      </p:nvGrpSpPr>
      <p:grpSpPr>
        <a:xfrm>
          <a:off x="0" y="0"/>
          <a:ext cx="0" cy="0"/>
          <a:chOff x="0" y="0"/>
          <a:chExt cx="0" cy="0"/>
        </a:xfrm>
      </p:grpSpPr>
      <p:sp>
        <p:nvSpPr>
          <p:cNvPr id="532" name="Google Shape;532;p58">
            <a:extLst>
              <a:ext uri="{FF2B5EF4-FFF2-40B4-BE49-F238E27FC236}">
                <a16:creationId id="{F29587C6-818E-614C-4E8F-CD264BB5DD41}"/>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10</a:t>
            </a:fld>
            <a:endParaRPr dirty="0">
              <a:sym typeface="OpenAI Sans"/>
            </a:endParaRPr>
          </a:p>
        </p:txBody>
      </p:sp>
      <p:sp>
        <p:nvSpPr>
          <p:cNvPr id="533" name="Google Shape;533;p58">
            <a:extLst>
              <a:ext uri="{FF2B5EF4-FFF2-40B4-BE49-F238E27FC236}">
                <a16:creationId id="{E3FE1DBC-074A-B31C-7363-7F3B84443707}"/>
              </a:ext>
            </a:extLst>
          </p:cNvPr>
          <p:cNvSpPr txBox="1">
            <a:spLocks noGrp="1"/>
          </p:cNvSpPr>
          <p:nvPr>
            <p:ph type="title"/>
          </p:nvPr>
        </p:nvSpPr>
        <p:spPr>
          <a:xfrm>
            <a:off x="393700" y="344008"/>
            <a:ext cx="5549230" cy="697392"/>
          </a:xfrm>
          <a:prstGeom prst="rect">
            <a:avLst/>
          </a:prstGeom>
        </p:spPr>
        <p:txBody>
          <a:bodyPr spcFirstLastPara="1" vert="horz" wrap="square" lIns="0" tIns="0" rIns="0" bIns="0" rtlCol="0" anchor="t" anchorCtr="0">
            <a:noAutofit/>
          </a:bodyPr>
          <a:lstStyle/>
          <a:p>
            <a:r>
              <a:rPr lang="en-US" dirty="0">
                <a:solidFill>
                  <a:schemeClr val="accent1"/>
                </a:solidFill>
              </a:rPr>
              <a:t>Synthetic fixture counts</a:t>
            </a:r>
            <a:endParaRPr dirty="0">
              <a:solidFill>
                <a:schemeClr val="accent1"/>
              </a:solidFill>
            </a:endParaRPr>
          </a:p>
        </p:txBody>
      </p:sp>
      <p:graphicFrame>
        <p:nvGraphicFramePr>
          <p:cNvPr id="4" name="Chart 3">
            <a:extLst>
              <a:ext uri="{FF2B5EF4-FFF2-40B4-BE49-F238E27FC236}">
                <a16:creationId id="{892A243F-0816-2E7E-47DA-72090C074831}"/>
              </a:ext>
            </a:extLst>
          </p:cNvPr>
          <p:cNvGraphicFramePr/>
          <p:nvPr>
            <p:extLst>
              <p:ext uri="{D42A27DB-BD31-4B8C-83A1-F6EECF244321}">
                <p14:modId val="3139987496"/>
              </p:ext>
            </p:extLst>
          </p:nvPr>
        </p:nvGraphicFramePr>
        <p:xfrm>
          <a:off x="408690" y="1023105"/>
          <a:ext cx="5124182" cy="5225194"/>
        </p:xfrm>
        <a:graphic>
          <a:graphicData uri="http://schemas.openxmlformats.org/drawingml/2006/chart">
            <c:chart r:id="rId3"/>
          </a:graphicData>
        </a:graphic>
      </p:graphicFrame>
      <p:sp>
        <p:nvSpPr>
          <p:cNvPr id="5" name="Footer Placeholder 4">
            <a:extLst>
              <a:ext uri="{FF2B5EF4-FFF2-40B4-BE49-F238E27FC236}">
                <a16:creationId id="{41655C29-3D04-D88C-395C-E6000B5894F9}"/>
              </a:ext>
            </a:extLst>
          </p:cNvPr>
          <p:cNvSpPr>
            <a:spLocks noGrp="1"/>
          </p:cNvSpPr>
          <p:nvPr>
            <p:ph type="ftr" sz="quarter" idx="3"/>
          </p:nvPr>
        </p:nvSpPr>
        <p:spPr/>
        <p:txBody>
          <a:bodyPr/>
          <a:lstStyle/>
          <a:p>
            <a:endParaRPr lang="en-US" sz="1100" dirty="0"/>
          </a:p>
        </p:txBody>
      </p:sp>
      <p:sp>
        <p:nvSpPr>
          <p:cNvPr id="6" name="Rounded Rectangle 5">
            <a:extLst>
              <a:ext uri="{FF2B5EF4-FFF2-40B4-BE49-F238E27FC236}">
                <a16:creationId id="{DEFFCFBF-F669-9423-2DB8-D166659E1B79}"/>
              </a:ext>
            </a:extLst>
          </p:cNvPr>
          <p:cNvSpPr/>
          <p:nvPr/>
        </p:nvSpPr>
        <p:spPr>
          <a:xfrm>
            <a:off x="6264412" y="2374900"/>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1" name="Rounded Rectangle 10">
            <a:extLst>
              <a:ext uri="{FF2B5EF4-FFF2-40B4-BE49-F238E27FC236}">
                <a16:creationId id="{2B25D3D5-48E8-D985-A4A9-9DA67A423BF8}"/>
              </a:ext>
            </a:extLst>
          </p:cNvPr>
          <p:cNvSpPr/>
          <p:nvPr/>
        </p:nvSpPr>
        <p:spPr>
          <a:xfrm>
            <a:off x="6264412" y="4370106"/>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2" name="Content Placeholder 10">
            <a:extLst>
              <a:ext uri="{FF2B5EF4-FFF2-40B4-BE49-F238E27FC236}">
                <a16:creationId id="{993A9C42-081B-E830-D8CB-13511AF87915}"/>
              </a:ext>
            </a:extLst>
          </p:cNvPr>
          <p:cNvSpPr txBox="1">
            <a:spLocks/>
          </p:cNvSpPr>
          <p:nvPr/>
        </p:nvSpPr>
        <p:spPr>
          <a:xfrm>
            <a:off x="6558438" y="3088295"/>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All 5 expected finding codes were proposed.</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
        <p:nvSpPr>
          <p:cNvPr id="13" name="TextBox 12">
            <a:extLst>
              <a:ext uri="{FF2B5EF4-FFF2-40B4-BE49-F238E27FC236}">
                <a16:creationId id="{F3899B51-315F-2B69-8DFE-6F0EE585DE74}"/>
              </a:ext>
            </a:extLst>
          </p:cNvPr>
          <p:cNvSpPr txBox="1"/>
          <p:nvPr/>
        </p:nvSpPr>
        <p:spPr>
          <a:xfrm>
            <a:off x="6555127" y="2631212"/>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Finding codes</a:t>
            </a:r>
          </a:p>
        </p:txBody>
      </p:sp>
      <p:sp>
        <p:nvSpPr>
          <p:cNvPr id="14" name="Content Placeholder 10">
            <a:extLst>
              <a:ext uri="{FF2B5EF4-FFF2-40B4-BE49-F238E27FC236}">
                <a16:creationId id="{DBE99E9C-A611-68DB-873D-1306B6DA4538}"/>
              </a:ext>
            </a:extLst>
          </p:cNvPr>
          <p:cNvSpPr txBox="1">
            <a:spLocks/>
          </p:cNvSpPr>
          <p:nvPr/>
        </p:nvSpPr>
        <p:spPr>
          <a:xfrm>
            <a:off x="6558438" y="5094931"/>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3 of 4 have owners; one is intentionally blank.</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
        <p:nvSpPr>
          <p:cNvPr id="15" name="TextBox 14">
            <a:extLst>
              <a:ext uri="{FF2B5EF4-FFF2-40B4-BE49-F238E27FC236}">
                <a16:creationId id="{5A7172E7-1168-69D9-D755-CC735D3A9194}"/>
              </a:ext>
            </a:extLst>
          </p:cNvPr>
          <p:cNvSpPr txBox="1"/>
          <p:nvPr/>
        </p:nvSpPr>
        <p:spPr>
          <a:xfrm>
            <a:off x="6555127" y="4637848"/>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Action owners</a:t>
            </a:r>
          </a:p>
        </p:txBody>
      </p:sp>
      <p:sp>
        <p:nvSpPr>
          <p:cNvPr id="16" name="Rounded Rectangle 15">
            <a:extLst>
              <a:ext uri="{FF2B5EF4-FFF2-40B4-BE49-F238E27FC236}">
                <a16:creationId id="{B252D751-7B28-98E9-CF7E-0EB98657E0AF}"/>
              </a:ext>
            </a:extLst>
          </p:cNvPr>
          <p:cNvSpPr/>
          <p:nvPr/>
        </p:nvSpPr>
        <p:spPr>
          <a:xfrm>
            <a:off x="6264412" y="391117"/>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7" name="Content Placeholder 10">
            <a:extLst>
              <a:ext uri="{FF2B5EF4-FFF2-40B4-BE49-F238E27FC236}">
                <a16:creationId id="{07D94FB0-B75A-4229-2FD1-CA1FAAC57998}"/>
              </a:ext>
            </a:extLst>
          </p:cNvPr>
          <p:cNvSpPr txBox="1">
            <a:spLocks/>
          </p:cNvSpPr>
          <p:nvPr/>
        </p:nvSpPr>
        <p:spPr>
          <a:xfrm>
            <a:off x="6558438" y="1104512"/>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8 of 8 expected log rows were found.</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r>
          </a:p>
        </p:txBody>
      </p:sp>
      <p:sp>
        <p:nvSpPr>
          <p:cNvPr id="18" name="TextBox 17">
            <a:extLst>
              <a:ext uri="{FF2B5EF4-FFF2-40B4-BE49-F238E27FC236}">
                <a16:creationId id="{20D1D081-A168-A031-F892-8E2476A4AF34}"/>
              </a:ext>
            </a:extLst>
          </p:cNvPr>
          <p:cNvSpPr txBox="1"/>
          <p:nvPr/>
        </p:nvSpPr>
        <p:spPr>
          <a:xfrm>
            <a:off x="6555127" y="647429"/>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Event rows</a:t>
            </a:r>
          </a:p>
        </p:txBody>
      </p:sp>
    </p:spTree>
    <p:extLst>
      <p:ext uri="{BB962C8B-B14F-4D97-AF65-F5344CB8AC3E}">
        <p14:creationId val="3145975295"/>
      </p:ext>
    </p:extLst>
  </p:cSld>
  <p:clrMapOvr>
    <a:masterClrMapping/>
  </p:clrMapOvr>
</p:sld>
</file>

<file path=ppt/slides/slide11.xml><?xml version="1.0" encoding="utf-8"?>
<p:sld xmlns:a="http://schemas.openxmlformats.org/drawingml/2006/main" xmlns:a16="http://schemas.microsoft.com/office/drawing/2014/main" xmlns:p="http://schemas.openxmlformats.org/presentationml/2006/main" xmlns:p14="http://schemas.microsoft.com/office/powerpoint/2010/main">
  <p:cSld>
    <p:spTree>
      <p:nvGrpSpPr>
        <p:cNvPr id="1" name="Shape 531">
          <a:extLst>
            <a:ext uri="{FF2B5EF4-FFF2-40B4-BE49-F238E27FC236}">
              <a16:creationId id="{1A03D60E-5DAA-16C1-57A8-527A813C058D}"/>
            </a:ext>
          </a:extLst>
        </p:cNvPr>
        <p:cNvGrpSpPr/>
        <p:nvPr/>
      </p:nvGrpSpPr>
      <p:grpSpPr>
        <a:xfrm>
          <a:off x="0" y="0"/>
          <a:ext cx="0" cy="0"/>
          <a:chOff x="0" y="0"/>
          <a:chExt cx="0" cy="0"/>
        </a:xfrm>
      </p:grpSpPr>
      <p:sp>
        <p:nvSpPr>
          <p:cNvPr id="532" name="Google Shape;532;p58">
            <a:extLst>
              <a:ext uri="{FF2B5EF4-FFF2-40B4-BE49-F238E27FC236}">
                <a16:creationId id="{95E36811-4D7D-1AF4-2047-7797FCF55465}"/>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11</a:t>
            </a:fld>
            <a:endParaRPr dirty="0">
              <a:sym typeface="OpenAI Sans"/>
            </a:endParaRPr>
          </a:p>
        </p:txBody>
      </p:sp>
      <p:sp>
        <p:nvSpPr>
          <p:cNvPr id="533" name="Google Shape;533;p58">
            <a:extLst>
              <a:ext uri="{FF2B5EF4-FFF2-40B4-BE49-F238E27FC236}">
                <a16:creationId id="{0619161C-354F-15D6-9579-085F52D7C5B2}"/>
              </a:ext>
            </a:extLst>
          </p:cNvPr>
          <p:cNvSpPr txBox="1">
            <a:spLocks noGrp="1"/>
          </p:cNvSpPr>
          <p:nvPr>
            <p:ph type="title"/>
          </p:nvPr>
        </p:nvSpPr>
        <p:spPr>
          <a:xfrm>
            <a:off x="393700" y="344008"/>
            <a:ext cx="5549230" cy="697392"/>
          </a:xfrm>
          <a:prstGeom prst="rect">
            <a:avLst/>
          </a:prstGeom>
        </p:spPr>
        <p:txBody>
          <a:bodyPr spcFirstLastPara="1" vert="horz" wrap="square" lIns="0" tIns="0" rIns="0" bIns="0" rtlCol="0" anchor="t" anchorCtr="0">
            <a:noAutofit/>
          </a:bodyPr>
          <a:lstStyle/>
          <a:p>
            <a:r>
              <a:rPr lang="en-US" dirty="0">
                <a:solidFill>
                  <a:schemeClr val="accent1"/>
                </a:solidFill>
              </a:rPr>
              <a:t>Commercial model to validate</a:t>
            </a:r>
            <a:endParaRPr dirty="0">
              <a:solidFill>
                <a:schemeClr val="accent1"/>
              </a:solidFill>
            </a:endParaRPr>
          </a:p>
        </p:txBody>
      </p:sp>
      <p:sp>
        <p:nvSpPr>
          <p:cNvPr id="5" name="Footer Placeholder 4">
            <a:extLst>
              <a:ext uri="{FF2B5EF4-FFF2-40B4-BE49-F238E27FC236}">
                <a16:creationId id="{28BED08C-D3A0-E23F-F823-E34BEC6E5268}"/>
              </a:ext>
            </a:extLst>
          </p:cNvPr>
          <p:cNvSpPr>
            <a:spLocks noGrp="1"/>
          </p:cNvSpPr>
          <p:nvPr>
            <p:ph type="ftr" sz="quarter" idx="3"/>
          </p:nvPr>
        </p:nvSpPr>
        <p:spPr/>
        <p:txBody>
          <a:bodyPr/>
          <a:lstStyle/>
          <a:p>
            <a:endParaRPr lang="en-US" sz="1100" dirty="0"/>
          </a:p>
        </p:txBody>
      </p:sp>
      <p:sp>
        <p:nvSpPr>
          <p:cNvPr id="2" name="Rounded Rectangle 1">
            <a:extLst>
              <a:ext uri="{FF2B5EF4-FFF2-40B4-BE49-F238E27FC236}">
                <a16:creationId id="{C1DC18F5-97D1-0F9E-AF97-E39D1D597D57}"/>
              </a:ext>
            </a:extLst>
          </p:cNvPr>
          <p:cNvSpPr/>
          <p:nvPr/>
        </p:nvSpPr>
        <p:spPr>
          <a:xfrm>
            <a:off x="6271986" y="2032000"/>
            <a:ext cx="2581975" cy="2656541"/>
          </a:xfrm>
          <a:prstGeom prst="roundRect">
            <a:avLst>
              <a:gd name="adj" fmla="val 3602"/>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 name="Content Placeholder 9">
            <a:extLst>
              <a:ext uri="{FF2B5EF4-FFF2-40B4-BE49-F238E27FC236}">
                <a16:creationId id="{90C522A2-2174-5AFA-9A00-7E4BBCEB22B0}"/>
              </a:ext>
            </a:extLst>
          </p:cNvPr>
          <p:cNvSpPr txBox="1">
            <a:spLocks/>
          </p:cNvSpPr>
          <p:nvPr/>
        </p:nvSpPr>
        <p:spPr>
          <a:xfrm>
            <a:off x="6494348" y="2356820"/>
            <a:ext cx="2133315" cy="903750"/>
          </a:xfrm>
          <a:prstGeom prst="rect">
            <a:avLst/>
          </a:prstGeom>
        </p:spPr>
        <p:txBody>
          <a:bodyPr vert="horz" lIns="0" tIns="0" rIns="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40" marR="0" lvl="0" indent="0" algn="l" defTabSz="914400" rtl="0" eaLnBrk="1" fontAlgn="auto" latinLnBrk="0" hangingPunct="1">
              <a:lnSpc>
                <a:spcPct val="110000"/>
              </a:lnSpc>
              <a:spcBef>
                <a:spcPts val="0"/>
              </a:spcBef>
              <a:spcAft>
                <a:spcPts val="0"/>
              </a:spcAft>
              <a:buClr>
                <a:prstClr val="black"/>
              </a:buClr>
              <a:buSzPts val="1400"/>
              <a:buNone/>
              <a:tabLst/>
              <a:defRPr/>
            </a:pPr>
            <a:r>
              <a:rPr kumimoji="0" lang="en-US" sz="620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Helvetica Neue" panose="02000503000000020004" pitchFamily="2" charset="0"/>
                <a:sym typeface="OpenAI Sans"/>
              </a:rPr>
              <a:t>TBD</a:t>
            </a:r>
            <a:endParaRPr lang="en-US" sz="6200"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endParaRPr>
          </a:p>
        </p:txBody>
      </p:sp>
      <p:sp>
        <p:nvSpPr>
          <p:cNvPr id="7" name="Content Placeholder 15">
            <a:extLst>
              <a:ext uri="{FF2B5EF4-FFF2-40B4-BE49-F238E27FC236}">
                <a16:creationId id="{3859261F-DEEB-D3E4-08EA-A3B8D1EB0F8B}"/>
              </a:ext>
            </a:extLst>
          </p:cNvPr>
          <p:cNvSpPr txBox="1">
            <a:spLocks/>
          </p:cNvSpPr>
          <p:nvPr/>
        </p:nvSpPr>
        <p:spPr>
          <a:xfrm>
            <a:off x="6560966" y="3529296"/>
            <a:ext cx="2066698" cy="61595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600" dirty="0">
                <a:ea typeface="Helvetica Neue" panose="02000503000000020004" pitchFamily="2" charset="0"/>
                <a:cs typeface="Helvetica Neue" panose="02000503000000020004" pitchFamily="2" charset="0"/>
                <a:sym typeface="OpenAI Sans"/>
              </a:rPr>
              <a:t>No customer demand, revenue, or delivery-cost evidence.</a:t>
            </a:r>
            <a:br>
              <a:rPr lang="en-US" sz="1600" dirty="0">
                <a:ea typeface="Helvetica Neue" panose="02000503000000020004" pitchFamily="2" charset="0"/>
                <a:cs typeface="Helvetica Neue" panose="02000503000000020004" pitchFamily="2" charset="0"/>
                <a:sym typeface="OpenAI Sans"/>
              </a:rPr>
            </a:b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endParaRPr lang="en-US" sz="1600" dirty="0">
              <a:ea typeface="Helvetica Neue" panose="02000503000000020004" pitchFamily="2" charset="0"/>
              <a:cs typeface="Helvetica Neue" panose="02000503000000020004" pitchFamily="2" charset="0"/>
              <a:sym typeface="OpenAI Sans"/>
            </a:endParaRPr>
          </a:p>
        </p:txBody>
      </p:sp>
      <p:sp>
        <p:nvSpPr>
          <p:cNvPr id="8" name="Rounded Rectangle 7">
            <a:extLst>
              <a:ext uri="{FF2B5EF4-FFF2-40B4-BE49-F238E27FC236}">
                <a16:creationId id="{46A67EF5-6C28-37C0-A44F-C89DA6A63CE8}"/>
              </a:ext>
            </a:extLst>
          </p:cNvPr>
          <p:cNvSpPr/>
          <p:nvPr/>
        </p:nvSpPr>
        <p:spPr>
          <a:xfrm>
            <a:off x="9224191" y="2032000"/>
            <a:ext cx="2581975" cy="2656541"/>
          </a:xfrm>
          <a:prstGeom prst="roundRect">
            <a:avLst>
              <a:gd name="adj" fmla="val 3602"/>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 name="Content Placeholder 9">
            <a:extLst>
              <a:ext uri="{FF2B5EF4-FFF2-40B4-BE49-F238E27FC236}">
                <a16:creationId id="{C1178A3C-CA3E-3A18-E320-61DF2ABD5D3C}"/>
              </a:ext>
            </a:extLst>
          </p:cNvPr>
          <p:cNvSpPr txBox="1">
            <a:spLocks/>
          </p:cNvSpPr>
          <p:nvPr/>
        </p:nvSpPr>
        <p:spPr>
          <a:xfrm>
            <a:off x="9446553" y="2356820"/>
            <a:ext cx="2133315" cy="903750"/>
          </a:xfrm>
          <a:prstGeom prst="rect">
            <a:avLst/>
          </a:prstGeom>
        </p:spPr>
        <p:txBody>
          <a:bodyPr vert="horz" lIns="0" tIns="0" rIns="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40" marR="0" lvl="0" indent="0" algn="l" defTabSz="914400" rtl="0" eaLnBrk="1" fontAlgn="auto" latinLnBrk="0" hangingPunct="1">
              <a:lnSpc>
                <a:spcPct val="110000"/>
              </a:lnSpc>
              <a:spcBef>
                <a:spcPts val="0"/>
              </a:spcBef>
              <a:spcAft>
                <a:spcPts val="0"/>
              </a:spcAft>
              <a:buClr>
                <a:prstClr val="black"/>
              </a:buClr>
              <a:buSzPts val="1400"/>
              <a:buNone/>
              <a:tabLst/>
              <a:defRPr/>
            </a:pPr>
            <a:r>
              <a:rPr kumimoji="0" lang="en-US" sz="620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Helvetica Neue" panose="02000503000000020004" pitchFamily="2" charset="0"/>
                <a:sym typeface="OpenAI Sans"/>
              </a:rPr>
              <a:t>Pilot fee</a:t>
            </a:r>
            <a:endParaRPr lang="en-US" sz="6200"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endParaRPr>
          </a:p>
        </p:txBody>
      </p:sp>
      <p:sp>
        <p:nvSpPr>
          <p:cNvPr id="10" name="Content Placeholder 15">
            <a:extLst>
              <a:ext uri="{FF2B5EF4-FFF2-40B4-BE49-F238E27FC236}">
                <a16:creationId id="{9A0C1C6C-0D79-048C-2E65-5A332ED31144}"/>
              </a:ext>
            </a:extLst>
          </p:cNvPr>
          <p:cNvSpPr txBox="1">
            <a:spLocks/>
          </p:cNvSpPr>
          <p:nvPr/>
        </p:nvSpPr>
        <p:spPr>
          <a:xfrm>
            <a:off x="9513171" y="3529296"/>
            <a:ext cx="2066698" cy="61595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600" dirty="0">
                <a:ea typeface="Helvetica Neue" panose="02000503000000020004" pitchFamily="2" charset="0"/>
                <a:cs typeface="Helvetica Neue" panose="02000503000000020004" pitchFamily="2" charset="0"/>
                <a:sym typeface="OpenAI Sans"/>
              </a:rPr>
              <a:t>Per-exercise pilot fee.</a:t>
            </a:r>
            <a:br>
              <a:rPr lang="en-US" sz="1600" dirty="0">
                <a:ea typeface="Helvetica Neue" panose="02000503000000020004" pitchFamily="2" charset="0"/>
                <a:cs typeface="Helvetica Neue" panose="02000503000000020004" pitchFamily="2" charset="0"/>
                <a:sym typeface="OpenAI Sans"/>
              </a:rPr>
            </a:b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endParaRPr lang="en-US" sz="1600" dirty="0">
              <a:ea typeface="Helvetica Neue" panose="02000503000000020004" pitchFamily="2" charset="0"/>
              <a:cs typeface="Helvetica Neue" panose="02000503000000020004" pitchFamily="2" charset="0"/>
              <a:sym typeface="OpenAI Sans"/>
            </a:endParaRPr>
          </a:p>
        </p:txBody>
      </p:sp>
      <p:sp>
        <p:nvSpPr>
          <p:cNvPr id="19" name="Content Placeholder 2">
            <a:extLst>
              <a:ext uri="{FF2B5EF4-FFF2-40B4-BE49-F238E27FC236}">
                <a16:creationId id="{A1ADE962-9ED7-3644-FA2A-7A64E19E9545}"/>
              </a:ext>
            </a:extLst>
          </p:cNvPr>
          <p:cNvSpPr txBox="1">
            <a:spLocks/>
          </p:cNvSpPr>
          <p:nvPr/>
        </p:nvSpPr>
        <p:spPr>
          <a:xfrm>
            <a:off x="6258427" y="4971337"/>
            <a:ext cx="5539873" cy="990600"/>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600" dirty="0">
                <a:ea typeface="Helvetica Neue" panose="02000503000000020004" pitchFamily="2" charset="0"/>
                <a:cs typeface="Helvetica Neue" panose="02000503000000020004" pitchFamily="2" charset="0"/>
                <a:sym typeface="OpenAI Sans"/>
              </a:rPr>
              <a:t>Annual subscriptions, private deployment, templates, and support are later hypotheses. Confirm buyer, purchasing route, and delivery needs before modeling economics.</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r>
              <a:rPr lang="en-US" sz="1600" dirty="0" err="1">
                <a:ea typeface="Helvetica Neue" panose="02000503000000020004" pitchFamily="2" charset="0"/>
                <a:cs typeface="Helvetica Neue" panose="02000503000000020004" pitchFamily="2" charset="0"/>
                <a:sym typeface="OpenAI Sans"/>
              </a:rPr>
              <a:t/>
            </a:r>
            <a:r>
              <a:rPr lang="en-US" sz="1600" dirty="0">
                <a:ea typeface="Helvetica Neue" panose="02000503000000020004" pitchFamily="2" charset="0"/>
                <a:cs typeface="Helvetica Neue" panose="02000503000000020004" pitchFamily="2" charset="0"/>
                <a:sym typeface="OpenAI Sans"/>
              </a:rPr>
              <a:t/>
            </a:r>
          </a:p>
        </p:txBody>
      </p:sp>
      <p:sp>
        <p:nvSpPr>
          <p:cNvPr id="534" name="Commercial inputs callout"/>
          <p:cNvSpPr txBox="1"/>
          <p:nvPr/>
        </p:nvSpPr>
        <p:spPr>
          <a:xfrm>
            <a:off x="450000" y="1180000"/>
            <a:ext cx="5400000" cy="5150000"/>
          </a:xfrm>
          <a:prstGeom prst="roundRect">
            <a:avLst/>
          </a:prstGeom>
          <a:solidFill>
            <a:schemeClr val="lt1"/>
          </a:solidFill>
          <a:ln w="12700">
            <a:solidFill>
              <a:schemeClr val="accent2"/>
            </a:solidFill>
          </a:ln>
        </p:spPr>
        <p:txBody>
          <a:bodyPr wrap="square" lIns="285750" tIns="228600" rIns="285750" bIns="228600" anchor="ctr"/>
          <a:lstStyle/>
          <a:p>
            <a:pPr algn="l">
              <a:lnSpc>
                <a:spcPct val="105000"/>
              </a:lnSpc>
              <a:spcAft>
                <a:spcPts val="1000"/>
              </a:spcAft>
            </a:pPr>
            <a:r>
              <a:rPr lang="en-US" sz="2200" b="1">
                <a:solidFill>
                  <a:schemeClr val="accent1"/>
                </a:solidFill>
                <a:latin typeface="+mn-lt"/>
              </a:rPr>
              <a:t>Evidence to collect</a:t>
            </a:r>
            <a:endParaRPr lang="en-US" sz="2200"/>
          </a:p>
          <a:p>
            <a:pPr algn="l">
              <a:lnSpc>
                <a:spcPct val="105000"/>
              </a:lnSpc>
              <a:spcAft>
                <a:spcPts val="1000"/>
              </a:spcAft>
            </a:pPr>
            <a:r>
              <a:rPr lang="en-US" sz="1700">
                <a:solidFill>
                  <a:schemeClr val="tx1"/>
                </a:solidFill>
                <a:latin typeface="+mn-lt"/>
              </a:rPr>
              <a:t>Who prepares, approves, and pays?</a:t>
            </a:r>
            <a:endParaRPr lang="en-US" sz="1700"/>
          </a:p>
          <a:p>
            <a:pPr algn="l">
              <a:lnSpc>
                <a:spcPct val="105000"/>
              </a:lnSpc>
              <a:spcAft>
                <a:spcPts val="1000"/>
              </a:spcAft>
            </a:pPr>
            <a:r>
              <a:rPr lang="en-US" sz="1700">
                <a:solidFill>
                  <a:schemeClr val="tx1"/>
                </a:solidFill>
                <a:latin typeface="+mn-lt"/>
              </a:rPr>
              <a:t>What setup, security, hosting, and support are required?</a:t>
            </a:r>
            <a:endParaRPr lang="en-US" sz="1700"/>
          </a:p>
          <a:p>
            <a:pPr algn="l">
              <a:lnSpc>
                <a:spcPct val="105000"/>
              </a:lnSpc>
              <a:spcAft>
                <a:spcPts val="1000"/>
              </a:spcAft>
            </a:pPr>
            <a:r>
              <a:rPr lang="en-US" sz="1700">
                <a:solidFill>
                  <a:schemeClr val="tx1"/>
                </a:solidFill>
                <a:latin typeface="+mn-lt"/>
              </a:rPr>
              <a:t>What does the current workflow take, and where are corrections made?</a:t>
            </a:r>
            <a:endParaRPr lang="en-US" sz="1700"/>
          </a:p>
        </p:txBody>
      </p:sp>
    </p:spTree>
    <p:extLst>
      <p:ext uri="{BB962C8B-B14F-4D97-AF65-F5344CB8AC3E}">
        <p14:creationId val="399383134"/>
      </p:ext>
    </p:extLst>
  </p:cSld>
  <p:clrMapOvr>
    <a:masterClrMapping/>
  </p:clrMapOvr>
</p:sld>
</file>

<file path=ppt/slides/slide12.xml><?xml version="1.0" encoding="utf-8"?>
<p:sld xmlns:a="http://schemas.openxmlformats.org/drawingml/2006/main" xmlns:a16="http://schemas.microsoft.com/office/drawing/2014/main" xmlns:p="http://schemas.openxmlformats.org/presentationml/2006/main" xmlns:p14="http://schemas.microsoft.com/office/powerpoint/2010/main">
  <p:cSld>
    <p:spTree>
      <p:nvGrpSpPr>
        <p:cNvPr id="1" name="">
          <a:extLst>
            <a:ext uri="{FF2B5EF4-FFF2-40B4-BE49-F238E27FC236}">
              <a16:creationId id="{38B9D4E6-CFF8-CAD9-A94E-1228D81EA56C}"/>
            </a:ext>
          </a:extLst>
        </p:cNvPr>
        <p:cNvGrpSpPr/>
        <p:nvPr/>
      </p:nvGrpSpPr>
      <p:grpSpPr>
        <a:xfrm>
          <a:off x="0" y="0"/>
          <a:ext cx="0" cy="0"/>
          <a:chOff x="0" y="0"/>
          <a:chExt cx="0" cy="0"/>
        </a:xfrm>
      </p:grpSpPr>
      <p:sp>
        <p:nvSpPr>
          <p:cNvPr id="16" name="Content Placeholder 15">
            <a:extLst>
              <a:ext uri="{FF2B5EF4-FFF2-40B4-BE49-F238E27FC236}">
                <a16:creationId id="{0BCC789E-87DC-C416-5298-C7F6E26A9533}"/>
              </a:ext>
            </a:extLst>
          </p:cNvPr>
          <p:cNvSpPr>
            <a:spLocks noGrp="1"/>
          </p:cNvSpPr>
          <p:nvPr>
            <p:ph idx="1"/>
          </p:nvPr>
        </p:nvSpPr>
        <p:spPr>
          <a:xfrm>
            <a:off x="393700" y="3822700"/>
            <a:ext cx="2595934" cy="1168400"/>
          </a:xfrm>
        </p:spPr>
        <p:txBody>
          <a:bodyPr>
            <a:noAutofit/>
          </a:bodyPr>
          <a:lstStyle/>
          <a:p>
            <a:pPr marL="0" indent="0">
              <a:lnSpc>
                <a:spcPct val="114000"/>
              </a:lnSpc>
              <a:spcBef>
                <a:spcPts val="0"/>
              </a:spcBef>
              <a:spcAft>
                <a:spcPts val="800"/>
              </a:spcAft>
            </a:pPr>
            <a:r>
              <a:rPr lang="en-US"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sym typeface="OpenAI Sans"/>
              </a:rPr>
              <a:t>Learn the workflow</a:t>
            </a:r>
          </a:p>
          <a:p>
            <a:pPr marL="0" indent="0">
              <a:lnSpc>
                <a:spcPct val="114000"/>
              </a:lnSpc>
              <a:spcBef>
                <a:spcPts val="0"/>
              </a:spcBef>
              <a:spcAft>
                <a:spcPts val="800"/>
              </a:spcAft>
            </a:pPr>
            <a:r>
              <a:rPr lang="en-US" dirty="0">
                <a:ea typeface="Helvetica Neue" panose="02000503000000020004" pitchFamily="2" charset="0"/>
                <a:cs typeface="Helvetica Neue" panose="02000503000000020004" pitchFamily="2" charset="0"/>
                <a:sym typeface="OpenAI Sans"/>
              </a:rPr>
              <a:t>Interview 2–3 prospective hospital evaluators; observe current review with permission and identify approver and budget roles.</a:t>
            </a:r>
            <a:r>
              <a:rPr lang="en-US" dirty="0" err="1">
                <a:ea typeface="Helvetica Neue" panose="02000503000000020004" pitchFamily="2" charset="0"/>
                <a:cs typeface="Helvetica Neue" panose="02000503000000020004" pitchFamily="2" charset="0"/>
                <a:sym typeface="OpenAI Sans"/>
              </a:rPr>
              <a:t/>
            </a:r>
            <a:r>
              <a:rPr lang="en-US" dirty="0">
                <a:ea typeface="Helvetica Neue" panose="02000503000000020004" pitchFamily="2" charset="0"/>
                <a:cs typeface="Helvetica Neue" panose="02000503000000020004" pitchFamily="2" charset="0"/>
                <a:sym typeface="OpenAI Sans"/>
              </a:rPr>
              <a:t/>
            </a:r>
            <a:r>
              <a:rPr lang="en-US" dirty="0" err="1">
                <a:ea typeface="Helvetica Neue" panose="02000503000000020004" pitchFamily="2" charset="0"/>
                <a:cs typeface="Helvetica Neue" panose="02000503000000020004" pitchFamily="2" charset="0"/>
                <a:sym typeface="OpenAI Sans"/>
              </a:rPr>
              <a:t/>
            </a:r>
            <a:r>
              <a:rPr lang="en-US" dirty="0">
                <a:ea typeface="Helvetica Neue" panose="02000503000000020004" pitchFamily="2" charset="0"/>
                <a:cs typeface="Helvetica Neue" panose="02000503000000020004" pitchFamily="2" charset="0"/>
                <a:sym typeface="OpenAI Sans"/>
              </a:rPr>
              <a:t/>
            </a:r>
            <a:r>
              <a:rPr lang="en-US" dirty="0" err="1">
                <a:ea typeface="Helvetica Neue" panose="02000503000000020004" pitchFamily="2" charset="0"/>
                <a:cs typeface="Helvetica Neue" panose="02000503000000020004" pitchFamily="2" charset="0"/>
                <a:sym typeface="OpenAI Sans"/>
              </a:rPr>
              <a:t/>
            </a:r>
            <a:r>
              <a:rPr lang="en-US" dirty="0">
                <a:ea typeface="Helvetica Neue" panose="02000503000000020004" pitchFamily="2" charset="0"/>
                <a:cs typeface="Helvetica Neue" panose="02000503000000020004" pitchFamily="2" charset="0"/>
                <a:sym typeface="OpenAI Sans"/>
              </a:rPr>
              <a:t/>
            </a:r>
            <a:r>
              <a:rPr lang="en-US" dirty="0" err="1">
                <a:ea typeface="Helvetica Neue" panose="02000503000000020004" pitchFamily="2" charset="0"/>
                <a:cs typeface="Helvetica Neue" panose="02000503000000020004" pitchFamily="2" charset="0"/>
                <a:sym typeface="OpenAI Sans"/>
              </a:rPr>
              <a:t/>
            </a:r>
            <a:r>
              <a:rPr lang="en-US" dirty="0">
                <a:ea typeface="Helvetica Neue" panose="02000503000000020004" pitchFamily="2" charset="0"/>
                <a:cs typeface="Helvetica Neue" panose="02000503000000020004" pitchFamily="2" charset="0"/>
                <a:sym typeface="OpenAI Sans"/>
              </a:rPr>
              <a:t/>
            </a:r>
            <a:r>
              <a:rPr lang="en-US" dirty="0" err="1">
                <a:ea typeface="Helvetica Neue" panose="02000503000000020004" pitchFamily="2" charset="0"/>
                <a:cs typeface="Helvetica Neue" panose="02000503000000020004" pitchFamily="2" charset="0"/>
                <a:sym typeface="OpenAI Sans"/>
              </a:rPr>
              <a:t/>
            </a:r>
            <a:r>
              <a:rPr lang="en-US" dirty="0">
                <a:ea typeface="Helvetica Neue" panose="02000503000000020004" pitchFamily="2" charset="0"/>
                <a:cs typeface="Helvetica Neue" panose="02000503000000020004" pitchFamily="2" charset="0"/>
                <a:sym typeface="OpenAI Sans"/>
              </a:rPr>
              <a:t/>
            </a:r>
            <a:r>
              <a:rPr lang="en-US" dirty="0" err="1">
                <a:ea typeface="Helvetica Neue" panose="02000503000000020004" pitchFamily="2" charset="0"/>
                <a:cs typeface="Helvetica Neue" panose="02000503000000020004" pitchFamily="2" charset="0"/>
                <a:sym typeface="OpenAI Sans"/>
              </a:rPr>
              <a:t/>
            </a:r>
            <a:r>
              <a:rPr lang="en-US" dirty="0">
                <a:ea typeface="Helvetica Neue" panose="02000503000000020004" pitchFamily="2" charset="0"/>
                <a:cs typeface="Helvetica Neue" panose="02000503000000020004" pitchFamily="2" charset="0"/>
                <a:sym typeface="OpenAI Sans"/>
              </a:rPr>
              <a:t/>
            </a:r>
            <a:r>
              <a:rPr lang="en-US" dirty="0" err="1">
                <a:ea typeface="Helvetica Neue" panose="02000503000000020004" pitchFamily="2" charset="0"/>
                <a:cs typeface="Helvetica Neue" panose="02000503000000020004" pitchFamily="2" charset="0"/>
                <a:sym typeface="OpenAI Sans"/>
              </a:rPr>
              <a:t/>
            </a:r>
            <a:r>
              <a:rPr lang="en-US" dirty="0">
                <a:ea typeface="Helvetica Neue" panose="02000503000000020004" pitchFamily="2" charset="0"/>
                <a:cs typeface="Helvetica Neue" panose="02000503000000020004" pitchFamily="2" charset="0"/>
                <a:sym typeface="OpenAI Sans"/>
              </a:rPr>
              <a:t/>
            </a:r>
          </a:p>
        </p:txBody>
      </p:sp>
      <p:sp>
        <p:nvSpPr>
          <p:cNvPr id="4" name="Slide Number Placeholder 3">
            <a:extLst>
              <a:ext uri="{FF2B5EF4-FFF2-40B4-BE49-F238E27FC236}">
                <a16:creationId id="{6BBF0163-E4B1-61D1-776D-45470B16F0F4}"/>
              </a:ext>
            </a:extLst>
          </p:cNvPr>
          <p:cNvSpPr>
            <a:spLocks noGrp="1"/>
          </p:cNvSpPr>
          <p:nvPr>
            <p:ph type="sldNum" sz="quarter" idx="4"/>
          </p:nvPr>
        </p:nvSpPr>
        <p:spPr/>
        <p:txBody>
          <a:bodyPr/>
          <a:lstStyle/>
          <a:p>
            <a:fld id="{8574A810-7A8E-054F-9F6B-09E9C694ECF9}" type="slidenum">
              <a:rPr lang="en-US" smtClean="0"/>
              <a:pPr/>
              <a:t>12</a:t>
            </a:fld>
            <a:endParaRPr lang="en-US" sz="1100" dirty="0"/>
          </a:p>
        </p:txBody>
      </p:sp>
      <p:sp>
        <p:nvSpPr>
          <p:cNvPr id="11" name="Title 10">
            <a:extLst>
              <a:ext uri="{FF2B5EF4-FFF2-40B4-BE49-F238E27FC236}">
                <a16:creationId id="{9759E2FE-9F02-E1B4-EBBC-AA8624ACC339}"/>
              </a:ext>
            </a:extLst>
          </p:cNvPr>
          <p:cNvSpPr>
            <a:spLocks noGrp="1"/>
          </p:cNvSpPr>
          <p:nvPr>
            <p:ph type="title"/>
          </p:nvPr>
        </p:nvSpPr>
        <p:spPr>
          <a:xfrm>
            <a:off x="393700" y="344008"/>
            <a:ext cx="7846838" cy="1034893"/>
          </a:xfrm>
        </p:spPr>
        <p:txBody>
          <a:bodyPr/>
          <a:lstStyle/>
          <a:p>
            <a:r>
              <a:rPr lang="en-US" dirty="0">
                <a:solidFill>
                  <a:schemeClr val="accent1"/>
                </a:solidFill>
              </a:rPr>
              <a:t>Proposed stages: discover, compare, then decide</a:t>
            </a:r>
          </a:p>
        </p:txBody>
      </p:sp>
      <p:sp>
        <p:nvSpPr>
          <p:cNvPr id="17" name="Text Placeholder 16">
            <a:extLst>
              <a:ext uri="{FF2B5EF4-FFF2-40B4-BE49-F238E27FC236}">
                <a16:creationId id="{986AEEE5-7F7B-65AD-1D88-9157CF0514D8}"/>
              </a:ext>
            </a:extLst>
          </p:cNvPr>
          <p:cNvSpPr>
            <a:spLocks noGrp="1"/>
          </p:cNvSpPr>
          <p:nvPr>
            <p:ph type="body" sz="quarter" idx="12"/>
          </p:nvPr>
        </p:nvSpPr>
        <p:spPr>
          <a:xfrm>
            <a:off x="4317119" y="3822700"/>
            <a:ext cx="2595934" cy="1168400"/>
          </a:xfrm>
        </p:spPr>
        <p:txBody>
          <a:bodyPr>
            <a:noAutofit/>
          </a:bodyPr>
          <a:lstStyle/>
          <a:p>
            <a:pPr marL="0" marR="0" lvl="0" indent="0" fontAlgn="auto">
              <a:lnSpc>
                <a:spcPct val="114000"/>
              </a:lnSpc>
              <a:spcBef>
                <a:spcPts val="0"/>
              </a:spcBef>
              <a:spcAft>
                <a:spcPts val="800"/>
              </a:spcAft>
              <a:buClrTx/>
              <a:buSzTx/>
              <a:tabLst/>
              <a:defRPr/>
            </a:pPr>
            <a:r>
              <a:rPr lang="en-US" sz="1600"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sym typeface="OpenAI Sans"/>
              </a:rPr>
              <a:t>Compare on the same records</a:t>
            </a:r>
          </a:p>
          <a:p>
            <a:pPr marL="0" marR="0" lvl="0" indent="0" algn="l" defTabSz="914400" rtl="0" eaLnBrk="1" fontAlgn="auto" latinLnBrk="0" hangingPunct="1">
              <a:lnSpc>
                <a:spcPct val="114000"/>
              </a:lnSpc>
              <a:spcBef>
                <a:spcPts val="0"/>
              </a:spcBef>
              <a:spcAft>
                <a:spcPts val="800"/>
              </a:spcAft>
              <a:buClrTx/>
              <a:buSzTx/>
              <a:buFont typeface="Arial" panose="020B0604020202020204" pitchFamily="34" charset="0"/>
              <a:buNone/>
              <a:tabLst/>
              <a:defRPr/>
            </a:pP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With permission, compare current practice and DrillLoop; measure time, corrections, citation support, and action fields.</a:t>
            </a:r>
            <a:r>
              <a:rPr kumimoji="0" lang="en-US" sz="1600"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p>
        </p:txBody>
      </p:sp>
      <p:sp>
        <p:nvSpPr>
          <p:cNvPr id="18" name="Content Placeholder 17">
            <a:extLst>
              <a:ext uri="{FF2B5EF4-FFF2-40B4-BE49-F238E27FC236}">
                <a16:creationId id="{B32A8A18-E9FA-02B4-6667-53C019EC43C0}"/>
              </a:ext>
            </a:extLst>
          </p:cNvPr>
          <p:cNvSpPr>
            <a:spLocks noGrp="1"/>
          </p:cNvSpPr>
          <p:nvPr>
            <p:ph idx="13"/>
          </p:nvPr>
        </p:nvSpPr>
        <p:spPr>
          <a:xfrm>
            <a:off x="8240538" y="3822700"/>
            <a:ext cx="2595934" cy="1168400"/>
          </a:xfrm>
        </p:spPr>
        <p:txBody>
          <a:bodyPr>
            <a:noAutofit/>
          </a:bodyPr>
          <a:lstStyle/>
          <a:p>
            <a:pPr marL="0" marR="0" lvl="0" indent="0" fontAlgn="auto">
              <a:lnSpc>
                <a:spcPct val="114000"/>
              </a:lnSpc>
              <a:spcBef>
                <a:spcPts val="0"/>
              </a:spcBef>
              <a:spcAft>
                <a:spcPts val="800"/>
              </a:spcAft>
              <a:buClrTx/>
              <a:buSzTx/>
              <a:tabLst/>
              <a:defRPr/>
            </a:pPr>
            <a:r>
              <a:rPr lang="en-US"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sym typeface="OpenAI Sans"/>
              </a:rPr>
              <a:t>Test generalization</a:t>
            </a:r>
          </a:p>
          <a:p>
            <a:pPr marL="0" marR="0" lvl="0" indent="0" algn="l" defTabSz="914400" rtl="0" eaLnBrk="1" fontAlgn="auto" latinLnBrk="0" hangingPunct="1">
              <a:lnSpc>
                <a:spcPct val="114000"/>
              </a:lnSpc>
              <a:spcBef>
                <a:spcPts val="0"/>
              </a:spcBef>
              <a:spcAft>
                <a:spcPts val="800"/>
              </a:spcAft>
              <a:buClrTx/>
              <a:buSzTx/>
              <a:buFont typeface="Arial" panose="020B0604020202020204" pitchFamily="34" charset="0"/>
              <a:buNone/>
              <a:tabLst/>
              <a:defRPr/>
            </a:pP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If approved records are available, test evaluator-labeled evidence from an unfamiliar exercise and agree next thresholds with a partner.</a:t>
            </a:r>
            <a:r>
              <a:rPr kumimoji="0" lang="en-US"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
            </a: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r>
          </a:p>
        </p:txBody>
      </p:sp>
      <p:cxnSp>
        <p:nvCxnSpPr>
          <p:cNvPr id="2" name="Google Shape;2259;p159">
            <a:extLst>
              <a:ext uri="{FF2B5EF4-FFF2-40B4-BE49-F238E27FC236}">
                <a16:creationId id="{B445FE4B-78BD-90F9-A6AA-1A4EF03DE791}"/>
              </a:ext>
            </a:extLst>
          </p:cNvPr>
          <p:cNvCxnSpPr>
            <a:stCxn id="3" idx="2"/>
          </p:cNvCxnSpPr>
          <p:nvPr/>
        </p:nvCxnSpPr>
        <p:spPr>
          <a:xfrm>
            <a:off x="337718" y="3373753"/>
            <a:ext cx="12245400" cy="300"/>
          </a:xfrm>
          <a:prstGeom prst="straightConnector1">
            <a:avLst/>
          </a:prstGeom>
          <a:noFill/>
          <a:ln w="9525" cap="flat" cmpd="sng">
            <a:solidFill>
              <a:schemeClr val="accent1"/>
            </a:solidFill>
            <a:prstDash val="solid"/>
            <a:round/>
            <a:headEnd type="none" w="med" len="med"/>
            <a:tailEnd type="none" w="med" len="med"/>
          </a:ln>
        </p:spPr>
      </p:cxnSp>
      <p:sp>
        <p:nvSpPr>
          <p:cNvPr id="3" name="Google Shape;2260;p159">
            <a:extLst>
              <a:ext uri="{FF2B5EF4-FFF2-40B4-BE49-F238E27FC236}">
                <a16:creationId id="{39A86B1D-EA5D-3FA6-7D83-8F21D70E330E}"/>
              </a:ext>
            </a:extLst>
          </p:cNvPr>
          <p:cNvSpPr/>
          <p:nvPr/>
        </p:nvSpPr>
        <p:spPr>
          <a:xfrm>
            <a:off x="337718" y="3320203"/>
            <a:ext cx="107100" cy="107100"/>
          </a:xfrm>
          <a:prstGeom prst="ellipse">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OpenAI Sans"/>
              <a:ea typeface="OpenAI Sans"/>
              <a:cs typeface="OpenAI Sans"/>
              <a:sym typeface="OpenAI Sans"/>
            </a:endParaRPr>
          </a:p>
        </p:txBody>
      </p:sp>
      <p:sp>
        <p:nvSpPr>
          <p:cNvPr id="5" name="Google Shape;2261;p159">
            <a:extLst>
              <a:ext uri="{FF2B5EF4-FFF2-40B4-BE49-F238E27FC236}">
                <a16:creationId id="{A1013DAF-A2C3-BC42-73D5-9D8AB55DCA94}"/>
              </a:ext>
            </a:extLst>
          </p:cNvPr>
          <p:cNvSpPr/>
          <p:nvPr/>
        </p:nvSpPr>
        <p:spPr>
          <a:xfrm>
            <a:off x="4251750" y="3320203"/>
            <a:ext cx="107100" cy="107100"/>
          </a:xfrm>
          <a:prstGeom prst="ellipse">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OpenAI Sans"/>
              <a:ea typeface="OpenAI Sans"/>
              <a:cs typeface="OpenAI Sans"/>
              <a:sym typeface="OpenAI Sans"/>
            </a:endParaRPr>
          </a:p>
        </p:txBody>
      </p:sp>
      <p:sp>
        <p:nvSpPr>
          <p:cNvPr id="6" name="Google Shape;2262;p159">
            <a:extLst>
              <a:ext uri="{FF2B5EF4-FFF2-40B4-BE49-F238E27FC236}">
                <a16:creationId id="{4654A74A-2C40-A8C6-E9F9-43C58A3ADE20}"/>
              </a:ext>
            </a:extLst>
          </p:cNvPr>
          <p:cNvSpPr/>
          <p:nvPr/>
        </p:nvSpPr>
        <p:spPr>
          <a:xfrm>
            <a:off x="8176050" y="3320203"/>
            <a:ext cx="107100" cy="107100"/>
          </a:xfrm>
          <a:prstGeom prst="ellipse">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OpenAI Sans"/>
              <a:ea typeface="OpenAI Sans"/>
              <a:cs typeface="OpenAI Sans"/>
              <a:sym typeface="OpenAI Sans"/>
            </a:endParaRPr>
          </a:p>
        </p:txBody>
      </p:sp>
      <p:sp>
        <p:nvSpPr>
          <p:cNvPr id="9" name="Content Placeholder 15">
            <a:extLst>
              <a:ext uri="{FF2B5EF4-FFF2-40B4-BE49-F238E27FC236}">
                <a16:creationId id="{76C75857-E8EA-1B37-0464-3C7048D7FBEB}"/>
              </a:ext>
            </a:extLst>
          </p:cNvPr>
          <p:cNvSpPr txBox="1">
            <a:spLocks/>
          </p:cNvSpPr>
          <p:nvPr/>
        </p:nvSpPr>
        <p:spPr>
          <a:xfrm>
            <a:off x="393700" y="2843266"/>
            <a:ext cx="1612900" cy="26240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pPr>
            <a:r>
              <a:rPr lang="en-US" sz="1400" b="1" dirty="0">
                <a:solidFill>
                  <a:schemeClr val="accent1"/>
                </a:solidFill>
                <a:latin typeface="Roboto SemiBold" panose="02000000000000000000" pitchFamily="2" charset="0"/>
                <a:ea typeface="Roboto SemiBold" panose="02000000000000000000" pitchFamily="2" charset="0"/>
                <a:cs typeface="Helvetica Neue" panose="02000503000000020004" pitchFamily="2" charset="0"/>
                <a:sym typeface="OpenAI Sans"/>
              </a:rPr>
              <a:t>Discovery</a:t>
            </a:r>
          </a:p>
        </p:txBody>
      </p:sp>
      <p:sp>
        <p:nvSpPr>
          <p:cNvPr id="13" name="Content Placeholder 15">
            <a:extLst>
              <a:ext uri="{FF2B5EF4-FFF2-40B4-BE49-F238E27FC236}">
                <a16:creationId id="{76AEECBA-C292-6302-8A8E-7EB14A54E420}"/>
              </a:ext>
            </a:extLst>
          </p:cNvPr>
          <p:cNvSpPr txBox="1">
            <a:spLocks/>
          </p:cNvSpPr>
          <p:nvPr/>
        </p:nvSpPr>
        <p:spPr>
          <a:xfrm>
            <a:off x="4294187" y="2843266"/>
            <a:ext cx="1612900" cy="26240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pPr>
            <a:r>
              <a:rPr lang="en-US" sz="1400" b="1" dirty="0">
                <a:solidFill>
                  <a:schemeClr val="accent1"/>
                </a:solidFill>
                <a:latin typeface="Roboto SemiBold" panose="02000000000000000000" pitchFamily="2" charset="0"/>
                <a:ea typeface="Roboto SemiBold" panose="02000000000000000000" pitchFamily="2" charset="0"/>
                <a:cs typeface="Helvetica Neue" panose="02000503000000020004" pitchFamily="2" charset="0"/>
                <a:sym typeface="OpenAI Sans"/>
              </a:rPr>
              <a:t>Paired review</a:t>
            </a:r>
          </a:p>
        </p:txBody>
      </p:sp>
      <p:sp>
        <p:nvSpPr>
          <p:cNvPr id="14" name="Content Placeholder 15">
            <a:extLst>
              <a:ext uri="{FF2B5EF4-FFF2-40B4-BE49-F238E27FC236}">
                <a16:creationId id="{95982BB0-2387-9BAA-9F14-F45500C04700}"/>
              </a:ext>
            </a:extLst>
          </p:cNvPr>
          <p:cNvSpPr txBox="1">
            <a:spLocks/>
          </p:cNvSpPr>
          <p:nvPr/>
        </p:nvSpPr>
        <p:spPr>
          <a:xfrm>
            <a:off x="8223249" y="2843266"/>
            <a:ext cx="1612900" cy="26240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pPr>
            <a:r>
              <a:rPr lang="en-US" sz="1400" b="1" dirty="0">
                <a:solidFill>
                  <a:schemeClr val="accent1"/>
                </a:solidFill>
                <a:latin typeface="Roboto SemiBold" panose="02000000000000000000" pitchFamily="2" charset="0"/>
                <a:ea typeface="Roboto SemiBold" panose="02000000000000000000" pitchFamily="2" charset="0"/>
                <a:cs typeface="Helvetica Neue" panose="02000503000000020004" pitchFamily="2" charset="0"/>
                <a:sym typeface="OpenAI Sans"/>
              </a:rPr>
              <a:t>Next decision</a:t>
            </a:r>
          </a:p>
        </p:txBody>
      </p:sp>
      <p:sp>
        <p:nvSpPr>
          <p:cNvPr id="7" name="Footer Placeholder 6">
            <a:extLst>
              <a:ext uri="{FF2B5EF4-FFF2-40B4-BE49-F238E27FC236}">
                <a16:creationId id="{3AC3A10F-8642-8154-9AEA-7110D289C62E}"/>
              </a:ext>
            </a:extLst>
          </p:cNvPr>
          <p:cNvSpPr>
            <a:spLocks noGrp="1"/>
          </p:cNvSpPr>
          <p:nvPr>
            <p:ph type="ftr" sz="quarter" idx="3"/>
          </p:nvPr>
        </p:nvSpPr>
        <p:spPr/>
        <p:txBody>
          <a:bodyPr/>
          <a:lstStyle/>
          <a:p>
            <a:endParaRPr lang="en-US" sz="1100" dirty="0"/>
          </a:p>
        </p:txBody>
      </p:sp>
    </p:spTree>
    <p:extLst>
      <p:ext uri="{BB962C8B-B14F-4D97-AF65-F5344CB8AC3E}">
        <p14:creationId val="3446338916"/>
      </p:ext>
    </p:extLst>
  </p:cSld>
  <p:clrMapOvr>
    <a:masterClrMapping/>
  </p:clrMapOvr>
</p:sld>
</file>

<file path=ppt/slides/slide13.xml><?xml version="1.0" encoding="utf-8"?>
<p:sld xmlns:a="http://schemas.openxmlformats.org/drawingml/2006/main" xmlns:a16="http://schemas.microsoft.com/office/drawing/2014/main" xmlns:p="http://schemas.openxmlformats.org/presentationml/2006/main" xmlns:p14="http://schemas.microsoft.com/office/powerpoint/2010/main">
  <p:cSld>
    <p:spTree>
      <p:nvGrpSpPr>
        <p:cNvPr id="1" name="Shape 531">
          <a:extLst>
            <a:ext uri="{FF2B5EF4-FFF2-40B4-BE49-F238E27FC236}">
              <a16:creationId id="{CFE5198B-4DE9-7211-B26D-C7E4AA289A1A}"/>
            </a:ext>
          </a:extLst>
        </p:cNvPr>
        <p:cNvGrpSpPr/>
        <p:nvPr/>
      </p:nvGrpSpPr>
      <p:grpSpPr>
        <a:xfrm>
          <a:off x="0" y="0"/>
          <a:ext cx="0" cy="0"/>
          <a:chOff x="0" y="0"/>
          <a:chExt cx="0" cy="0"/>
        </a:xfrm>
      </p:grpSpPr>
      <p:sp>
        <p:nvSpPr>
          <p:cNvPr id="532" name="Google Shape;532;p58">
            <a:extLst>
              <a:ext uri="{FF2B5EF4-FFF2-40B4-BE49-F238E27FC236}">
                <a16:creationId id="{9EE8A1CA-4617-FF10-E8D0-B582B7F48A83}"/>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13</a:t>
            </a:fld>
            <a:endParaRPr dirty="0">
              <a:sym typeface="OpenAI Sans"/>
            </a:endParaRPr>
          </a:p>
        </p:txBody>
      </p:sp>
      <p:sp>
        <p:nvSpPr>
          <p:cNvPr id="533" name="Google Shape;533;p58">
            <a:extLst>
              <a:ext uri="{FF2B5EF4-FFF2-40B4-BE49-F238E27FC236}">
                <a16:creationId id="{68499D35-F61B-DF1C-10A6-EA04E8D00662}"/>
              </a:ext>
            </a:extLst>
          </p:cNvPr>
          <p:cNvSpPr txBox="1">
            <a:spLocks noGrp="1"/>
          </p:cNvSpPr>
          <p:nvPr>
            <p:ph type="title"/>
          </p:nvPr>
        </p:nvSpPr>
        <p:spPr>
          <a:xfrm>
            <a:off x="393700" y="344009"/>
            <a:ext cx="11404600" cy="697392"/>
          </a:xfrm>
          <a:prstGeom prst="rect">
            <a:avLst/>
          </a:prstGeom>
        </p:spPr>
        <p:txBody>
          <a:bodyPr spcFirstLastPara="1" vert="horz" wrap="square" lIns="0" tIns="0" rIns="0" bIns="0" rtlCol="0" anchor="t" anchorCtr="0">
            <a:noAutofit/>
          </a:bodyPr>
          <a:lstStyle/>
          <a:p>
            <a:r>
              <a:rPr lang="en-US" dirty="0">
                <a:solidFill>
                  <a:schemeClr val="accent1"/>
                </a:solidFill>
              </a:rPr>
              <a:t>Illustrative discovery and review sequence</a:t>
            </a:r>
            <a:endParaRPr dirty="0">
              <a:solidFill>
                <a:schemeClr val="accent1"/>
              </a:solidFill>
            </a:endParaRPr>
          </a:p>
        </p:txBody>
      </p:sp>
      <p:graphicFrame>
        <p:nvGraphicFramePr>
          <p:cNvPr id="4" name="Google Shape;953;p80">
            <a:extLst>
              <a:ext uri="{FF2B5EF4-FFF2-40B4-BE49-F238E27FC236}">
                <a16:creationId id="{132CDF09-C451-CA62-761F-27510206387F}"/>
              </a:ext>
            </a:extLst>
          </p:cNvPr>
          <p:cNvGraphicFramePr/>
          <p:nvPr>
            <p:extLst>
              <p:ext uri="{D42A27DB-BD31-4B8C-83A1-F6EECF244321}">
                <p14:modId val="4069686237"/>
              </p:ext>
            </p:extLst>
          </p:nvPr>
        </p:nvGraphicFramePr>
        <p:xfrm>
          <a:off x="393699" y="1379875"/>
          <a:ext cx="11404600" cy="4614525"/>
        </p:xfrm>
        <a:graphic>
          <a:graphicData uri="http://schemas.openxmlformats.org/drawingml/2006/table">
            <a:tbl>
              <a:tblPr>
                <a:noFill/>
              </a:tblPr>
              <a:tblGrid>
                <a:gridCol w="2280920">
                  <a:extLst>
                    <a:ext uri="{9D8B030D-6E8A-4147-A177-3AD203B41FA5}">
                      <a16:colId val="20000"/>
                    </a:ext>
                  </a:extLst>
                </a:gridCol>
                <a:gridCol w="2280920">
                  <a:extLst>
                    <a:ext uri="{9D8B030D-6E8A-4147-A177-3AD203B41FA5}">
                      <a16:colId val="20001"/>
                    </a:ext>
                  </a:extLst>
                </a:gridCol>
                <a:gridCol w="2280920">
                  <a:extLst>
                    <a:ext uri="{9D8B030D-6E8A-4147-A177-3AD203B41FA5}">
                      <a16:colId val="20002"/>
                    </a:ext>
                  </a:extLst>
                </a:gridCol>
                <a:gridCol w="2280920">
                  <a:extLst>
                    <a:ext uri="{9D8B030D-6E8A-4147-A177-3AD203B41FA5}">
                      <a16:colId val="20003"/>
                    </a:ext>
                  </a:extLst>
                </a:gridCol>
                <a:gridCol w="2280920">
                  <a:extLst>
                    <a:ext uri="{9D8B030D-6E8A-4147-A177-3AD203B41FA5}">
                      <a16:colId val="20004"/>
                    </a:ext>
                  </a:extLst>
                </a:gridCol>
              </a:tblGrid>
              <a:tr h="4614525">
                <a:tc>
                  <a:txBody>
                    <a:bodyPr/>
                    <a:lstStyle/>
                    <a:p>
                      <a:pPr marL="0" lvl="0" indent="0" algn="l" rtl="0">
                        <a:spcBef>
                          <a:spcPts val="0"/>
                        </a:spcBef>
                        <a:spcAft>
                          <a:spcPts val="0"/>
                        </a:spcAft>
                        <a:buNone/>
                      </a:pPr>
                      <a:r>
                        <a:rPr lang="en" sz="1600" dirty="0">
                          <a:solidFill>
                            <a:schemeClr val="accent2">
                              <a:lumMod val="75000"/>
                            </a:schemeClr>
                          </a:solidFill>
                        </a:rPr>
                        <a:t>Scope</a:t>
                      </a:r>
                      <a:endParaRPr sz="1600" dirty="0">
                        <a:solidFill>
                          <a:schemeClr val="accent2">
                            <a:lumMod val="75000"/>
                          </a:schemeClr>
                        </a:solidFill>
                      </a:endParaRPr>
                    </a:p>
                  </a:txBody>
                  <a:tcPr marL="137150" marR="91425" marT="0" marB="91425">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600" dirty="0">
                          <a:solidFill>
                            <a:schemeClr val="accent2">
                              <a:lumMod val="75000"/>
                            </a:schemeClr>
                          </a:solidFill>
                        </a:rPr>
                        <a:t>Interview</a:t>
                      </a:r>
                      <a:endParaRPr sz="1600" dirty="0">
                        <a:solidFill>
                          <a:schemeClr val="accent2">
                            <a:lumMod val="75000"/>
                          </a:schemeClr>
                        </a:solidFill>
                      </a:endParaRPr>
                    </a:p>
                  </a:txBody>
                  <a:tcPr marL="137150" marR="91425" marT="0" marB="91425">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600" dirty="0">
                          <a:solidFill>
                            <a:schemeClr val="accent2">
                              <a:lumMod val="75000"/>
                            </a:schemeClr>
                          </a:solidFill>
                        </a:rPr>
                        <a:t>Compare</a:t>
                      </a:r>
                      <a:endParaRPr sz="1600" dirty="0">
                        <a:solidFill>
                          <a:schemeClr val="accent2">
                            <a:lumMod val="75000"/>
                          </a:schemeClr>
                        </a:solidFill>
                      </a:endParaRPr>
                    </a:p>
                  </a:txBody>
                  <a:tcPr marL="137150" marR="91425" marT="0" marB="91425">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600" dirty="0">
                          <a:solidFill>
                            <a:schemeClr val="accent2">
                              <a:lumMod val="75000"/>
                            </a:schemeClr>
                          </a:solidFill>
                        </a:rPr>
                        <a:t>Measure</a:t>
                      </a:r>
                      <a:endParaRPr sz="1600" dirty="0">
                        <a:solidFill>
                          <a:schemeClr val="accent2">
                            <a:lumMod val="75000"/>
                          </a:schemeClr>
                        </a:solidFill>
                      </a:endParaRPr>
                    </a:p>
                  </a:txBody>
                  <a:tcPr marL="137150" marR="91425" marT="0" marB="91425">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600" dirty="0">
                          <a:solidFill>
                            <a:schemeClr val="accent2">
                              <a:lumMod val="75000"/>
                            </a:schemeClr>
                          </a:solidFill>
                        </a:rPr>
                        <a:t>Decide</a:t>
                      </a:r>
                      <a:endParaRPr sz="1600" dirty="0">
                        <a:solidFill>
                          <a:schemeClr val="accent2">
                            <a:lumMod val="75000"/>
                          </a:schemeClr>
                        </a:solidFill>
                      </a:endParaRPr>
                    </a:p>
                  </a:txBody>
                  <a:tcPr marL="137150" marR="91425" marT="0" marB="91425">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val="10000"/>
                  </a:ext>
                </a:extLst>
              </a:tr>
            </a:tbl>
          </a:graphicData>
        </a:graphic>
      </p:graphicFrame>
      <p:sp>
        <p:nvSpPr>
          <p:cNvPr id="5" name="Google Shape;955;p80">
            <a:extLst>
              <a:ext uri="{FF2B5EF4-FFF2-40B4-BE49-F238E27FC236}">
                <a16:creationId id="{EA32D89C-6778-2FE2-6D40-ABA6EAAD7EC1}"/>
              </a:ext>
            </a:extLst>
          </p:cNvPr>
          <p:cNvSpPr/>
          <p:nvPr/>
        </p:nvSpPr>
        <p:spPr>
          <a:xfrm>
            <a:off x="4721718" y="4107740"/>
            <a:ext cx="4562665" cy="513300"/>
          </a:xfrm>
          <a:prstGeom prst="roundRect">
            <a:avLst>
              <a:gd name="adj" fmla="val 11479"/>
            </a:avLst>
          </a:prstGeom>
          <a:solidFill>
            <a:schemeClr val="accent1"/>
          </a:solidFill>
          <a:ln>
            <a:noFill/>
          </a:ln>
        </p:spPr>
        <p:txBody>
          <a:bodyPr spcFirstLastPara="1" wrap="square" lIns="210300" tIns="121875" rIns="121875" bIns="121875" anchor="ctr" anchorCtr="0">
            <a:noAutofit/>
          </a:bodyPr>
          <a:lstStyle/>
          <a:p>
            <a:r>
              <a:rPr lang="en-US" sz="1500" dirty="0">
                <a:solidFill>
                  <a:schemeClr val="bg2"/>
                </a:solidFill>
                <a:latin typeface="Roboto Medium" panose="02000000000000000000" pitchFamily="2" charset="0"/>
                <a:ea typeface="Roboto Medium" panose="02000000000000000000" pitchFamily="2" charset="0"/>
                <a:cs typeface="Helvetica Neue"/>
                <a:sym typeface="Helvetica Neue"/>
              </a:rPr>
              <a:t>Measure citations, time, and reviewer corrections</a:t>
            </a:r>
          </a:p>
        </p:txBody>
      </p:sp>
      <p:sp>
        <p:nvSpPr>
          <p:cNvPr id="6" name="Google Shape;957;p80">
            <a:extLst>
              <a:ext uri="{FF2B5EF4-FFF2-40B4-BE49-F238E27FC236}">
                <a16:creationId id="{D5359B3A-662D-9283-F7D8-9D5DCD655B5B}"/>
              </a:ext>
            </a:extLst>
          </p:cNvPr>
          <p:cNvSpPr/>
          <p:nvPr/>
        </p:nvSpPr>
        <p:spPr>
          <a:xfrm>
            <a:off x="584093" y="5478390"/>
            <a:ext cx="11026708" cy="513300"/>
          </a:xfrm>
          <a:prstGeom prst="roundRect">
            <a:avLst>
              <a:gd name="adj" fmla="val 11479"/>
            </a:avLst>
          </a:prstGeom>
          <a:solidFill>
            <a:schemeClr val="bg2"/>
          </a:solidFill>
          <a:ln w="12700">
            <a:solidFill>
              <a:schemeClr val="accent1"/>
            </a:solidFill>
          </a:ln>
        </p:spPr>
        <p:txBody>
          <a:bodyPr spcFirstLastPara="1" wrap="square" lIns="210300" tIns="121875" rIns="121875" bIns="121875" anchor="ctr" anchorCtr="0">
            <a:noAutofit/>
          </a:bodyPr>
          <a:lstStyle/>
          <a:p>
            <a:r>
              <a:rPr lang="en" sz="1500" dirty="0">
                <a:solidFill>
                  <a:schemeClr val="accent1"/>
                </a:solidFill>
                <a:latin typeface="Roboto Medium" panose="02000000000000000000" pitchFamily="2" charset="0"/>
                <a:ea typeface="Roboto Medium" panose="02000000000000000000" pitchFamily="2" charset="0"/>
                <a:cs typeface="Helvetica Neue"/>
                <a:sym typeface="Helvetica Neue"/>
              </a:rPr>
              <a:t>Propose a pilot only after access, partner interest, and review needs are clear</a:t>
            </a:r>
            <a:endParaRPr sz="1500" dirty="0">
              <a:solidFill>
                <a:schemeClr val="accent1"/>
              </a:solidFill>
              <a:latin typeface="Roboto Medium" panose="02000000000000000000" pitchFamily="2" charset="0"/>
              <a:ea typeface="Roboto Medium" panose="02000000000000000000" pitchFamily="2" charset="0"/>
              <a:cs typeface="Helvetica Neue"/>
              <a:sym typeface="Helvetica Neue"/>
            </a:endParaRPr>
          </a:p>
        </p:txBody>
      </p:sp>
      <p:sp>
        <p:nvSpPr>
          <p:cNvPr id="7" name="Google Shape;960;p80">
            <a:extLst>
              <a:ext uri="{FF2B5EF4-FFF2-40B4-BE49-F238E27FC236}">
                <a16:creationId id="{2293B6C0-CD6E-C9F0-68F7-73F7B726A1EF}"/>
              </a:ext>
            </a:extLst>
          </p:cNvPr>
          <p:cNvSpPr/>
          <p:nvPr/>
        </p:nvSpPr>
        <p:spPr>
          <a:xfrm>
            <a:off x="7522794" y="4754965"/>
            <a:ext cx="4088008" cy="513300"/>
          </a:xfrm>
          <a:prstGeom prst="roundRect">
            <a:avLst>
              <a:gd name="adj" fmla="val 11479"/>
            </a:avLst>
          </a:prstGeom>
          <a:solidFill>
            <a:schemeClr val="accent1"/>
          </a:solidFill>
          <a:ln>
            <a:noFill/>
          </a:ln>
        </p:spPr>
        <p:txBody>
          <a:bodyPr spcFirstLastPara="1" wrap="square" lIns="210300" tIns="121875" rIns="121875" bIns="121875" anchor="ctr" anchorCtr="0">
            <a:noAutofit/>
          </a:bodyPr>
          <a:lstStyle/>
          <a:p>
            <a:r>
              <a:rPr lang="en-US" sz="1500" dirty="0">
                <a:solidFill>
                  <a:schemeClr val="bg2"/>
                </a:solidFill>
                <a:latin typeface="Roboto Medium" panose="02000000000000000000" pitchFamily="2" charset="0"/>
                <a:ea typeface="Roboto Medium" panose="02000000000000000000" pitchFamily="2" charset="0"/>
                <a:cs typeface="Helvetica Neue"/>
                <a:sym typeface="Helvetica Neue"/>
              </a:rPr>
              <a:t>Check action ownership and closure evidence</a:t>
            </a:r>
          </a:p>
        </p:txBody>
      </p:sp>
      <p:sp>
        <p:nvSpPr>
          <p:cNvPr id="8" name="Google Shape;963;p80">
            <a:extLst>
              <a:ext uri="{FF2B5EF4-FFF2-40B4-BE49-F238E27FC236}">
                <a16:creationId id="{0F4F3439-EC29-4518-4A3E-7436F8578035}"/>
              </a:ext>
            </a:extLst>
          </p:cNvPr>
          <p:cNvSpPr/>
          <p:nvPr/>
        </p:nvSpPr>
        <p:spPr>
          <a:xfrm>
            <a:off x="2819968" y="3403140"/>
            <a:ext cx="8790833" cy="513300"/>
          </a:xfrm>
          <a:prstGeom prst="roundRect">
            <a:avLst>
              <a:gd name="adj" fmla="val 11479"/>
            </a:avLst>
          </a:prstGeom>
          <a:solidFill>
            <a:schemeClr val="accent1"/>
          </a:solidFill>
          <a:ln>
            <a:noFill/>
          </a:ln>
        </p:spPr>
        <p:txBody>
          <a:bodyPr spcFirstLastPara="1" wrap="square" lIns="210300" tIns="121875" rIns="121875" bIns="121875" anchor="ctr" anchorCtr="0">
            <a:noAutofit/>
          </a:bodyPr>
          <a:lstStyle/>
          <a:p>
            <a:r>
              <a:rPr lang="en-US" sz="1500" dirty="0">
                <a:solidFill>
                  <a:schemeClr val="bg2"/>
                </a:solidFill>
                <a:latin typeface="Roboto Medium" panose="02000000000000000000" pitchFamily="2" charset="0"/>
                <a:ea typeface="Roboto Medium" panose="02000000000000000000" pitchFamily="2" charset="0"/>
                <a:cs typeface="Helvetica Neue"/>
                <a:sym typeface="Helvetica Neue"/>
              </a:rPr>
              <a:t>Compare both workflows on the same records</a:t>
            </a:r>
          </a:p>
        </p:txBody>
      </p:sp>
      <p:sp>
        <p:nvSpPr>
          <p:cNvPr id="9" name="Google Shape;966;p80">
            <a:extLst>
              <a:ext uri="{FF2B5EF4-FFF2-40B4-BE49-F238E27FC236}">
                <a16:creationId id="{1D07E5FD-0BEC-93D6-2CF5-BC908A51553C}"/>
              </a:ext>
            </a:extLst>
          </p:cNvPr>
          <p:cNvSpPr/>
          <p:nvPr/>
        </p:nvSpPr>
        <p:spPr>
          <a:xfrm>
            <a:off x="2819968" y="2698515"/>
            <a:ext cx="6408538" cy="513300"/>
          </a:xfrm>
          <a:prstGeom prst="roundRect">
            <a:avLst>
              <a:gd name="adj" fmla="val 11479"/>
            </a:avLst>
          </a:prstGeom>
          <a:solidFill>
            <a:schemeClr val="accent1"/>
          </a:solidFill>
          <a:ln>
            <a:noFill/>
          </a:ln>
        </p:spPr>
        <p:txBody>
          <a:bodyPr spcFirstLastPara="1" wrap="square" lIns="210300" tIns="121875" rIns="121875" bIns="121875" anchor="ctr" anchorCtr="0">
            <a:noAutofit/>
          </a:bodyPr>
          <a:lstStyle/>
          <a:p>
            <a:r>
              <a:rPr lang="en-US" sz="1500" dirty="0">
                <a:solidFill>
                  <a:schemeClr val="bg2"/>
                </a:solidFill>
                <a:latin typeface="Roboto Medium" panose="02000000000000000000" pitchFamily="2" charset="0"/>
                <a:ea typeface="Roboto Medium" panose="02000000000000000000" pitchFamily="2" charset="0"/>
                <a:cs typeface="Helvetica Neue"/>
                <a:sym typeface="Helvetica Neue"/>
              </a:rPr>
              <a:t>Interview evaluators; map roles and current workflow</a:t>
            </a:r>
          </a:p>
        </p:txBody>
      </p:sp>
      <p:sp>
        <p:nvSpPr>
          <p:cNvPr id="10" name="Google Shape;969;p80">
            <a:extLst>
              <a:ext uri="{FF2B5EF4-FFF2-40B4-BE49-F238E27FC236}">
                <a16:creationId id="{0AB147C5-D3F9-0847-C2A5-2A90154B1A3C}"/>
              </a:ext>
            </a:extLst>
          </p:cNvPr>
          <p:cNvSpPr/>
          <p:nvPr/>
        </p:nvSpPr>
        <p:spPr>
          <a:xfrm>
            <a:off x="507893" y="1975090"/>
            <a:ext cx="4185180" cy="513300"/>
          </a:xfrm>
          <a:prstGeom prst="roundRect">
            <a:avLst>
              <a:gd name="adj" fmla="val 11479"/>
            </a:avLst>
          </a:prstGeom>
          <a:solidFill>
            <a:schemeClr val="accent1"/>
          </a:solidFill>
          <a:ln>
            <a:noFill/>
          </a:ln>
        </p:spPr>
        <p:txBody>
          <a:bodyPr spcFirstLastPara="1" wrap="square" lIns="210300" tIns="121875" rIns="121875" bIns="121875" anchor="ctr" anchorCtr="0">
            <a:noAutofit/>
          </a:bodyPr>
          <a:lstStyle/>
          <a:p>
            <a:r>
              <a:rPr lang="en" sz="1500" dirty="0">
                <a:solidFill>
                  <a:schemeClr val="bg2"/>
                </a:solidFill>
                <a:latin typeface="Roboto Medium" panose="02000000000000000000" pitchFamily="2" charset="0"/>
                <a:ea typeface="Roboto Medium" panose="02000000000000000000" pitchFamily="2" charset="0"/>
                <a:cs typeface="Helvetica Neue"/>
                <a:sym typeface="Helvetica Neue"/>
              </a:rPr>
              <a:t>Confirm use case and evidence permissions</a:t>
            </a:r>
            <a:endParaRPr sz="1500" dirty="0">
              <a:solidFill>
                <a:schemeClr val="bg2"/>
              </a:solidFill>
              <a:latin typeface="Roboto Medium" panose="02000000000000000000" pitchFamily="2" charset="0"/>
              <a:ea typeface="Roboto Medium" panose="02000000000000000000" pitchFamily="2" charset="0"/>
              <a:cs typeface="Helvetica Neue"/>
              <a:sym typeface="Helvetica Neue"/>
            </a:endParaRPr>
          </a:p>
        </p:txBody>
      </p:sp>
      <p:sp>
        <p:nvSpPr>
          <p:cNvPr id="11" name="Footer Placeholder 10">
            <a:extLst>
              <a:ext uri="{FF2B5EF4-FFF2-40B4-BE49-F238E27FC236}">
                <a16:creationId id="{F06ADB7A-E0CB-A418-3590-620B0C5F17EB}"/>
              </a:ext>
            </a:extLst>
          </p:cNvPr>
          <p:cNvSpPr>
            <a:spLocks noGrp="1"/>
          </p:cNvSpPr>
          <p:nvPr>
            <p:ph type="ftr" sz="quarter" idx="3"/>
          </p:nvPr>
        </p:nvSpPr>
        <p:spPr/>
        <p:txBody>
          <a:bodyPr/>
          <a:lstStyle/>
          <a:p>
            <a:endParaRPr lang="en-US" sz="1100" dirty="0"/>
          </a:p>
        </p:txBody>
      </p:sp>
    </p:spTree>
    <p:extLst>
      <p:ext uri="{BB962C8B-B14F-4D97-AF65-F5344CB8AC3E}">
        <p14:creationId val="2435171538"/>
      </p:ext>
    </p:extLst>
  </p:cSld>
  <p:clrMapOvr>
    <a:masterClrMapping/>
  </p:clrMapOvr>
</p:sld>
</file>

<file path=ppt/slides/slide14.xml><?xml version="1.0" encoding="utf-8"?>
<p:sld xmlns:a="http://schemas.openxmlformats.org/drawingml/2006/main" xmlns:a16="http://schemas.microsoft.com/office/drawing/2014/main" xmlns:p="http://schemas.openxmlformats.org/presentationml/2006/main" xmlns:p14="http://schemas.microsoft.com/office/powerpoint/2010/main">
  <p:cSld>
    <p:spTree>
      <p:nvGrpSpPr>
        <p:cNvPr id="1" name="">
          <a:extLst>
            <a:ext uri="{FF2B5EF4-FFF2-40B4-BE49-F238E27FC236}">
              <a16:creationId id="{AE7255DD-98B9-E077-6778-D5F2B926E4E5}"/>
            </a:ext>
          </a:extLst>
        </p:cNvPr>
        <p:cNvGrpSpPr/>
        <p:nvPr/>
      </p:nvGrpSpPr>
      <p:grpSpPr>
        <a:xfrm>
          <a:off x="0" y="0"/>
          <a:ext cx="0" cy="0"/>
          <a:chOff x="0" y="0"/>
          <a:chExt cx="0" cy="0"/>
        </a:xfrm>
      </p:grpSpPr>
      <p:sp>
        <p:nvSpPr>
          <p:cNvPr id="4" name="Title 3">
            <a:extLst>
              <a:ext uri="{FF2B5EF4-FFF2-40B4-BE49-F238E27FC236}">
                <a16:creationId id="{32011EE4-C416-3EA2-180D-62404CE47D07}"/>
              </a:ext>
            </a:extLst>
          </p:cNvPr>
          <p:cNvSpPr>
            <a:spLocks noGrp="1"/>
          </p:cNvSpPr>
          <p:nvPr>
            <p:ph type="ctrTitle"/>
          </p:nvPr>
        </p:nvSpPr>
        <p:spPr>
          <a:xfrm>
            <a:off x="393700" y="937510"/>
            <a:ext cx="9448800" cy="2491490"/>
          </a:xfrm>
        </p:spPr>
        <p:txBody>
          <a:bodyPr>
            <a:noAutofit/>
          </a:bodyPr>
          <a:lstStyle/>
          <a:p>
            <a:r>
              <a:rPr lang="en-US" sz="6500" dirty="0">
                <a:solidFill>
                  <a:schemeClr val="accent1"/>
                </a:solidFill>
                <a:cs typeface="Roboto Serif 14pt" pitchFamily="2" charset="77"/>
              </a:rPr>
              <a:t>Decision requested</a:t>
            </a:r>
          </a:p>
        </p:txBody>
      </p:sp>
      <p:sp>
        <p:nvSpPr>
          <p:cNvPr id="5" name="Subtitle 4">
            <a:extLst>
              <a:ext uri="{FF2B5EF4-FFF2-40B4-BE49-F238E27FC236}">
                <a16:creationId id="{119B400D-E218-8301-7E00-C5A55230DE5D}"/>
              </a:ext>
            </a:extLst>
          </p:cNvPr>
          <p:cNvSpPr>
            <a:spLocks noGrp="1"/>
          </p:cNvSpPr>
          <p:nvPr>
            <p:ph type="subTitle" idx="1"/>
          </p:nvPr>
        </p:nvSpPr>
        <p:spPr>
          <a:xfrm>
            <a:off x="441201" y="4532466"/>
            <a:ext cx="6458364" cy="1388024"/>
          </a:xfrm>
        </p:spPr>
        <p:txBody>
          <a:bodyPr>
            <a:noAutofit/>
          </a:bodyPr>
          <a:lstStyle/>
          <a:p>
            <a:pPr>
              <a:lnSpc>
                <a:spcPct val="120000"/>
              </a:lnSpc>
            </a:pPr>
            <a:r>
              <a:rPr lang="en-US" sz="1600" dirty="0">
                <a:solidFill>
                  <a:schemeClr val="accent2">
                    <a:lumMod val="50000"/>
                  </a:schemeClr>
                </a:solidFill>
              </a:rPr>
              <a:t>Authorize discovery and a paired-review design for the hospital tabletop use case.</a:t>
            </a:r>
          </a:p>
          <a:p>
            <a:pPr>
              <a:lnSpc>
                <a:spcPct val="120000"/>
              </a:lnSpc>
            </a:pPr>
            <a:r>
              <a:rPr lang="en-US" sz="1600" dirty="0">
                <a:solidFill>
                  <a:schemeClr val="accent2">
                    <a:lumMod val="50000"/>
                  </a:schemeClr>
                </a:solidFill>
              </a:rPr>
              <a:t>Interview 2–3 prospective evaluators and observe an existing review only with permission; confirm approver, budget owner, and evidence controls.</a:t>
            </a:r>
          </a:p>
          <a:p>
            <a:pPr>
              <a:lnSpc>
                <a:spcPct val="120000"/>
              </a:lnSpc>
            </a:pPr>
            <a:r>
              <a:rPr lang="en-US" sz="1600" dirty="0">
                <a:solidFill>
                  <a:schemeClr val="accent2">
                    <a:lumMod val="50000"/>
                  </a:schemeClr>
                </a:solidFill>
              </a:rPr>
              <a:t>Compare current practice and DrillLoop on the same permitted records, then return with findings before proposing a pilot or success thresholds.</a:t>
            </a:r>
          </a:p>
        </p:txBody>
      </p:sp>
      <p:cxnSp>
        <p:nvCxnSpPr>
          <p:cNvPr id="3" name="Straight Connector 2">
            <a:extLst>
              <a:ext uri="{FF2B5EF4-FFF2-40B4-BE49-F238E27FC236}">
                <a16:creationId id="{4E22365F-D1C1-40F6-3DD1-ADD568EAF6AA}"/>
              </a:ext>
            </a:extLst>
          </p:cNvPr>
          <p:cNvCxnSpPr>
            <a:cxnSpLocks/>
          </p:cNvCxnSpPr>
          <p:nvPr/>
        </p:nvCxnSpPr>
        <p:spPr>
          <a:xfrm>
            <a:off x="-183260" y="3934067"/>
            <a:ext cx="1255852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val="858355452"/>
      </p:ext>
    </p:extLst>
  </p:cSld>
  <p:clrMapOvr>
    <a:masterClrMapping/>
  </p:clrMapOvr>
</p:sld>
</file>

<file path=ppt/theme/theme1.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2120</TotalTime>
  <Words>1591</Words>
  <Application>Microsoft Macintosh PowerPoint</Application>
  <PresentationFormat>Widescreen</PresentationFormat>
  <Paragraphs>176</Paragraphs>
  <Slides>14</Slides>
  <Notes>13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14</vt:i4>
      </vt:variant>
    </vt:vector>
  </HeadingPairs>
  <TitlesOfParts>
    <vt:vector size="26" baseType="lpstr">
      <vt:lpstr>Lora SemiBold</vt:lpstr>
      <vt:lpstr>Lora Medium</vt:lpstr>
      <vt:lpstr>Roboto Serif 14pt</vt:lpstr>
      <vt:lpstr>Arial</vt:lpstr>
      <vt:lpstr>Roboto SemiBold</vt:lpstr>
      <vt:lpstr>Helvetica Neue</vt:lpstr>
      <vt:lpstr>Roboto Medium</vt:lpstr>
      <vt:lpstr>Roboto</vt:lpstr>
      <vt:lpstr>OpenAI Sans</vt:lpstr>
      <vt:lpstr>Helvetica Neue Medium</vt:lpstr>
      <vt:lpstr>Aptos</vt:lpstr>
      <vt:lpstr>Default Codex Theme</vt:lpstr>
      <vt:lpstr>Enterprise Quarterly Business Review</vt:lpstr>
      <vt:lpstr>Meeting title with agenda slide</vt:lpstr>
      <vt:lpstr>Quarter recap, verdict and asks</vt:lpstr>
      <vt:lpstr>Intro and 2x2 card grid</vt:lpstr>
      <vt:lpstr>One column layout with three callout cards</vt:lpstr>
      <vt:lpstr>Intro with three callout cards</vt:lpstr>
      <vt:lpstr>Two column layout</vt:lpstr>
      <vt:lpstr>Statement headline  slide with eight logo grid</vt:lpstr>
      <vt:lpstr>Full width data table slide</vt:lpstr>
      <vt:lpstr>Chart with three cards</vt:lpstr>
      <vt:lpstr>Chart with three cards</vt:lpstr>
      <vt:lpstr>Timeline with three text only milestones</vt:lpstr>
      <vt:lpstr>Gantt chart over time</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dc:title>DrillLoop Business Review · Q4 2026</dc:title>
</cp:coreProperties>
</file>